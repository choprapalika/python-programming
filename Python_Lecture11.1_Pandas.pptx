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906000" cy="6858000" type="A4"/>
  <p:notesSz cx="9906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22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05998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24384" y="1676400"/>
            <a:ext cx="3054350" cy="2819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63984" y="0"/>
            <a:ext cx="1733550" cy="11430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24384" y="6096000"/>
            <a:ext cx="1073150" cy="7620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2667000"/>
            <a:ext cx="4373430" cy="4191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2895600"/>
            <a:ext cx="1649280" cy="23622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51519" y="0"/>
            <a:ext cx="821434" cy="116433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8391118" y="0"/>
            <a:ext cx="742950" cy="1099820"/>
          </a:xfrm>
          <a:custGeom>
            <a:avLst/>
            <a:gdLst/>
            <a:ahLst/>
            <a:cxnLst/>
            <a:rect l="l" t="t" r="r" b="b"/>
            <a:pathLst>
              <a:path w="742950" h="1099820">
                <a:moveTo>
                  <a:pt x="742950" y="0"/>
                </a:moveTo>
                <a:lnTo>
                  <a:pt x="0" y="0"/>
                </a:lnTo>
                <a:lnTo>
                  <a:pt x="0" y="1099464"/>
                </a:lnTo>
                <a:lnTo>
                  <a:pt x="742950" y="1099464"/>
                </a:lnTo>
                <a:lnTo>
                  <a:pt x="742950" y="0"/>
                </a:lnTo>
                <a:close/>
              </a:path>
            </a:pathLst>
          </a:custGeom>
          <a:solidFill>
            <a:srgbClr val="AF14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2936" y="476504"/>
            <a:ext cx="7120127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685" y="1140928"/>
            <a:ext cx="6721475" cy="417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2480" y="570537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148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C000"/>
                </a:solidFill>
                <a:latin typeface="Century Gothic"/>
                <a:cs typeface="Century Gothic"/>
              </a:rPr>
              <a:t>Introduction</a:t>
            </a:r>
            <a:r>
              <a:rPr sz="3600" spc="-45" dirty="0">
                <a:solidFill>
                  <a:srgbClr val="FFC000"/>
                </a:solidFill>
                <a:latin typeface="Century Gothic"/>
                <a:cs typeface="Century Gothic"/>
              </a:rPr>
              <a:t> </a:t>
            </a:r>
            <a:r>
              <a:rPr sz="3600" dirty="0">
                <a:solidFill>
                  <a:srgbClr val="FFC000"/>
                </a:solidFill>
                <a:latin typeface="Century Gothic"/>
                <a:cs typeface="Century Gothic"/>
              </a:rPr>
              <a:t>to</a:t>
            </a:r>
            <a:r>
              <a:rPr sz="3600" spc="-30" dirty="0">
                <a:solidFill>
                  <a:srgbClr val="FFC000"/>
                </a:solidFill>
                <a:latin typeface="Century Gothic"/>
                <a:cs typeface="Century Gothic"/>
              </a:rPr>
              <a:t> </a:t>
            </a:r>
            <a:r>
              <a:rPr sz="3600" dirty="0">
                <a:solidFill>
                  <a:srgbClr val="FFC000"/>
                </a:solidFill>
                <a:latin typeface="Century Gothic"/>
                <a:cs typeface="Century Gothic"/>
              </a:rPr>
              <a:t>Python</a:t>
            </a:r>
            <a:r>
              <a:rPr sz="3600" spc="-25" dirty="0">
                <a:solidFill>
                  <a:srgbClr val="FFC000"/>
                </a:solidFill>
                <a:latin typeface="Century Gothic"/>
                <a:cs typeface="Century Gothic"/>
              </a:rPr>
              <a:t> </a:t>
            </a:r>
            <a:r>
              <a:rPr sz="3600" spc="-10" dirty="0">
                <a:solidFill>
                  <a:srgbClr val="FFC000"/>
                </a:solidFill>
                <a:latin typeface="Century Gothic"/>
                <a:cs typeface="Century Gothic"/>
              </a:rPr>
              <a:t>Libraries: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9188" y="1264136"/>
            <a:ext cx="837882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marR="5080" indent="-233679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45745" algn="l"/>
                <a:tab pos="702945" algn="l"/>
              </a:tabLst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	Python</a:t>
            </a:r>
            <a:r>
              <a:rPr sz="2400" spc="29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libraries</a:t>
            </a:r>
            <a:r>
              <a:rPr sz="2400" spc="29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contain</a:t>
            </a:r>
            <a:r>
              <a:rPr sz="2400" spc="28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29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collection</a:t>
            </a:r>
            <a:r>
              <a:rPr sz="2400" spc="28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2400" spc="28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2400" spc="-20" dirty="0">
                <a:solidFill>
                  <a:srgbClr val="FFFFFF"/>
                </a:solidFill>
                <a:latin typeface="Century Gothic"/>
                <a:cs typeface="Century Gothic"/>
              </a:rPr>
              <a:t>built-</a:t>
            </a:r>
            <a:r>
              <a:rPr sz="2400" spc="-25" dirty="0">
                <a:solidFill>
                  <a:srgbClr val="FFFFFF"/>
                </a:solidFill>
                <a:latin typeface="Century Gothic"/>
                <a:cs typeface="Century Gothic"/>
              </a:rPr>
              <a:t>in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modules</a:t>
            </a:r>
            <a:r>
              <a:rPr sz="2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that</a:t>
            </a:r>
            <a:r>
              <a:rPr sz="24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allow</a:t>
            </a:r>
            <a:r>
              <a:rPr sz="2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us</a:t>
            </a:r>
            <a:r>
              <a:rPr sz="24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perform</a:t>
            </a:r>
            <a:r>
              <a:rPr sz="24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many</a:t>
            </a:r>
            <a:r>
              <a:rPr sz="2400" spc="-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actions</a:t>
            </a:r>
            <a:r>
              <a:rPr sz="2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entury Gothic"/>
                <a:cs typeface="Century Gothic"/>
              </a:rPr>
              <a:t>without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writing</a:t>
            </a:r>
            <a:r>
              <a:rPr sz="2400" spc="-1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detailed</a:t>
            </a:r>
            <a:r>
              <a:rPr sz="24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programs</a:t>
            </a:r>
            <a:r>
              <a:rPr sz="2400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for</a:t>
            </a:r>
            <a:r>
              <a:rPr sz="2400" spc="-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entury Gothic"/>
                <a:cs typeface="Century Gothic"/>
              </a:rPr>
              <a:t>it.</a:t>
            </a:r>
            <a:endParaRPr sz="2400">
              <a:latin typeface="Century Gothic"/>
              <a:cs typeface="Century Gothic"/>
            </a:endParaRPr>
          </a:p>
          <a:p>
            <a:pPr marL="245745" marR="8255" indent="-233679" algn="just">
              <a:lnSpc>
                <a:spcPct val="100000"/>
              </a:lnSpc>
              <a:spcBef>
                <a:spcPts val="2880"/>
              </a:spcBef>
              <a:buFont typeface="Wingdings"/>
              <a:buChar char=""/>
              <a:tabLst>
                <a:tab pos="245745" algn="l"/>
                <a:tab pos="786765" algn="l"/>
              </a:tabLst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	Each</a:t>
            </a:r>
            <a:r>
              <a:rPr sz="2400" spc="2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library</a:t>
            </a:r>
            <a:r>
              <a:rPr sz="2400" spc="25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in</a:t>
            </a:r>
            <a:r>
              <a:rPr sz="2400" spc="25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Python</a:t>
            </a:r>
            <a:r>
              <a:rPr sz="2400" spc="25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contains</a:t>
            </a:r>
            <a:r>
              <a:rPr sz="2400" spc="2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2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large</a:t>
            </a:r>
            <a:r>
              <a:rPr sz="2400" spc="25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number</a:t>
            </a:r>
            <a:r>
              <a:rPr sz="2400" spc="25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entury Gothic"/>
                <a:cs typeface="Century Gothic"/>
              </a:rPr>
              <a:t>of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modules</a:t>
            </a:r>
            <a:r>
              <a:rPr sz="2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that</a:t>
            </a:r>
            <a:r>
              <a:rPr sz="2400" spc="-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one</a:t>
            </a:r>
            <a:r>
              <a:rPr sz="24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can</a:t>
            </a:r>
            <a:r>
              <a:rPr sz="2400" spc="-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import</a:t>
            </a:r>
            <a:r>
              <a:rPr sz="2400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2400" spc="-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entury Gothic"/>
                <a:cs typeface="Century Gothic"/>
              </a:rPr>
              <a:t>use.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3886200"/>
            <a:ext cx="3919931" cy="24432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2480" y="570537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891" y="288445"/>
            <a:ext cx="648398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195" marR="5080" indent="-278130">
              <a:lnSpc>
                <a:spcPct val="150000"/>
              </a:lnSpc>
              <a:spcBef>
                <a:spcPts val="100"/>
              </a:spcBef>
              <a:buSzPct val="95833"/>
              <a:buFont typeface="Wingdings"/>
              <a:buChar char=""/>
              <a:tabLst>
                <a:tab pos="291465" algn="l"/>
              </a:tabLst>
            </a:pP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NumPy,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Matplotlib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three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well- 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established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libraries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scientific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and 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analytical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use.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9891" y="2060857"/>
            <a:ext cx="69462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5080" indent="-279400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291465" algn="l"/>
                <a:tab pos="36957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	These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libraries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allow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manipulate,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transform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visualise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easily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efficiently.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7511" y="3429000"/>
            <a:ext cx="4270967" cy="28706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2480" y="570537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040" y="452755"/>
            <a:ext cx="5432425" cy="4572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latin typeface="Yu Gothic"/>
                <a:cs typeface="Yu Gothic"/>
              </a:rPr>
              <a:t>Numpy</a:t>
            </a:r>
            <a:r>
              <a:rPr sz="2800" b="1" spc="-85" dirty="0">
                <a:latin typeface="Yu Gothic"/>
                <a:cs typeface="Yu Gothic"/>
              </a:rPr>
              <a:t> </a:t>
            </a:r>
            <a:r>
              <a:rPr sz="2800" b="1" dirty="0">
                <a:latin typeface="Yu Gothic"/>
                <a:cs typeface="Yu Gothic"/>
              </a:rPr>
              <a:t>(Numeric</a:t>
            </a:r>
            <a:r>
              <a:rPr sz="2800" b="1" spc="-65" dirty="0">
                <a:latin typeface="Yu Gothic"/>
                <a:cs typeface="Yu Gothic"/>
              </a:rPr>
              <a:t> </a:t>
            </a:r>
            <a:r>
              <a:rPr sz="2800" b="1" dirty="0">
                <a:latin typeface="Yu Gothic"/>
                <a:cs typeface="Yu Gothic"/>
              </a:rPr>
              <a:t>Array)</a:t>
            </a:r>
            <a:r>
              <a:rPr sz="2800" b="1" spc="-80" dirty="0">
                <a:latin typeface="Yu Gothic"/>
                <a:cs typeface="Yu Gothic"/>
              </a:rPr>
              <a:t> </a:t>
            </a:r>
            <a:r>
              <a:rPr sz="2800" b="1" spc="-10" dirty="0">
                <a:latin typeface="Yu Gothic"/>
                <a:cs typeface="Yu Gothic"/>
              </a:rPr>
              <a:t>Library</a:t>
            </a:r>
            <a:endParaRPr sz="2800">
              <a:latin typeface="Yu Gothic"/>
              <a:cs typeface="Yu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1314847"/>
            <a:ext cx="8496935" cy="4719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4175" marR="5080" indent="-37211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84175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programming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language,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adding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large,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multi-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dimensional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arrays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matrices,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along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high-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mathematical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functions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operate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these arrays.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FFFFFF"/>
              </a:buClr>
              <a:buFont typeface="Wingdings"/>
              <a:buChar char=""/>
            </a:pPr>
            <a:endParaRPr sz="2800">
              <a:latin typeface="Arial"/>
              <a:cs typeface="Arial"/>
            </a:endParaRPr>
          </a:p>
          <a:p>
            <a:pPr marL="384810" marR="88900" indent="-372110">
              <a:lnSpc>
                <a:spcPct val="100000"/>
              </a:lnSpc>
              <a:buFont typeface="Wingdings"/>
              <a:buChar char=""/>
              <a:tabLst>
                <a:tab pos="384810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functionality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NumPy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“ndarray”,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n-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dimensional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array,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structure.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FFFFFF"/>
              </a:buClr>
              <a:buFont typeface="Wingdings"/>
              <a:buChar char=""/>
            </a:pPr>
            <a:endParaRPr sz="2800">
              <a:latin typeface="Arial"/>
              <a:cs typeface="Arial"/>
            </a:endParaRPr>
          </a:p>
          <a:p>
            <a:pPr marL="384810" marR="1096645" indent="-372110">
              <a:lnSpc>
                <a:spcPct val="100000"/>
              </a:lnSpc>
              <a:buFont typeface="Wingdings"/>
              <a:buChar char=""/>
              <a:tabLst>
                <a:tab pos="384810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was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originally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created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Jim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Hugunin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contributions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developers.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2480" y="570537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12" y="2133600"/>
            <a:ext cx="5899950" cy="31675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2480" y="570537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040" y="472440"/>
            <a:ext cx="3097530" cy="4572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2800" dirty="0">
                <a:latin typeface="Yu Gothic"/>
                <a:cs typeface="Yu Gothic"/>
              </a:rPr>
              <a:t>Matplotlib</a:t>
            </a:r>
            <a:r>
              <a:rPr sz="2800" spc="-85" dirty="0">
                <a:latin typeface="Yu Gothic"/>
                <a:cs typeface="Yu Gothic"/>
              </a:rPr>
              <a:t> </a:t>
            </a:r>
            <a:r>
              <a:rPr sz="2800" spc="-10" dirty="0">
                <a:latin typeface="Yu Gothic"/>
                <a:cs typeface="Yu Gothic"/>
              </a:rPr>
              <a:t>Library</a:t>
            </a:r>
            <a:endParaRPr sz="2800">
              <a:latin typeface="Yu Gothic"/>
              <a:cs typeface="Yu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1252220"/>
            <a:ext cx="8086090" cy="481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195" marR="52069" indent="-27813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146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Matplotlib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amazing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visualization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for 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2D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plots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arrays.</a:t>
            </a:r>
            <a:endParaRPr sz="2400" dirty="0">
              <a:latin typeface="Arial"/>
              <a:cs typeface="Arial"/>
            </a:endParaRPr>
          </a:p>
          <a:p>
            <a:pPr marL="290195" marR="5080" indent="-278130">
              <a:lnSpc>
                <a:spcPct val="100000"/>
              </a:lnSpc>
              <a:spcBef>
                <a:spcPts val="1500"/>
              </a:spcBef>
              <a:buFont typeface="Wingdings"/>
              <a:buChar char=""/>
              <a:tabLst>
                <a:tab pos="29146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Matplotlib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multi-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visualization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built 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NumPy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arrays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designed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broader 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SciPy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stack.</a:t>
            </a:r>
            <a:endParaRPr sz="2400" dirty="0">
              <a:latin typeface="Arial"/>
              <a:cs typeface="Arial"/>
            </a:endParaRPr>
          </a:p>
          <a:p>
            <a:pPr marL="290830" indent="-278130">
              <a:lnSpc>
                <a:spcPct val="100000"/>
              </a:lnSpc>
              <a:spcBef>
                <a:spcPts val="1500"/>
              </a:spcBef>
              <a:buFont typeface="Wingdings"/>
              <a:buChar char=""/>
              <a:tabLst>
                <a:tab pos="29083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was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introduced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John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Hunter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2002.</a:t>
            </a:r>
            <a:endParaRPr sz="2400" dirty="0">
              <a:latin typeface="Arial"/>
              <a:cs typeface="Arial"/>
            </a:endParaRPr>
          </a:p>
          <a:p>
            <a:pPr marL="290195" marR="24130" indent="-278130">
              <a:lnSpc>
                <a:spcPct val="100000"/>
              </a:lnSpc>
              <a:spcBef>
                <a:spcPts val="1500"/>
              </a:spcBef>
              <a:buFont typeface="Wingdings"/>
              <a:buChar char=""/>
              <a:tabLst>
                <a:tab pos="29146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Matplotlib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plotting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graphs 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visualisation.</a:t>
            </a:r>
            <a:endParaRPr sz="2400" dirty="0">
              <a:latin typeface="Arial"/>
              <a:cs typeface="Arial"/>
            </a:endParaRPr>
          </a:p>
          <a:p>
            <a:pPr marL="290195" marR="53975" indent="-278130">
              <a:lnSpc>
                <a:spcPct val="100000"/>
              </a:lnSpc>
              <a:spcBef>
                <a:spcPts val="1500"/>
              </a:spcBef>
              <a:buFont typeface="Wingdings"/>
              <a:buChar char=""/>
              <a:tabLst>
                <a:tab pos="29146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Matplotlib,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just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few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lines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can 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generate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publication-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00"/>
                </a:solidFill>
                <a:latin typeface="Arial"/>
                <a:cs typeface="Arial"/>
              </a:rPr>
              <a:t>plots,</a:t>
            </a:r>
            <a:r>
              <a:rPr sz="2400" spc="-4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00"/>
                </a:solidFill>
                <a:latin typeface="Arial"/>
                <a:cs typeface="Arial"/>
              </a:rPr>
              <a:t>histograms,</a:t>
            </a:r>
            <a:r>
              <a:rPr sz="2400" spc="-5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00"/>
                </a:solidFill>
                <a:latin typeface="Arial"/>
                <a:cs typeface="Arial"/>
              </a:rPr>
              <a:t>bar</a:t>
            </a:r>
            <a:r>
              <a:rPr sz="2400" spc="-4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"/>
                <a:cs typeface="Arial"/>
              </a:rPr>
              <a:t>charts, 	</a:t>
            </a:r>
            <a:r>
              <a:rPr sz="2400" dirty="0">
                <a:solidFill>
                  <a:srgbClr val="FFFF00"/>
                </a:solidFill>
                <a:latin typeface="Arial"/>
                <a:cs typeface="Arial"/>
              </a:rPr>
              <a:t>scatterplots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etc.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2480" y="570537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Century Gothic"/>
                <a:cs typeface="Century Gothic"/>
              </a:rPr>
              <a:t>7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1" y="702017"/>
            <a:ext cx="7335900" cy="474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25"/>
              </a:lnSpc>
            </a:pPr>
            <a:r>
              <a:rPr sz="3200" b="0" spc="95" dirty="0">
                <a:latin typeface="Futura Bk BT"/>
                <a:cs typeface="Futura Bk BT"/>
              </a:rPr>
              <a:t>Pandas</a:t>
            </a:r>
            <a:r>
              <a:rPr sz="3200" b="0" spc="-55" dirty="0">
                <a:latin typeface="Futura Bk BT"/>
                <a:cs typeface="Futura Bk BT"/>
              </a:rPr>
              <a:t> </a:t>
            </a:r>
            <a:r>
              <a:rPr sz="3200" b="0" spc="55" dirty="0">
                <a:latin typeface="Futura Bk BT"/>
                <a:cs typeface="Futura Bk BT"/>
              </a:rPr>
              <a:t>(Panel</a:t>
            </a:r>
            <a:r>
              <a:rPr sz="3200" b="0" spc="-50" dirty="0">
                <a:latin typeface="Futura Bk BT"/>
                <a:cs typeface="Futura Bk BT"/>
              </a:rPr>
              <a:t> </a:t>
            </a:r>
            <a:r>
              <a:rPr sz="3200" b="0" spc="70" dirty="0" smtClean="0">
                <a:latin typeface="Futura Bk BT"/>
                <a:cs typeface="Futura Bk BT"/>
              </a:rPr>
              <a:t>Data)</a:t>
            </a:r>
            <a:r>
              <a:rPr lang="en-US" sz="3200" b="0" spc="-60" dirty="0">
                <a:latin typeface="Futura Bk BT"/>
                <a:cs typeface="Futura Bk BT"/>
              </a:rPr>
              <a:t> </a:t>
            </a:r>
            <a:r>
              <a:rPr sz="3200" b="0" spc="-10" dirty="0" smtClean="0">
                <a:latin typeface="Futura Bk BT"/>
                <a:cs typeface="Futura Bk BT"/>
              </a:rPr>
              <a:t>Library</a:t>
            </a:r>
            <a:endParaRPr sz="3200" dirty="0">
              <a:latin typeface="Futura Bk BT"/>
              <a:cs typeface="Futura Bk B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866" y="1721069"/>
            <a:ext cx="7833359" cy="4180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5080" indent="-23431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"/>
              <a:tabLst>
                <a:tab pos="245745" algn="l"/>
                <a:tab pos="328930" algn="l"/>
              </a:tabLst>
            </a:pP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	PANDAS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derived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Panel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System,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econometrics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term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multidimensional,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structured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set.</a:t>
            </a:r>
            <a:endParaRPr sz="2800">
              <a:latin typeface="Arial"/>
              <a:cs typeface="Arial"/>
            </a:endParaRPr>
          </a:p>
          <a:p>
            <a:pPr marL="245745" marR="72390" indent="-233679">
              <a:lnSpc>
                <a:spcPct val="100000"/>
              </a:lnSpc>
              <a:spcBef>
                <a:spcPts val="1010"/>
              </a:spcBef>
              <a:buSzPct val="96428"/>
              <a:buFont typeface="Wingdings"/>
              <a:buChar char=""/>
              <a:tabLst>
                <a:tab pos="245745" algn="l"/>
                <a:tab pos="329565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Started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Wes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McKinney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2008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out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powerful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flexible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quantitative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tool,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grown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32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popular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libraries.</a:t>
            </a:r>
            <a:endParaRPr sz="2800">
              <a:latin typeface="Arial"/>
              <a:cs typeface="Arial"/>
            </a:endParaRPr>
          </a:p>
          <a:p>
            <a:pPr marL="245745" marR="46355" indent="-234315">
              <a:lnSpc>
                <a:spcPct val="100000"/>
              </a:lnSpc>
              <a:spcBef>
                <a:spcPts val="994"/>
              </a:spcBef>
              <a:buSzPct val="96428"/>
              <a:buFont typeface="Wingdings"/>
              <a:buChar char=""/>
              <a:tabLst>
                <a:tab pos="245745" algn="l"/>
                <a:tab pos="328930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It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high-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manipulation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tool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analysing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2480" y="570537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Century Gothic"/>
                <a:cs typeface="Century Gothic"/>
              </a:rPr>
              <a:t>8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1291" y="745236"/>
            <a:ext cx="7830820" cy="1515110"/>
            <a:chOff x="431291" y="745236"/>
            <a:chExt cx="7830820" cy="15151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27" y="856488"/>
              <a:ext cx="7482839" cy="3627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24839" y="864793"/>
              <a:ext cx="7443470" cy="323215"/>
            </a:xfrm>
            <a:custGeom>
              <a:avLst/>
              <a:gdLst/>
              <a:ahLst/>
              <a:cxnLst/>
              <a:rect l="l" t="t" r="r" b="b"/>
              <a:pathLst>
                <a:path w="7443470" h="323215">
                  <a:moveTo>
                    <a:pt x="7443216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7443216" y="323088"/>
                  </a:lnTo>
                  <a:lnTo>
                    <a:pt x="744321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027" y="1203959"/>
              <a:ext cx="6902195" cy="3627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4839" y="1212265"/>
              <a:ext cx="6863080" cy="323215"/>
            </a:xfrm>
            <a:custGeom>
              <a:avLst/>
              <a:gdLst/>
              <a:ahLst/>
              <a:cxnLst/>
              <a:rect l="l" t="t" r="r" b="b"/>
              <a:pathLst>
                <a:path w="6863080" h="323215">
                  <a:moveTo>
                    <a:pt x="6862572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6862572" y="323088"/>
                  </a:lnTo>
                  <a:lnTo>
                    <a:pt x="686257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027" y="1549908"/>
              <a:ext cx="7619999" cy="36271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4839" y="1558213"/>
              <a:ext cx="7580630" cy="323215"/>
            </a:xfrm>
            <a:custGeom>
              <a:avLst/>
              <a:gdLst/>
              <a:ahLst/>
              <a:cxnLst/>
              <a:rect l="l" t="t" r="r" b="b"/>
              <a:pathLst>
                <a:path w="7580630" h="323214">
                  <a:moveTo>
                    <a:pt x="7580376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7580376" y="323088"/>
                  </a:lnTo>
                  <a:lnTo>
                    <a:pt x="758037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5027" y="1897380"/>
              <a:ext cx="3720084" cy="36271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4839" y="1905685"/>
              <a:ext cx="3680460" cy="323215"/>
            </a:xfrm>
            <a:custGeom>
              <a:avLst/>
              <a:gdLst/>
              <a:ahLst/>
              <a:cxnLst/>
              <a:rect l="l" t="t" r="r" b="b"/>
              <a:pathLst>
                <a:path w="3680460" h="323214">
                  <a:moveTo>
                    <a:pt x="3680460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3680460" y="323088"/>
                  </a:lnTo>
                  <a:lnTo>
                    <a:pt x="368046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1291" y="745236"/>
              <a:ext cx="7830311" cy="64769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12141" y="820083"/>
            <a:ext cx="739013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/>
              <a:t>Data</a:t>
            </a:r>
            <a:r>
              <a:rPr sz="2250" spc="-65" dirty="0"/>
              <a:t> </a:t>
            </a:r>
            <a:r>
              <a:rPr sz="2250" dirty="0"/>
              <a:t>Analysis</a:t>
            </a:r>
            <a:r>
              <a:rPr sz="2250" spc="50" dirty="0"/>
              <a:t> </a:t>
            </a:r>
            <a:r>
              <a:rPr sz="2250" dirty="0"/>
              <a:t>refers</a:t>
            </a:r>
            <a:r>
              <a:rPr sz="2250" spc="40" dirty="0"/>
              <a:t> </a:t>
            </a:r>
            <a:r>
              <a:rPr sz="2250" dirty="0"/>
              <a:t>to</a:t>
            </a:r>
            <a:r>
              <a:rPr sz="2250" spc="60" dirty="0"/>
              <a:t> </a:t>
            </a:r>
            <a:r>
              <a:rPr sz="2250" dirty="0"/>
              <a:t>process</a:t>
            </a:r>
            <a:r>
              <a:rPr sz="2250" spc="10" dirty="0"/>
              <a:t> </a:t>
            </a:r>
            <a:r>
              <a:rPr sz="2250" dirty="0"/>
              <a:t>of</a:t>
            </a:r>
            <a:r>
              <a:rPr sz="2250" spc="65" dirty="0"/>
              <a:t> </a:t>
            </a:r>
            <a:r>
              <a:rPr sz="2250" dirty="0"/>
              <a:t>evaluating</a:t>
            </a:r>
            <a:r>
              <a:rPr sz="2250" spc="20" dirty="0"/>
              <a:t> </a:t>
            </a:r>
            <a:r>
              <a:rPr sz="2250" dirty="0"/>
              <a:t>big</a:t>
            </a:r>
            <a:r>
              <a:rPr sz="2250" spc="60" dirty="0"/>
              <a:t> </a:t>
            </a:r>
            <a:r>
              <a:rPr sz="2250" spc="-20" dirty="0"/>
              <a:t>data</a:t>
            </a:r>
            <a:endParaRPr sz="2250"/>
          </a:p>
        </p:txBody>
      </p:sp>
      <p:grpSp>
        <p:nvGrpSpPr>
          <p:cNvPr id="14" name="object 14"/>
          <p:cNvGrpSpPr/>
          <p:nvPr/>
        </p:nvGrpSpPr>
        <p:grpSpPr>
          <a:xfrm>
            <a:off x="431291" y="1092708"/>
            <a:ext cx="7967980" cy="1341120"/>
            <a:chOff x="431291" y="1092708"/>
            <a:chExt cx="7967980" cy="134112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292" y="1092708"/>
              <a:ext cx="7249667" cy="6476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1291" y="1438656"/>
              <a:ext cx="7967471" cy="6476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1291" y="1786128"/>
              <a:ext cx="4067555" cy="6476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12141" y="1167555"/>
            <a:ext cx="7722870" cy="349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8755">
              <a:lnSpc>
                <a:spcPct val="101099"/>
              </a:lnSpc>
              <a:spcBef>
                <a:spcPts val="100"/>
              </a:spcBef>
            </a:pPr>
            <a:r>
              <a:rPr sz="2250" b="1" dirty="0">
                <a:latin typeface="Arial"/>
                <a:cs typeface="Arial"/>
              </a:rPr>
              <a:t>sets</a:t>
            </a:r>
            <a:r>
              <a:rPr sz="2250" b="1" spc="35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using</a:t>
            </a:r>
            <a:r>
              <a:rPr sz="2250" b="1" spc="45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analytical</a:t>
            </a:r>
            <a:r>
              <a:rPr sz="2250" b="1" spc="3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and</a:t>
            </a:r>
            <a:r>
              <a:rPr sz="2250" b="1" spc="4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statistical</a:t>
            </a:r>
            <a:r>
              <a:rPr sz="2250" b="1" spc="3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tools</a:t>
            </a:r>
            <a:r>
              <a:rPr sz="2250" b="1" spc="5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so</a:t>
            </a:r>
            <a:r>
              <a:rPr sz="2250" b="1" spc="4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as</a:t>
            </a:r>
            <a:r>
              <a:rPr sz="2250" b="1" spc="45" dirty="0">
                <a:latin typeface="Arial"/>
                <a:cs typeface="Arial"/>
              </a:rPr>
              <a:t> </a:t>
            </a:r>
            <a:r>
              <a:rPr sz="2250" b="1" spc="-25" dirty="0">
                <a:latin typeface="Arial"/>
                <a:cs typeface="Arial"/>
              </a:rPr>
              <a:t>to </a:t>
            </a:r>
            <a:r>
              <a:rPr sz="2250" b="1" dirty="0">
                <a:latin typeface="Arial"/>
                <a:cs typeface="Arial"/>
              </a:rPr>
              <a:t>discover</a:t>
            </a:r>
            <a:r>
              <a:rPr sz="2250" b="1" spc="2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useful</a:t>
            </a:r>
            <a:r>
              <a:rPr sz="2250" b="1" spc="65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information</a:t>
            </a:r>
            <a:r>
              <a:rPr sz="2250" b="1" spc="6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and</a:t>
            </a:r>
            <a:r>
              <a:rPr sz="2250" b="1" spc="5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conclusion</a:t>
            </a:r>
            <a:r>
              <a:rPr sz="2250" b="1" spc="2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to</a:t>
            </a:r>
            <a:r>
              <a:rPr sz="2250" b="1" spc="90" dirty="0">
                <a:latin typeface="Arial"/>
                <a:cs typeface="Arial"/>
              </a:rPr>
              <a:t> </a:t>
            </a:r>
            <a:r>
              <a:rPr sz="2250" b="1" spc="-10" dirty="0">
                <a:latin typeface="Arial"/>
                <a:cs typeface="Arial"/>
              </a:rPr>
              <a:t>support </a:t>
            </a:r>
            <a:r>
              <a:rPr sz="2250" b="1" dirty="0">
                <a:latin typeface="Arial"/>
                <a:cs typeface="Arial"/>
              </a:rPr>
              <a:t>business</a:t>
            </a:r>
            <a:r>
              <a:rPr sz="2250" b="1" spc="35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decision</a:t>
            </a:r>
            <a:r>
              <a:rPr sz="2250" b="1" spc="55" dirty="0">
                <a:latin typeface="Arial"/>
                <a:cs typeface="Arial"/>
              </a:rPr>
              <a:t> </a:t>
            </a:r>
            <a:r>
              <a:rPr sz="2250" b="1" spc="-10" dirty="0">
                <a:latin typeface="Arial"/>
                <a:cs typeface="Arial"/>
              </a:rPr>
              <a:t>making.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250">
              <a:latin typeface="Arial"/>
              <a:cs typeface="Arial"/>
            </a:endParaRPr>
          </a:p>
          <a:p>
            <a:pPr marL="383540" marR="5080" indent="-371475" algn="just">
              <a:lnSpc>
                <a:spcPct val="100899"/>
              </a:lnSpc>
              <a:spcBef>
                <a:spcPts val="5"/>
              </a:spcBef>
              <a:buFont typeface="Wingdings"/>
              <a:buChar char=""/>
              <a:tabLst>
                <a:tab pos="383540" algn="l"/>
              </a:tabLst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5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50" spc="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very</a:t>
            </a:r>
            <a:r>
              <a:rPr sz="22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easy</a:t>
            </a:r>
            <a:r>
              <a:rPr sz="225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50" spc="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import</a:t>
            </a:r>
            <a:r>
              <a:rPr sz="2250" spc="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50" spc="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export</a:t>
            </a:r>
            <a:r>
              <a:rPr sz="2250" spc="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50" spc="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2250" spc="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Pandas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r>
              <a:rPr sz="225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sz="225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22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very</a:t>
            </a:r>
            <a:r>
              <a:rPr sz="22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rich</a:t>
            </a:r>
            <a:r>
              <a:rPr sz="225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functions.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FFFFFF"/>
              </a:buClr>
              <a:buFont typeface="Wingdings"/>
              <a:buChar char=""/>
            </a:pPr>
            <a:endParaRPr sz="2250">
              <a:latin typeface="Arial"/>
              <a:cs typeface="Arial"/>
            </a:endParaRPr>
          </a:p>
          <a:p>
            <a:pPr marL="384175" marR="5080" indent="-372110" algn="just">
              <a:lnSpc>
                <a:spcPct val="101099"/>
              </a:lnSpc>
              <a:buFont typeface="Wingdings"/>
              <a:buChar char=""/>
              <a:tabLst>
                <a:tab pos="384175" algn="l"/>
              </a:tabLst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2250" spc="5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2250" spc="5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three</a:t>
            </a:r>
            <a:r>
              <a:rPr sz="2250" spc="5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sz="2250" spc="5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50" spc="5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structures,</a:t>
            </a:r>
            <a:r>
              <a:rPr sz="2250" spc="5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namely</a:t>
            </a:r>
            <a:r>
              <a:rPr sz="2250" spc="5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Arial"/>
                <a:cs typeface="Arial"/>
              </a:rPr>
              <a:t>~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Series,</a:t>
            </a:r>
            <a:r>
              <a:rPr sz="2250" spc="5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DataFrame</a:t>
            </a:r>
            <a:r>
              <a:rPr sz="2250" spc="5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50" spc="5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Panel</a:t>
            </a:r>
            <a:r>
              <a:rPr sz="2250" spc="5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50" spc="5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r>
              <a:rPr sz="2250" spc="5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50" spc="5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sz="2250" spc="5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analysing</a:t>
            </a:r>
            <a:r>
              <a:rPr sz="225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organised,</a:t>
            </a:r>
            <a:r>
              <a:rPr sz="22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effective</a:t>
            </a:r>
            <a:r>
              <a:rPr sz="22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5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efficient.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2480" y="570537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Century Gothic"/>
                <a:cs typeface="Century Gothic"/>
              </a:rPr>
              <a:t>9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440" y="990942"/>
            <a:ext cx="7973059" cy="45593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dirty="0"/>
              <a:t>Differences</a:t>
            </a:r>
            <a:r>
              <a:rPr sz="3200" spc="-75" dirty="0"/>
              <a:t> </a:t>
            </a:r>
            <a:r>
              <a:rPr sz="3200" dirty="0"/>
              <a:t>between</a:t>
            </a:r>
            <a:r>
              <a:rPr sz="3200" spc="-70" dirty="0"/>
              <a:t> </a:t>
            </a:r>
            <a:r>
              <a:rPr sz="3200" dirty="0"/>
              <a:t>Pandas</a:t>
            </a:r>
            <a:r>
              <a:rPr sz="3200" spc="-75" dirty="0"/>
              <a:t> </a:t>
            </a:r>
            <a:r>
              <a:rPr sz="3200" dirty="0"/>
              <a:t>and</a:t>
            </a:r>
            <a:r>
              <a:rPr sz="3200" spc="-55" dirty="0"/>
              <a:t> </a:t>
            </a:r>
            <a:r>
              <a:rPr sz="3200" spc="-10" dirty="0"/>
              <a:t>Numpy: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59740" y="1723481"/>
            <a:ext cx="8791575" cy="3592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4175" marR="5080" indent="-37211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384175" algn="l"/>
              </a:tabLst>
            </a:pP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95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Numpy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array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requires</a:t>
            </a:r>
            <a:r>
              <a:rPr sz="19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homogeneous</a:t>
            </a:r>
            <a:r>
              <a:rPr sz="195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data,</a:t>
            </a:r>
            <a:r>
              <a:rPr sz="19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sz="195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9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19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DataFrame</a:t>
            </a:r>
            <a:r>
              <a:rPr sz="195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19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(float,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int,</a:t>
            </a:r>
            <a:r>
              <a:rPr sz="19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string,</a:t>
            </a:r>
            <a:r>
              <a:rPr sz="19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datetime,</a:t>
            </a:r>
            <a:r>
              <a:rPr sz="19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etc.).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FFFFFF"/>
              </a:buClr>
              <a:buFont typeface="Wingdings"/>
              <a:buChar char=""/>
            </a:pPr>
            <a:endParaRPr sz="1950">
              <a:latin typeface="Arial"/>
              <a:cs typeface="Arial"/>
            </a:endParaRPr>
          </a:p>
          <a:p>
            <a:pPr marL="384175" marR="329565" indent="-372110">
              <a:lnSpc>
                <a:spcPct val="100000"/>
              </a:lnSpc>
              <a:buFont typeface="Wingdings"/>
              <a:buChar char=""/>
              <a:tabLst>
                <a:tab pos="384175" algn="l"/>
              </a:tabLst>
            </a:pP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19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9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9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simpler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interface</a:t>
            </a:r>
            <a:r>
              <a:rPr sz="19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sz="19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sz="19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sz="19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loading,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plotting,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selection,</a:t>
            </a:r>
            <a:r>
              <a:rPr sz="195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joining,</a:t>
            </a:r>
            <a:r>
              <a:rPr sz="19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GROUP</a:t>
            </a:r>
            <a:r>
              <a:rPr sz="195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75" dirty="0">
                <a:solidFill>
                  <a:srgbClr val="FFFFFF"/>
                </a:solidFill>
                <a:latin typeface="Arial"/>
                <a:cs typeface="Arial"/>
              </a:rPr>
              <a:t>BY,</a:t>
            </a:r>
            <a:r>
              <a:rPr sz="19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sz="19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come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very</a:t>
            </a:r>
            <a:r>
              <a:rPr sz="19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handy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9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data-processing applications.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Wingdings"/>
              <a:buChar char=""/>
            </a:pPr>
            <a:endParaRPr sz="1950">
              <a:latin typeface="Arial"/>
              <a:cs typeface="Arial"/>
            </a:endParaRPr>
          </a:p>
          <a:p>
            <a:pPr marL="291465" marR="104775" indent="-279400">
              <a:lnSpc>
                <a:spcPct val="100000"/>
              </a:lnSpc>
              <a:buFont typeface="Wingdings"/>
              <a:buChar char=""/>
              <a:tabLst>
                <a:tab pos="291465" algn="l"/>
              </a:tabLst>
            </a:pP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19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DataFrames</a:t>
            </a:r>
            <a:r>
              <a:rPr sz="19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(with</a:t>
            </a:r>
            <a:r>
              <a:rPr sz="19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r>
              <a:rPr sz="19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names)</a:t>
            </a:r>
            <a:r>
              <a:rPr sz="19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9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very</a:t>
            </a:r>
            <a:r>
              <a:rPr sz="19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easy</a:t>
            </a:r>
            <a:r>
              <a:rPr sz="19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9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keep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track</a:t>
            </a:r>
            <a:r>
              <a:rPr sz="1950" spc="-25" dirty="0">
                <a:solidFill>
                  <a:srgbClr val="FFFFFF"/>
                </a:solidFill>
                <a:latin typeface="Arial"/>
                <a:cs typeface="Arial"/>
              </a:rPr>
              <a:t> of 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FFFFFF"/>
              </a:buClr>
              <a:buFont typeface="Wingdings"/>
              <a:buChar char=""/>
            </a:pPr>
            <a:endParaRPr sz="1950">
              <a:latin typeface="Arial"/>
              <a:cs typeface="Arial"/>
            </a:endParaRPr>
          </a:p>
          <a:p>
            <a:pPr marL="291465" marR="201930" indent="-279400">
              <a:lnSpc>
                <a:spcPct val="100000"/>
              </a:lnSpc>
              <a:buFont typeface="Wingdings"/>
              <a:buChar char=""/>
              <a:tabLst>
                <a:tab pos="291465" algn="l"/>
              </a:tabLst>
            </a:pP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19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9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95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9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30" dirty="0">
                <a:solidFill>
                  <a:srgbClr val="FFFFFF"/>
                </a:solidFill>
                <a:latin typeface="Arial"/>
                <a:cs typeface="Arial"/>
              </a:rPr>
              <a:t>Tabular</a:t>
            </a:r>
            <a:r>
              <a:rPr sz="195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Format,</a:t>
            </a:r>
            <a:r>
              <a:rPr sz="19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whereas Numpy</a:t>
            </a:r>
            <a:r>
              <a:rPr sz="19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numeric</a:t>
            </a:r>
            <a:r>
              <a:rPr sz="19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array-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19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9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manipulation.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endParaRPr sz="2800">
              <a:latin typeface="Century Gothic"/>
              <a:cs typeface="Century 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79450" y="831850"/>
          <a:ext cx="7602220" cy="4813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1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104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588645" algn="l"/>
                        </a:tabLst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1.</a:t>
                      </a:r>
                      <a:r>
                        <a:rPr sz="23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	</a:t>
                      </a: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NumPy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F1413"/>
                    </a:solidFill>
                  </a:tcPr>
                </a:tc>
                <a:tc>
                  <a:txBody>
                    <a:bodyPr/>
                    <a:lstStyle/>
                    <a:p>
                      <a:pPr marL="588645" indent="-514984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eriod"/>
                        <a:tabLst>
                          <a:tab pos="588645" algn="l"/>
                        </a:tabLst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Pandas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F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254">
                <a:tc>
                  <a:txBody>
                    <a:bodyPr/>
                    <a:lstStyle/>
                    <a:p>
                      <a:pPr marL="588645" indent="-514984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eriod"/>
                        <a:tabLst>
                          <a:tab pos="588645" algn="l"/>
                        </a:tabLst>
                      </a:pPr>
                      <a:r>
                        <a:rPr sz="2300" dirty="0">
                          <a:latin typeface="Century Gothic"/>
                          <a:cs typeface="Century Gothic"/>
                        </a:rPr>
                        <a:t>Numerical</a:t>
                      </a:r>
                      <a:r>
                        <a:rPr sz="2300" spc="-8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300" spc="-10" dirty="0">
                          <a:latin typeface="Century Gothic"/>
                          <a:cs typeface="Century Gothic"/>
                        </a:rPr>
                        <a:t>array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  <a:p>
                      <a:pPr marL="588645" marR="1189990" indent="-514984">
                        <a:lnSpc>
                          <a:spcPct val="100000"/>
                        </a:lnSpc>
                        <a:spcBef>
                          <a:spcPts val="1205"/>
                        </a:spcBef>
                        <a:buAutoNum type="arabicPeriod"/>
                        <a:tabLst>
                          <a:tab pos="588645" algn="l"/>
                        </a:tabLst>
                      </a:pPr>
                      <a:r>
                        <a:rPr sz="2300" spc="-10" dirty="0">
                          <a:latin typeface="Century Gothic"/>
                          <a:cs typeface="Century Gothic"/>
                        </a:rPr>
                        <a:t>Mathematical Calculation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  <a:p>
                      <a:pPr marL="588645" marR="504825" indent="-514984">
                        <a:lnSpc>
                          <a:spcPct val="100000"/>
                        </a:lnSpc>
                        <a:spcBef>
                          <a:spcPts val="1200"/>
                        </a:spcBef>
                        <a:buAutoNum type="arabicPeriod"/>
                        <a:tabLst>
                          <a:tab pos="588645" algn="l"/>
                        </a:tabLst>
                      </a:pPr>
                      <a:r>
                        <a:rPr sz="2300" dirty="0">
                          <a:latin typeface="Century Gothic"/>
                          <a:cs typeface="Century Gothic"/>
                        </a:rPr>
                        <a:t>Homogenous</a:t>
                      </a:r>
                      <a:r>
                        <a:rPr sz="2300" spc="-10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300" spc="-20" dirty="0">
                          <a:latin typeface="Century Gothic"/>
                          <a:cs typeface="Century Gothic"/>
                        </a:rPr>
                        <a:t>Data </a:t>
                      </a:r>
                      <a:r>
                        <a:rPr sz="2300" dirty="0">
                          <a:latin typeface="Century Gothic"/>
                          <a:cs typeface="Century Gothic"/>
                        </a:rPr>
                        <a:t>(Same</a:t>
                      </a:r>
                      <a:r>
                        <a:rPr sz="2300" spc="-7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300" spc="-10" dirty="0">
                          <a:latin typeface="Century Gothic"/>
                          <a:cs typeface="Century Gothic"/>
                        </a:rPr>
                        <a:t>datatype)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  <a:p>
                      <a:pPr marL="588645" indent="-514984">
                        <a:lnSpc>
                          <a:spcPct val="100000"/>
                        </a:lnSpc>
                        <a:spcBef>
                          <a:spcPts val="1200"/>
                        </a:spcBef>
                        <a:buAutoNum type="arabicPeriod"/>
                        <a:tabLst>
                          <a:tab pos="588645" algn="l"/>
                        </a:tabLst>
                      </a:pPr>
                      <a:r>
                        <a:rPr sz="2300" dirty="0">
                          <a:latin typeface="Century Gothic"/>
                          <a:cs typeface="Century Gothic"/>
                        </a:rPr>
                        <a:t>Used</a:t>
                      </a:r>
                      <a:r>
                        <a:rPr sz="2300" spc="-4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300" spc="-20" dirty="0">
                          <a:latin typeface="Century Gothic"/>
                          <a:cs typeface="Century Gothic"/>
                        </a:rPr>
                        <a:t>array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CCCC"/>
                    </a:solidFill>
                  </a:tcPr>
                </a:tc>
                <a:tc>
                  <a:txBody>
                    <a:bodyPr/>
                    <a:lstStyle/>
                    <a:p>
                      <a:pPr marL="588645" indent="-514984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eriod"/>
                        <a:tabLst>
                          <a:tab pos="588645" algn="l"/>
                        </a:tabLst>
                      </a:pPr>
                      <a:r>
                        <a:rPr sz="2300" dirty="0">
                          <a:latin typeface="Century Gothic"/>
                          <a:cs typeface="Century Gothic"/>
                        </a:rPr>
                        <a:t>Panel</a:t>
                      </a:r>
                      <a:r>
                        <a:rPr sz="2300" spc="-5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300" dirty="0">
                          <a:latin typeface="Century Gothic"/>
                          <a:cs typeface="Century Gothic"/>
                        </a:rPr>
                        <a:t>Data</a:t>
                      </a:r>
                      <a:r>
                        <a:rPr sz="2300" spc="-5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300" spc="-10" dirty="0">
                          <a:latin typeface="Century Gothic"/>
                          <a:cs typeface="Century Gothic"/>
                        </a:rPr>
                        <a:t>System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  <a:p>
                      <a:pPr marL="588645" indent="-514984">
                        <a:lnSpc>
                          <a:spcPct val="100000"/>
                        </a:lnSpc>
                        <a:spcBef>
                          <a:spcPts val="1200"/>
                        </a:spcBef>
                        <a:buAutoNum type="arabicPeriod"/>
                        <a:tabLst>
                          <a:tab pos="588645" algn="l"/>
                        </a:tabLst>
                      </a:pPr>
                      <a:r>
                        <a:rPr sz="2300" dirty="0">
                          <a:latin typeface="Century Gothic"/>
                          <a:cs typeface="Century Gothic"/>
                        </a:rPr>
                        <a:t>Tabular</a:t>
                      </a:r>
                      <a:r>
                        <a:rPr sz="2300" spc="-7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300" spc="-10" dirty="0">
                          <a:latin typeface="Century Gothic"/>
                          <a:cs typeface="Century Gothic"/>
                        </a:rPr>
                        <a:t>Structure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  <a:p>
                      <a:pPr marL="588645" indent="-514984">
                        <a:lnSpc>
                          <a:spcPct val="100000"/>
                        </a:lnSpc>
                        <a:spcBef>
                          <a:spcPts val="1200"/>
                        </a:spcBef>
                        <a:buAutoNum type="arabicPeriod"/>
                        <a:tabLst>
                          <a:tab pos="588645" algn="l"/>
                        </a:tabLst>
                      </a:pPr>
                      <a:r>
                        <a:rPr sz="2300" dirty="0">
                          <a:latin typeface="Century Gothic"/>
                          <a:cs typeface="Century Gothic"/>
                        </a:rPr>
                        <a:t>Heterogenous</a:t>
                      </a:r>
                      <a:r>
                        <a:rPr sz="2300" spc="-8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300" spc="-20" dirty="0">
                          <a:latin typeface="Century Gothic"/>
                          <a:cs typeface="Century Gothic"/>
                        </a:rPr>
                        <a:t>Data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  <a:p>
                      <a:pPr marL="588645" marR="1560195" indent="-514984">
                        <a:lnSpc>
                          <a:spcPct val="100000"/>
                        </a:lnSpc>
                        <a:spcBef>
                          <a:spcPts val="1200"/>
                        </a:spcBef>
                        <a:buAutoNum type="arabicPeriod"/>
                        <a:tabLst>
                          <a:tab pos="588645" algn="l"/>
                        </a:tabLst>
                      </a:pPr>
                      <a:r>
                        <a:rPr sz="2300" dirty="0">
                          <a:latin typeface="Century Gothic"/>
                          <a:cs typeface="Century Gothic"/>
                        </a:rPr>
                        <a:t>Used</a:t>
                      </a:r>
                      <a:r>
                        <a:rPr sz="23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300" spc="-10" dirty="0">
                          <a:latin typeface="Century Gothic"/>
                          <a:cs typeface="Century Gothic"/>
                        </a:rPr>
                        <a:t>Series, DataFrame</a:t>
                      </a:r>
                      <a:endParaRPr sz="2300">
                        <a:latin typeface="Century Gothic"/>
                        <a:cs typeface="Century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8100" y="384594"/>
            <a:ext cx="1840230" cy="3600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2200" dirty="0">
                <a:latin typeface="Yu Gothic"/>
                <a:cs typeface="Yu Gothic"/>
              </a:rPr>
              <a:t>Why</a:t>
            </a:r>
            <a:r>
              <a:rPr sz="2200" spc="-50" dirty="0">
                <a:latin typeface="Yu Gothic"/>
                <a:cs typeface="Yu Gothic"/>
              </a:rPr>
              <a:t> </a:t>
            </a:r>
            <a:r>
              <a:rPr sz="2200" spc="-10" dirty="0">
                <a:latin typeface="Yu Gothic"/>
                <a:cs typeface="Yu Gothic"/>
              </a:rPr>
              <a:t>Pandas?</a:t>
            </a:r>
            <a:endParaRPr sz="2200">
              <a:latin typeface="Yu Gothic"/>
              <a:cs typeface="Yu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82" y="810851"/>
            <a:ext cx="8027670" cy="5587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195" marR="5080" indent="-27813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291465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popular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scientific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Python 	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ecosystem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doing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analysis.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capable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many 	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including:</a:t>
            </a:r>
            <a:endParaRPr sz="2200">
              <a:latin typeface="Arial"/>
              <a:cs typeface="Arial"/>
            </a:endParaRPr>
          </a:p>
          <a:p>
            <a:pPr marL="290195" marR="548005" indent="-278130">
              <a:lnSpc>
                <a:spcPct val="100000"/>
              </a:lnSpc>
              <a:spcBef>
                <a:spcPts val="695"/>
              </a:spcBef>
              <a:buFont typeface="Wingdings"/>
              <a:buChar char=""/>
              <a:tabLst>
                <a:tab pos="291465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read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write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many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formats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(integer, 	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float,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double,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etc.).</a:t>
            </a:r>
            <a:endParaRPr sz="2200">
              <a:latin typeface="Arial"/>
              <a:cs typeface="Arial"/>
            </a:endParaRPr>
          </a:p>
          <a:p>
            <a:pPr marL="290195" marR="189865" indent="-278130">
              <a:lnSpc>
                <a:spcPct val="100000"/>
              </a:lnSpc>
              <a:spcBef>
                <a:spcPts val="695"/>
              </a:spcBef>
              <a:buFont typeface="Wingdings"/>
              <a:buChar char=""/>
              <a:tabLst>
                <a:tab pos="291465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calculate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possible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ways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i.e., 	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rows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down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columns.</a:t>
            </a:r>
            <a:endParaRPr sz="2200">
              <a:latin typeface="Arial"/>
              <a:cs typeface="Arial"/>
            </a:endParaRPr>
          </a:p>
          <a:p>
            <a:pPr marL="290195" marR="156845" indent="-278130">
              <a:lnSpc>
                <a:spcPct val="100000"/>
              </a:lnSpc>
              <a:spcBef>
                <a:spcPts val="710"/>
              </a:spcBef>
              <a:buFont typeface="Wingdings"/>
              <a:buChar char=""/>
              <a:tabLst>
                <a:tab pos="291465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easily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select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subsets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bulky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sets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and 	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even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combine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together.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functionality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to 	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fill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2200">
              <a:latin typeface="Arial"/>
              <a:cs typeface="Arial"/>
            </a:endParaRPr>
          </a:p>
          <a:p>
            <a:pPr marL="290195" marR="93980" indent="-278130">
              <a:lnSpc>
                <a:spcPct val="100000"/>
              </a:lnSpc>
              <a:spcBef>
                <a:spcPts val="695"/>
              </a:spcBef>
              <a:buFont typeface="Wingdings"/>
              <a:buChar char=""/>
              <a:tabLst>
                <a:tab pos="291465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allows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independent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groups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within 	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2200">
              <a:latin typeface="Arial"/>
              <a:cs typeface="Arial"/>
            </a:endParaRPr>
          </a:p>
          <a:p>
            <a:pPr marL="290830" indent="-278130">
              <a:lnSpc>
                <a:spcPct val="100000"/>
              </a:lnSpc>
              <a:spcBef>
                <a:spcPts val="695"/>
              </a:spcBef>
              <a:buFont typeface="Wingdings"/>
              <a:buChar char=""/>
              <a:tabLst>
                <a:tab pos="290830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supports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reshaping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forms.</a:t>
            </a:r>
            <a:endParaRPr sz="2200">
              <a:latin typeface="Arial"/>
              <a:cs typeface="Arial"/>
            </a:endParaRPr>
          </a:p>
          <a:p>
            <a:pPr marL="290195" marR="158750" indent="-278130">
              <a:lnSpc>
                <a:spcPct val="100000"/>
              </a:lnSpc>
              <a:spcBef>
                <a:spcPts val="705"/>
              </a:spcBef>
              <a:buFont typeface="Wingdings"/>
              <a:buChar char=""/>
              <a:tabLst>
                <a:tab pos="291465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supports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visualization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integrating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matplotlib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seaborn 	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etc.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libraries.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12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" y="2286000"/>
            <a:ext cx="7696199" cy="320038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18184" y="1213594"/>
            <a:ext cx="464312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50" b="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Data</a:t>
            </a:r>
            <a:r>
              <a:rPr sz="3250" b="0" u="sng" spc="-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3250" b="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Structure</a:t>
            </a:r>
            <a:r>
              <a:rPr sz="3250" b="0" u="sng" spc="-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3250" b="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in</a:t>
            </a:r>
            <a:r>
              <a:rPr sz="3250" b="0" u="sng" spc="-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3250" b="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Pandas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13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92936" y="544067"/>
            <a:ext cx="6038215" cy="568960"/>
          </a:xfrm>
          <a:custGeom>
            <a:avLst/>
            <a:gdLst/>
            <a:ahLst/>
            <a:cxnLst/>
            <a:rect l="l" t="t" r="r" b="b"/>
            <a:pathLst>
              <a:path w="6038215" h="568960">
                <a:moveTo>
                  <a:pt x="6038088" y="559308"/>
                </a:moveTo>
                <a:lnTo>
                  <a:pt x="0" y="559308"/>
                </a:lnTo>
                <a:lnTo>
                  <a:pt x="0" y="568452"/>
                </a:lnTo>
                <a:lnTo>
                  <a:pt x="6038088" y="568452"/>
                </a:lnTo>
                <a:lnTo>
                  <a:pt x="6038088" y="559308"/>
                </a:lnTo>
                <a:close/>
              </a:path>
              <a:path w="6038215" h="568960">
                <a:moveTo>
                  <a:pt x="6038088" y="0"/>
                </a:moveTo>
                <a:lnTo>
                  <a:pt x="0" y="0"/>
                </a:lnTo>
                <a:lnTo>
                  <a:pt x="0" y="505968"/>
                </a:lnTo>
                <a:lnTo>
                  <a:pt x="6038088" y="505968"/>
                </a:lnTo>
                <a:lnTo>
                  <a:pt x="60380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Structure</a:t>
            </a:r>
            <a:r>
              <a:rPr spc="-50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spc="-10" dirty="0"/>
              <a:t>Pandas</a:t>
            </a:r>
          </a:p>
        </p:txBody>
      </p:sp>
      <p:sp>
        <p:nvSpPr>
          <p:cNvPr id="5" name="object 5"/>
          <p:cNvSpPr/>
          <p:nvPr/>
        </p:nvSpPr>
        <p:spPr>
          <a:xfrm>
            <a:off x="1392936" y="1050036"/>
            <a:ext cx="6038215" cy="53340"/>
          </a:xfrm>
          <a:custGeom>
            <a:avLst/>
            <a:gdLst/>
            <a:ahLst/>
            <a:cxnLst/>
            <a:rect l="l" t="t" r="r" b="b"/>
            <a:pathLst>
              <a:path w="6038215" h="53340">
                <a:moveTo>
                  <a:pt x="6038088" y="0"/>
                </a:moveTo>
                <a:lnTo>
                  <a:pt x="0" y="0"/>
                </a:lnTo>
                <a:lnTo>
                  <a:pt x="0" y="53340"/>
                </a:lnTo>
                <a:lnTo>
                  <a:pt x="6038088" y="53340"/>
                </a:lnTo>
                <a:lnTo>
                  <a:pt x="6038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218691"/>
            <a:ext cx="7750809" cy="273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marR="833119" indent="-23622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"/>
              <a:tabLst>
                <a:tab pos="245745" algn="l"/>
                <a:tab pos="28257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	A</a:t>
            </a:r>
            <a:r>
              <a:rPr sz="24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applied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  <a:p>
            <a:pPr marL="245745" marR="5080" indent="-236220">
              <a:lnSpc>
                <a:spcPct val="100000"/>
              </a:lnSpc>
              <a:spcBef>
                <a:spcPts val="994"/>
              </a:spcBef>
              <a:buSzPct val="95833"/>
              <a:buFont typeface="Wingdings"/>
              <a:buChar char=""/>
              <a:tabLst>
                <a:tab pos="245745" algn="l"/>
                <a:tab pos="28257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	It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enables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efficient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storage,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retrieval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modification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400">
              <a:latin typeface="Arial"/>
              <a:cs typeface="Arial"/>
            </a:endParaRPr>
          </a:p>
          <a:p>
            <a:pPr marL="165100" marR="189230">
              <a:lnSpc>
                <a:spcPct val="100000"/>
              </a:lnSpc>
            </a:pP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Two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commonly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structures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we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cover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book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are: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9527" y="3995928"/>
            <a:ext cx="5302250" cy="2707005"/>
            <a:chOff x="2319527" y="3995928"/>
            <a:chExt cx="5302250" cy="270700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9527" y="3995928"/>
              <a:ext cx="5301995" cy="27066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4599" y="4191000"/>
              <a:ext cx="4713995" cy="21183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14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6115" y="455676"/>
            <a:ext cx="1068705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10" dirty="0">
                <a:latin typeface="Arial"/>
                <a:cs typeface="Arial"/>
              </a:rPr>
              <a:t>Series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402" y="831696"/>
            <a:ext cx="758825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one-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dimensional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array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containing</a:t>
            </a:r>
            <a:r>
              <a:rPr sz="2800" spc="7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sequence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type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(int,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float,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list,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string,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etc)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default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numeric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labels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starting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zero.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2067" y="3015995"/>
            <a:ext cx="1851025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0"/>
              </a:lnSpc>
            </a:pPr>
            <a:r>
              <a:rPr sz="2800" b="1" spc="-10" dirty="0">
                <a:latin typeface="Arial"/>
                <a:cs typeface="Arial"/>
              </a:rPr>
              <a:t>DataFrame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402" y="3392265"/>
            <a:ext cx="757174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DataFrame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two-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dimensional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labelled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MySQL.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contains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rows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columns,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therefore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both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row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index.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15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569" y="1361160"/>
            <a:ext cx="3168136" cy="39485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27183" y="1684287"/>
            <a:ext cx="5830239" cy="36656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16</a:t>
            </a:r>
            <a:endParaRPr sz="2800">
              <a:latin typeface="Century Gothic"/>
              <a:cs typeface="Century 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7050" y="146050"/>
          <a:ext cx="7772400" cy="62871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6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Property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F14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Series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F1413"/>
                    </a:solidFill>
                  </a:tcPr>
                </a:tc>
                <a:tc>
                  <a:txBody>
                    <a:bodyPr/>
                    <a:lstStyle/>
                    <a:p>
                      <a:pPr marL="7543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DataFrame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F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Dimensions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1-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Dimensional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2-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Dimensional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4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Type</a:t>
                      </a:r>
                      <a:r>
                        <a:rPr sz="20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20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Data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660" marR="211454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Homogeneous,</a:t>
                      </a:r>
                      <a:r>
                        <a:rPr sz="20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i.e.,</a:t>
                      </a:r>
                      <a:r>
                        <a:rPr sz="2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all</a:t>
                      </a:r>
                      <a:r>
                        <a:rPr sz="2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elements</a:t>
                      </a:r>
                      <a:r>
                        <a:rPr sz="20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must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same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type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Series object.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0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245110">
                        <a:lnSpc>
                          <a:spcPct val="100000"/>
                        </a:lnSpc>
                        <a:spcBef>
                          <a:spcPts val="2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Heterogeneous,</a:t>
                      </a:r>
                      <a:r>
                        <a:rPr sz="20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i.e.,</a:t>
                      </a:r>
                      <a:r>
                        <a:rPr sz="2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DataFrame</a:t>
                      </a:r>
                      <a:r>
                        <a:rPr sz="20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20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can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have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elements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different</a:t>
                      </a:r>
                      <a:r>
                        <a:rPr sz="20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types.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1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47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3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Mutability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 marL="73660" marR="471170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Value</a:t>
                      </a:r>
                      <a:r>
                        <a:rPr sz="20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mutable,</a:t>
                      </a:r>
                      <a:r>
                        <a:rPr sz="20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i.e.,</a:t>
                      </a:r>
                      <a:r>
                        <a:rPr sz="20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their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elements’</a:t>
                      </a:r>
                      <a:r>
                        <a:rPr sz="20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value</a:t>
                      </a:r>
                      <a:r>
                        <a:rPr sz="2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can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change.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3025" marR="238125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size—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immutable,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i.e.,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size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Series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object,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once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created,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cannot</a:t>
                      </a:r>
                      <a:r>
                        <a:rPr sz="2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change.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If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you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want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add/drop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an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element,</a:t>
                      </a:r>
                      <a:r>
                        <a:rPr sz="20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internally</a:t>
                      </a:r>
                      <a:r>
                        <a:rPr sz="20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anew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Series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20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will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be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created.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3397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Value</a:t>
                      </a:r>
                      <a:r>
                        <a:rPr sz="20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mutable,</a:t>
                      </a:r>
                      <a:r>
                        <a:rPr sz="20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i.e..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Their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elements’</a:t>
                      </a:r>
                      <a:r>
                        <a:rPr sz="20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value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 change.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2390" marR="314325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size—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mutable,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i.e.,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size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Dataframe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object,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once</a:t>
                      </a:r>
                      <a:r>
                        <a:rPr sz="2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created,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change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place.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is,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you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can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add/drop</a:t>
                      </a:r>
                      <a:r>
                        <a:rPr sz="20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elements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20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existing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dataframe object.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17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87140" y="534923"/>
            <a:ext cx="1490980" cy="45593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spc="-10" dirty="0"/>
              <a:t>:Series: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12140" y="968216"/>
            <a:ext cx="7828280" cy="372173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600"/>
              </a:spcBef>
              <a:buSzPct val="96428"/>
              <a:buFont typeface="Wingdings"/>
              <a:buChar char=""/>
              <a:tabLst>
                <a:tab pos="329565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pandas.</a:t>
            </a:r>
            <a:endParaRPr sz="2800">
              <a:latin typeface="Arial"/>
              <a:cs typeface="Arial"/>
            </a:endParaRPr>
          </a:p>
          <a:p>
            <a:pPr marL="245745" marR="1189355" indent="-234315">
              <a:lnSpc>
                <a:spcPct val="100000"/>
              </a:lnSpc>
              <a:spcBef>
                <a:spcPts val="1500"/>
              </a:spcBef>
              <a:buSzPct val="96428"/>
              <a:buFont typeface="Wingdings"/>
              <a:buChar char=""/>
              <a:tabLst>
                <a:tab pos="245745" algn="l"/>
                <a:tab pos="328930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It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represents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one-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dimensional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array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indexed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2800">
              <a:latin typeface="Arial"/>
              <a:cs typeface="Arial"/>
            </a:endParaRPr>
          </a:p>
          <a:p>
            <a:pPr marL="329565" indent="-317500">
              <a:lnSpc>
                <a:spcPct val="100000"/>
              </a:lnSpc>
              <a:spcBef>
                <a:spcPts val="2580"/>
              </a:spcBef>
              <a:buSzPct val="96428"/>
              <a:buFont typeface="Wingdings"/>
              <a:buChar char=""/>
              <a:tabLst>
                <a:tab pos="329565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type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object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two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main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components:</a:t>
            </a:r>
            <a:endParaRPr sz="2800">
              <a:latin typeface="Arial"/>
              <a:cs typeface="Arial"/>
            </a:endParaRPr>
          </a:p>
          <a:p>
            <a:pPr marL="355600" indent="-169545">
              <a:lnSpc>
                <a:spcPct val="100000"/>
              </a:lnSpc>
              <a:buSzPct val="96428"/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array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actual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  <a:p>
            <a:pPr marL="194945" marR="1051560" indent="-8890">
              <a:lnSpc>
                <a:spcPct val="100000"/>
              </a:lnSpc>
              <a:buSzPct val="96428"/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An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associated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array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indexes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(Numeric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index)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labels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(Labelled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index).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58003" y="435208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18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539" y="482600"/>
            <a:ext cx="6460490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195" marR="5080" indent="-27813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"/>
              <a:tabLst>
                <a:tab pos="29146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Both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one-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dimensional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arrays 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length.</a:t>
            </a:r>
            <a:endParaRPr sz="2400">
              <a:latin typeface="Arial"/>
              <a:cs typeface="Arial"/>
            </a:endParaRPr>
          </a:p>
          <a:p>
            <a:pPr marL="290195" marR="133350" indent="-278130">
              <a:lnSpc>
                <a:spcPct val="100000"/>
              </a:lnSpc>
              <a:spcBef>
                <a:spcPts val="994"/>
              </a:spcBef>
              <a:buSzPct val="95833"/>
              <a:buFont typeface="Wingdings"/>
              <a:buChar char=""/>
              <a:tabLst>
                <a:tab pos="29146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index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data 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values,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eg.</a:t>
            </a:r>
            <a:r>
              <a:rPr sz="2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following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shows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some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series 	objects: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048000"/>
            <a:ext cx="2859963" cy="24807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600" y="3048000"/>
            <a:ext cx="2925140" cy="24807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5988" y="508180"/>
            <a:ext cx="4762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5" dirty="0">
                <a:solidFill>
                  <a:srgbClr val="FFFFFF"/>
                </a:solidFill>
                <a:latin typeface="Century Gothic"/>
                <a:cs typeface="Century Gothic"/>
              </a:rPr>
              <a:t>19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4139" y="1098316"/>
            <a:ext cx="6647815" cy="2843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0" algn="ctr">
              <a:lnSpc>
                <a:spcPct val="100000"/>
              </a:lnSpc>
              <a:spcBef>
                <a:spcPts val="100"/>
              </a:spcBef>
            </a:pPr>
            <a:r>
              <a:rPr sz="3250" b="1" dirty="0">
                <a:solidFill>
                  <a:srgbClr val="FFFFFF"/>
                </a:solidFill>
                <a:latin typeface="Arial"/>
                <a:cs typeface="Arial"/>
              </a:rPr>
              <a:t>Creation</a:t>
            </a:r>
            <a:r>
              <a:rPr sz="325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25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b="1" spc="-1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endParaRPr sz="3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Syntex:</a:t>
            </a:r>
            <a:r>
              <a:rPr sz="22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(import</a:t>
            </a:r>
            <a:r>
              <a:rPr sz="22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sz="22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2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25" dirty="0">
                <a:solidFill>
                  <a:srgbClr val="FFFFFF"/>
                </a:solidFill>
                <a:latin typeface="Arial"/>
                <a:cs typeface="Arial"/>
              </a:rPr>
              <a:t>pd)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25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5"/>
              </a:spcBef>
              <a:buAutoNum type="romanUcPeriod"/>
              <a:tabLst>
                <a:tab pos="527685" algn="l"/>
              </a:tabLst>
            </a:pP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&lt;Series_Object&gt;</a:t>
            </a:r>
            <a:r>
              <a:rPr sz="22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2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pd.Series()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FFFFFF"/>
              </a:buClr>
              <a:buFont typeface="Arial"/>
              <a:buAutoNum type="romanUcPeriod"/>
            </a:pPr>
            <a:endParaRPr sz="225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buAutoNum type="romanUcPeriod"/>
              <a:tabLst>
                <a:tab pos="527685" algn="l"/>
              </a:tabLst>
            </a:pP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&lt;Series_Object&gt;</a:t>
            </a:r>
            <a:r>
              <a:rPr sz="22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2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pd.Series(data,index=idx)</a:t>
            </a:r>
            <a:endParaRPr sz="2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139" y="4261862"/>
            <a:ext cx="34861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9267" y="4261862"/>
            <a:ext cx="5723890" cy="720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&lt;Series_Object&gt;</a:t>
            </a:r>
            <a:r>
              <a:rPr sz="22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25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pd.Series(&lt;any</a:t>
            </a:r>
            <a:r>
              <a:rPr sz="22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python sequence&gt;)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20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24100" y="585216"/>
            <a:ext cx="5387340" cy="1409700"/>
            <a:chOff x="2324100" y="585216"/>
            <a:chExt cx="5387340" cy="1409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0988" y="1152144"/>
              <a:ext cx="4776215" cy="853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100" y="585216"/>
              <a:ext cx="5387339" cy="914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2316" y="1080516"/>
              <a:ext cx="1815083" cy="9143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75623" y="704593"/>
            <a:ext cx="4753610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0535" marR="5080" indent="-1728470">
              <a:lnSpc>
                <a:spcPct val="100000"/>
              </a:lnSpc>
              <a:spcBef>
                <a:spcPts val="100"/>
              </a:spcBef>
            </a:pPr>
            <a:r>
              <a:rPr sz="325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</a:rPr>
              <a:t>Different</a:t>
            </a:r>
            <a:r>
              <a:rPr sz="3250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</a:rPr>
              <a:t> </a:t>
            </a:r>
            <a:r>
              <a:rPr sz="325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</a:rPr>
              <a:t>ways</a:t>
            </a:r>
            <a:r>
              <a:rPr sz="325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</a:rPr>
              <a:t> </a:t>
            </a:r>
            <a:r>
              <a:rPr sz="325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</a:rPr>
              <a:t>to</a:t>
            </a:r>
            <a:r>
              <a:rPr sz="325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</a:rPr>
              <a:t> </a:t>
            </a:r>
            <a:r>
              <a:rPr sz="325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</a:rPr>
              <a:t>create</a:t>
            </a:r>
            <a:r>
              <a:rPr sz="3250" u="none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325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</a:rPr>
              <a:t>Series:</a:t>
            </a:r>
            <a:endParaRPr sz="3250">
              <a:latin typeface="Century Gothic"/>
              <a:cs typeface="Century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70204" y="1647444"/>
            <a:ext cx="7522845" cy="1849120"/>
            <a:chOff x="870204" y="1647444"/>
            <a:chExt cx="7522845" cy="184912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9203" y="1647444"/>
              <a:ext cx="1319783" cy="853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0204" y="1812035"/>
              <a:ext cx="4195571" cy="1021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400" y="1831060"/>
              <a:ext cx="4106341" cy="9315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14396" y="1831101"/>
              <a:ext cx="4106545" cy="931544"/>
            </a:xfrm>
            <a:custGeom>
              <a:avLst/>
              <a:gdLst/>
              <a:ahLst/>
              <a:cxnLst/>
              <a:rect l="l" t="t" r="r" b="b"/>
              <a:pathLst>
                <a:path w="4106545" h="931544">
                  <a:moveTo>
                    <a:pt x="256730" y="57562"/>
                  </a:moveTo>
                  <a:lnTo>
                    <a:pt x="306084" y="50180"/>
                  </a:lnTo>
                  <a:lnTo>
                    <a:pt x="355438" y="43373"/>
                  </a:lnTo>
                  <a:lnTo>
                    <a:pt x="404792" y="37127"/>
                  </a:lnTo>
                  <a:lnTo>
                    <a:pt x="454147" y="31425"/>
                  </a:lnTo>
                  <a:lnTo>
                    <a:pt x="503501" y="26253"/>
                  </a:lnTo>
                  <a:lnTo>
                    <a:pt x="552855" y="21596"/>
                  </a:lnTo>
                  <a:lnTo>
                    <a:pt x="602209" y="17438"/>
                  </a:lnTo>
                  <a:lnTo>
                    <a:pt x="651563" y="13765"/>
                  </a:lnTo>
                  <a:lnTo>
                    <a:pt x="700917" y="10560"/>
                  </a:lnTo>
                  <a:lnTo>
                    <a:pt x="750271" y="7810"/>
                  </a:lnTo>
                  <a:lnTo>
                    <a:pt x="799625" y="5499"/>
                  </a:lnTo>
                  <a:lnTo>
                    <a:pt x="848979" y="3612"/>
                  </a:lnTo>
                  <a:lnTo>
                    <a:pt x="898333" y="2134"/>
                  </a:lnTo>
                  <a:lnTo>
                    <a:pt x="947687" y="1049"/>
                  </a:lnTo>
                  <a:lnTo>
                    <a:pt x="997041" y="343"/>
                  </a:lnTo>
                  <a:lnTo>
                    <a:pt x="1046395" y="0"/>
                  </a:lnTo>
                  <a:lnTo>
                    <a:pt x="1095749" y="5"/>
                  </a:lnTo>
                  <a:lnTo>
                    <a:pt x="1145103" y="343"/>
                  </a:lnTo>
                  <a:lnTo>
                    <a:pt x="1194457" y="999"/>
                  </a:lnTo>
                  <a:lnTo>
                    <a:pt x="1243811" y="1957"/>
                  </a:lnTo>
                  <a:lnTo>
                    <a:pt x="1293165" y="3204"/>
                  </a:lnTo>
                  <a:lnTo>
                    <a:pt x="1342519" y="4722"/>
                  </a:lnTo>
                  <a:lnTo>
                    <a:pt x="1391873" y="6499"/>
                  </a:lnTo>
                  <a:lnTo>
                    <a:pt x="1441227" y="8517"/>
                  </a:lnTo>
                  <a:lnTo>
                    <a:pt x="1490581" y="10762"/>
                  </a:lnTo>
                  <a:lnTo>
                    <a:pt x="1539935" y="13220"/>
                  </a:lnTo>
                  <a:lnTo>
                    <a:pt x="1589289" y="15874"/>
                  </a:lnTo>
                  <a:lnTo>
                    <a:pt x="1638643" y="18709"/>
                  </a:lnTo>
                  <a:lnTo>
                    <a:pt x="1687997" y="21712"/>
                  </a:lnTo>
                  <a:lnTo>
                    <a:pt x="1737350" y="24865"/>
                  </a:lnTo>
                  <a:lnTo>
                    <a:pt x="1786704" y="28155"/>
                  </a:lnTo>
                  <a:lnTo>
                    <a:pt x="1836058" y="31566"/>
                  </a:lnTo>
                  <a:lnTo>
                    <a:pt x="1885412" y="35083"/>
                  </a:lnTo>
                  <a:lnTo>
                    <a:pt x="1934766" y="38691"/>
                  </a:lnTo>
                  <a:lnTo>
                    <a:pt x="1984120" y="42374"/>
                  </a:lnTo>
                  <a:lnTo>
                    <a:pt x="2033474" y="46118"/>
                  </a:lnTo>
                  <a:lnTo>
                    <a:pt x="2082828" y="49908"/>
                  </a:lnTo>
                  <a:lnTo>
                    <a:pt x="2132182" y="53727"/>
                  </a:lnTo>
                  <a:lnTo>
                    <a:pt x="2181536" y="57562"/>
                  </a:lnTo>
                  <a:lnTo>
                    <a:pt x="2230890" y="61397"/>
                  </a:lnTo>
                  <a:lnTo>
                    <a:pt x="2280243" y="65217"/>
                  </a:lnTo>
                  <a:lnTo>
                    <a:pt x="2329597" y="69006"/>
                  </a:lnTo>
                  <a:lnTo>
                    <a:pt x="2378951" y="72750"/>
                  </a:lnTo>
                  <a:lnTo>
                    <a:pt x="2428305" y="76434"/>
                  </a:lnTo>
                  <a:lnTo>
                    <a:pt x="2477659" y="80042"/>
                  </a:lnTo>
                  <a:lnTo>
                    <a:pt x="2527013" y="83558"/>
                  </a:lnTo>
                  <a:lnTo>
                    <a:pt x="2576367" y="86969"/>
                  </a:lnTo>
                  <a:lnTo>
                    <a:pt x="2625721" y="90259"/>
                  </a:lnTo>
                  <a:lnTo>
                    <a:pt x="2675075" y="93413"/>
                  </a:lnTo>
                  <a:lnTo>
                    <a:pt x="2724429" y="96415"/>
                  </a:lnTo>
                  <a:lnTo>
                    <a:pt x="2773783" y="99251"/>
                  </a:lnTo>
                  <a:lnTo>
                    <a:pt x="2823137" y="101905"/>
                  </a:lnTo>
                  <a:lnTo>
                    <a:pt x="2872491" y="104362"/>
                  </a:lnTo>
                  <a:lnTo>
                    <a:pt x="2921844" y="106608"/>
                  </a:lnTo>
                  <a:lnTo>
                    <a:pt x="2971198" y="108626"/>
                  </a:lnTo>
                  <a:lnTo>
                    <a:pt x="3020552" y="110402"/>
                  </a:lnTo>
                  <a:lnTo>
                    <a:pt x="3069906" y="111921"/>
                  </a:lnTo>
                  <a:lnTo>
                    <a:pt x="3119260" y="113167"/>
                  </a:lnTo>
                  <a:lnTo>
                    <a:pt x="3168614" y="114126"/>
                  </a:lnTo>
                  <a:lnTo>
                    <a:pt x="3217968" y="114782"/>
                  </a:lnTo>
                  <a:lnTo>
                    <a:pt x="3267322" y="115120"/>
                  </a:lnTo>
                  <a:lnTo>
                    <a:pt x="3316676" y="115125"/>
                  </a:lnTo>
                  <a:lnTo>
                    <a:pt x="3366030" y="114782"/>
                  </a:lnTo>
                  <a:lnTo>
                    <a:pt x="3415384" y="114076"/>
                  </a:lnTo>
                  <a:lnTo>
                    <a:pt x="3464738" y="112991"/>
                  </a:lnTo>
                  <a:lnTo>
                    <a:pt x="3514092" y="111512"/>
                  </a:lnTo>
                  <a:lnTo>
                    <a:pt x="3563446" y="109625"/>
                  </a:lnTo>
                  <a:lnTo>
                    <a:pt x="3612800" y="107314"/>
                  </a:lnTo>
                  <a:lnTo>
                    <a:pt x="3662154" y="104564"/>
                  </a:lnTo>
                  <a:lnTo>
                    <a:pt x="3711508" y="101360"/>
                  </a:lnTo>
                  <a:lnTo>
                    <a:pt x="3760863" y="97687"/>
                  </a:lnTo>
                  <a:lnTo>
                    <a:pt x="3810217" y="93529"/>
                  </a:lnTo>
                  <a:lnTo>
                    <a:pt x="3859571" y="88872"/>
                  </a:lnTo>
                  <a:lnTo>
                    <a:pt x="3908925" y="83700"/>
                  </a:lnTo>
                  <a:lnTo>
                    <a:pt x="3958279" y="77998"/>
                  </a:lnTo>
                  <a:lnTo>
                    <a:pt x="4007633" y="71751"/>
                  </a:lnTo>
                  <a:lnTo>
                    <a:pt x="4056987" y="64944"/>
                  </a:lnTo>
                  <a:lnTo>
                    <a:pt x="4106341" y="57562"/>
                  </a:lnTo>
                  <a:lnTo>
                    <a:pt x="3849611" y="873944"/>
                  </a:lnTo>
                  <a:lnTo>
                    <a:pt x="3800257" y="881326"/>
                  </a:lnTo>
                  <a:lnTo>
                    <a:pt x="3750903" y="888133"/>
                  </a:lnTo>
                  <a:lnTo>
                    <a:pt x="3701550" y="894379"/>
                  </a:lnTo>
                  <a:lnTo>
                    <a:pt x="3652196" y="900081"/>
                  </a:lnTo>
                  <a:lnTo>
                    <a:pt x="3602842" y="905253"/>
                  </a:lnTo>
                  <a:lnTo>
                    <a:pt x="3553489" y="909910"/>
                  </a:lnTo>
                  <a:lnTo>
                    <a:pt x="3504135" y="914068"/>
                  </a:lnTo>
                  <a:lnTo>
                    <a:pt x="3454781" y="917741"/>
                  </a:lnTo>
                  <a:lnTo>
                    <a:pt x="3405427" y="920945"/>
                  </a:lnTo>
                  <a:lnTo>
                    <a:pt x="3356074" y="923695"/>
                  </a:lnTo>
                  <a:lnTo>
                    <a:pt x="3306720" y="926006"/>
                  </a:lnTo>
                  <a:lnTo>
                    <a:pt x="3257366" y="927893"/>
                  </a:lnTo>
                  <a:lnTo>
                    <a:pt x="3208012" y="929371"/>
                  </a:lnTo>
                  <a:lnTo>
                    <a:pt x="3158658" y="930456"/>
                  </a:lnTo>
                  <a:lnTo>
                    <a:pt x="3109305" y="931162"/>
                  </a:lnTo>
                  <a:lnTo>
                    <a:pt x="3059951" y="931505"/>
                  </a:lnTo>
                  <a:lnTo>
                    <a:pt x="3010597" y="931500"/>
                  </a:lnTo>
                  <a:lnTo>
                    <a:pt x="2961243" y="931162"/>
                  </a:lnTo>
                  <a:lnTo>
                    <a:pt x="2911889" y="930506"/>
                  </a:lnTo>
                  <a:lnTo>
                    <a:pt x="2862535" y="929547"/>
                  </a:lnTo>
                  <a:lnTo>
                    <a:pt x="2813181" y="928300"/>
                  </a:lnTo>
                  <a:lnTo>
                    <a:pt x="2763827" y="926781"/>
                  </a:lnTo>
                  <a:lnTo>
                    <a:pt x="2714474" y="925005"/>
                  </a:lnTo>
                  <a:lnTo>
                    <a:pt x="2665120" y="922987"/>
                  </a:lnTo>
                  <a:lnTo>
                    <a:pt x="2615766" y="920741"/>
                  </a:lnTo>
                  <a:lnTo>
                    <a:pt x="2566412" y="918284"/>
                  </a:lnTo>
                  <a:lnTo>
                    <a:pt x="2517058" y="915629"/>
                  </a:lnTo>
                  <a:lnTo>
                    <a:pt x="2467704" y="912793"/>
                  </a:lnTo>
                  <a:lnTo>
                    <a:pt x="2418350" y="909791"/>
                  </a:lnTo>
                  <a:lnTo>
                    <a:pt x="2368996" y="906637"/>
                  </a:lnTo>
                  <a:lnTo>
                    <a:pt x="2319642" y="903347"/>
                  </a:lnTo>
                  <a:lnTo>
                    <a:pt x="2270288" y="899936"/>
                  </a:lnTo>
                  <a:lnTo>
                    <a:pt x="2220934" y="896419"/>
                  </a:lnTo>
                  <a:lnTo>
                    <a:pt x="2171580" y="892811"/>
                  </a:lnTo>
                  <a:lnTo>
                    <a:pt x="2122226" y="889127"/>
                  </a:lnTo>
                  <a:lnTo>
                    <a:pt x="2072872" y="885383"/>
                  </a:lnTo>
                  <a:lnTo>
                    <a:pt x="2023518" y="881594"/>
                  </a:lnTo>
                  <a:lnTo>
                    <a:pt x="1974164" y="877774"/>
                  </a:lnTo>
                  <a:lnTo>
                    <a:pt x="1924810" y="873939"/>
                  </a:lnTo>
                  <a:lnTo>
                    <a:pt x="1875456" y="870104"/>
                  </a:lnTo>
                  <a:lnTo>
                    <a:pt x="1826102" y="866284"/>
                  </a:lnTo>
                  <a:lnTo>
                    <a:pt x="1776748" y="862495"/>
                  </a:lnTo>
                  <a:lnTo>
                    <a:pt x="1727394" y="858751"/>
                  </a:lnTo>
                  <a:lnTo>
                    <a:pt x="1678040" y="855067"/>
                  </a:lnTo>
                  <a:lnTo>
                    <a:pt x="1628686" y="851459"/>
                  </a:lnTo>
                  <a:lnTo>
                    <a:pt x="1579332" y="847942"/>
                  </a:lnTo>
                  <a:lnTo>
                    <a:pt x="1529977" y="844531"/>
                  </a:lnTo>
                  <a:lnTo>
                    <a:pt x="1480623" y="841241"/>
                  </a:lnTo>
                  <a:lnTo>
                    <a:pt x="1431269" y="838088"/>
                  </a:lnTo>
                  <a:lnTo>
                    <a:pt x="1381915" y="835085"/>
                  </a:lnTo>
                  <a:lnTo>
                    <a:pt x="1332561" y="832249"/>
                  </a:lnTo>
                  <a:lnTo>
                    <a:pt x="1283207" y="829595"/>
                  </a:lnTo>
                  <a:lnTo>
                    <a:pt x="1233853" y="827138"/>
                  </a:lnTo>
                  <a:lnTo>
                    <a:pt x="1184499" y="824893"/>
                  </a:lnTo>
                  <a:lnTo>
                    <a:pt x="1135145" y="822874"/>
                  </a:lnTo>
                  <a:lnTo>
                    <a:pt x="1085791" y="821098"/>
                  </a:lnTo>
                  <a:lnTo>
                    <a:pt x="1036436" y="819580"/>
                  </a:lnTo>
                  <a:lnTo>
                    <a:pt x="987082" y="818333"/>
                  </a:lnTo>
                  <a:lnTo>
                    <a:pt x="937728" y="817375"/>
                  </a:lnTo>
                  <a:lnTo>
                    <a:pt x="888374" y="816719"/>
                  </a:lnTo>
                  <a:lnTo>
                    <a:pt x="839020" y="816381"/>
                  </a:lnTo>
                  <a:lnTo>
                    <a:pt x="789666" y="816376"/>
                  </a:lnTo>
                  <a:lnTo>
                    <a:pt x="740312" y="816719"/>
                  </a:lnTo>
                  <a:lnTo>
                    <a:pt x="690958" y="817426"/>
                  </a:lnTo>
                  <a:lnTo>
                    <a:pt x="641603" y="818511"/>
                  </a:lnTo>
                  <a:lnTo>
                    <a:pt x="592249" y="819990"/>
                  </a:lnTo>
                  <a:lnTo>
                    <a:pt x="542895" y="821877"/>
                  </a:lnTo>
                  <a:lnTo>
                    <a:pt x="493541" y="824188"/>
                  </a:lnTo>
                  <a:lnTo>
                    <a:pt x="444187" y="826938"/>
                  </a:lnTo>
                  <a:lnTo>
                    <a:pt x="394833" y="830143"/>
                  </a:lnTo>
                  <a:lnTo>
                    <a:pt x="345479" y="833816"/>
                  </a:lnTo>
                  <a:lnTo>
                    <a:pt x="296124" y="837975"/>
                  </a:lnTo>
                  <a:lnTo>
                    <a:pt x="246770" y="842632"/>
                  </a:lnTo>
                  <a:lnTo>
                    <a:pt x="197416" y="847805"/>
                  </a:lnTo>
                  <a:lnTo>
                    <a:pt x="148062" y="853507"/>
                  </a:lnTo>
                  <a:lnTo>
                    <a:pt x="98708" y="859754"/>
                  </a:lnTo>
                  <a:lnTo>
                    <a:pt x="49354" y="866561"/>
                  </a:lnTo>
                  <a:lnTo>
                    <a:pt x="0" y="873944"/>
                  </a:lnTo>
                  <a:lnTo>
                    <a:pt x="256730" y="57562"/>
                  </a:lnTo>
                  <a:close/>
                </a:path>
              </a:pathLst>
            </a:custGeom>
            <a:ln w="9524">
              <a:solidFill>
                <a:srgbClr val="5F9C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5504" y="2109216"/>
              <a:ext cx="3244595" cy="43891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60126" y="2102634"/>
              <a:ext cx="3223082" cy="4185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93563" y="2476500"/>
              <a:ext cx="3499103" cy="10195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38484" y="2496032"/>
              <a:ext cx="3410381" cy="9297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938480" y="2496027"/>
              <a:ext cx="3410585" cy="930275"/>
            </a:xfrm>
            <a:custGeom>
              <a:avLst/>
              <a:gdLst/>
              <a:ahLst/>
              <a:cxnLst/>
              <a:rect l="l" t="t" r="r" b="b"/>
              <a:pathLst>
                <a:path w="3410584" h="930275">
                  <a:moveTo>
                    <a:pt x="186550" y="79591"/>
                  </a:moveTo>
                  <a:lnTo>
                    <a:pt x="234667" y="67792"/>
                  </a:lnTo>
                  <a:lnTo>
                    <a:pt x="282784" y="57065"/>
                  </a:lnTo>
                  <a:lnTo>
                    <a:pt x="330901" y="47378"/>
                  </a:lnTo>
                  <a:lnTo>
                    <a:pt x="379017" y="38698"/>
                  </a:lnTo>
                  <a:lnTo>
                    <a:pt x="427134" y="30991"/>
                  </a:lnTo>
                  <a:lnTo>
                    <a:pt x="475251" y="24225"/>
                  </a:lnTo>
                  <a:lnTo>
                    <a:pt x="523368" y="18367"/>
                  </a:lnTo>
                  <a:lnTo>
                    <a:pt x="571485" y="13383"/>
                  </a:lnTo>
                  <a:lnTo>
                    <a:pt x="619602" y="9241"/>
                  </a:lnTo>
                  <a:lnTo>
                    <a:pt x="667719" y="5907"/>
                  </a:lnTo>
                  <a:lnTo>
                    <a:pt x="715836" y="3350"/>
                  </a:lnTo>
                  <a:lnTo>
                    <a:pt x="763954" y="1534"/>
                  </a:lnTo>
                  <a:lnTo>
                    <a:pt x="812071" y="429"/>
                  </a:lnTo>
                  <a:lnTo>
                    <a:pt x="860188" y="0"/>
                  </a:lnTo>
                  <a:lnTo>
                    <a:pt x="908305" y="214"/>
                  </a:lnTo>
                  <a:lnTo>
                    <a:pt x="956422" y="1039"/>
                  </a:lnTo>
                  <a:lnTo>
                    <a:pt x="1004539" y="2442"/>
                  </a:lnTo>
                  <a:lnTo>
                    <a:pt x="1052656" y="4389"/>
                  </a:lnTo>
                  <a:lnTo>
                    <a:pt x="1100773" y="6848"/>
                  </a:lnTo>
                  <a:lnTo>
                    <a:pt x="1148890" y="9786"/>
                  </a:lnTo>
                  <a:lnTo>
                    <a:pt x="1197007" y="13169"/>
                  </a:lnTo>
                  <a:lnTo>
                    <a:pt x="1245125" y="16964"/>
                  </a:lnTo>
                  <a:lnTo>
                    <a:pt x="1293242" y="21139"/>
                  </a:lnTo>
                  <a:lnTo>
                    <a:pt x="1341359" y="25661"/>
                  </a:lnTo>
                  <a:lnTo>
                    <a:pt x="1389476" y="30496"/>
                  </a:lnTo>
                  <a:lnTo>
                    <a:pt x="1437593" y="35612"/>
                  </a:lnTo>
                  <a:lnTo>
                    <a:pt x="1485710" y="40975"/>
                  </a:lnTo>
                  <a:lnTo>
                    <a:pt x="1533827" y="46553"/>
                  </a:lnTo>
                  <a:lnTo>
                    <a:pt x="1581945" y="52313"/>
                  </a:lnTo>
                  <a:lnTo>
                    <a:pt x="1630062" y="58221"/>
                  </a:lnTo>
                  <a:lnTo>
                    <a:pt x="1678179" y="64244"/>
                  </a:lnTo>
                  <a:lnTo>
                    <a:pt x="1726296" y="70350"/>
                  </a:lnTo>
                  <a:lnTo>
                    <a:pt x="1774413" y="76505"/>
                  </a:lnTo>
                  <a:lnTo>
                    <a:pt x="1822530" y="82677"/>
                  </a:lnTo>
                  <a:lnTo>
                    <a:pt x="1870648" y="88833"/>
                  </a:lnTo>
                  <a:lnTo>
                    <a:pt x="1918765" y="94939"/>
                  </a:lnTo>
                  <a:lnTo>
                    <a:pt x="1966882" y="100962"/>
                  </a:lnTo>
                  <a:lnTo>
                    <a:pt x="2014999" y="106870"/>
                  </a:lnTo>
                  <a:lnTo>
                    <a:pt x="2063116" y="112630"/>
                  </a:lnTo>
                  <a:lnTo>
                    <a:pt x="2111233" y="118207"/>
                  </a:lnTo>
                  <a:lnTo>
                    <a:pt x="2159351" y="123571"/>
                  </a:lnTo>
                  <a:lnTo>
                    <a:pt x="2207468" y="128687"/>
                  </a:lnTo>
                  <a:lnTo>
                    <a:pt x="2255585" y="133522"/>
                  </a:lnTo>
                  <a:lnTo>
                    <a:pt x="2303702" y="138044"/>
                  </a:lnTo>
                  <a:lnTo>
                    <a:pt x="2351819" y="142219"/>
                  </a:lnTo>
                  <a:lnTo>
                    <a:pt x="2399936" y="146014"/>
                  </a:lnTo>
                  <a:lnTo>
                    <a:pt x="2448054" y="149397"/>
                  </a:lnTo>
                  <a:lnTo>
                    <a:pt x="2496171" y="152335"/>
                  </a:lnTo>
                  <a:lnTo>
                    <a:pt x="2544288" y="154794"/>
                  </a:lnTo>
                  <a:lnTo>
                    <a:pt x="2592405" y="156741"/>
                  </a:lnTo>
                  <a:lnTo>
                    <a:pt x="2640522" y="158144"/>
                  </a:lnTo>
                  <a:lnTo>
                    <a:pt x="2688639" y="158969"/>
                  </a:lnTo>
                  <a:lnTo>
                    <a:pt x="2736756" y="159183"/>
                  </a:lnTo>
                  <a:lnTo>
                    <a:pt x="2784873" y="158754"/>
                  </a:lnTo>
                  <a:lnTo>
                    <a:pt x="2832990" y="157649"/>
                  </a:lnTo>
                  <a:lnTo>
                    <a:pt x="2881107" y="155833"/>
                  </a:lnTo>
                  <a:lnTo>
                    <a:pt x="2929224" y="153275"/>
                  </a:lnTo>
                  <a:lnTo>
                    <a:pt x="2977341" y="149942"/>
                  </a:lnTo>
                  <a:lnTo>
                    <a:pt x="3025458" y="145800"/>
                  </a:lnTo>
                  <a:lnTo>
                    <a:pt x="3073575" y="140816"/>
                  </a:lnTo>
                  <a:lnTo>
                    <a:pt x="3121692" y="134958"/>
                  </a:lnTo>
                  <a:lnTo>
                    <a:pt x="3169809" y="128191"/>
                  </a:lnTo>
                  <a:lnTo>
                    <a:pt x="3217926" y="120485"/>
                  </a:lnTo>
                  <a:lnTo>
                    <a:pt x="3266043" y="111804"/>
                  </a:lnTo>
                  <a:lnTo>
                    <a:pt x="3314160" y="102117"/>
                  </a:lnTo>
                  <a:lnTo>
                    <a:pt x="3362277" y="91391"/>
                  </a:lnTo>
                  <a:lnTo>
                    <a:pt x="3410394" y="79591"/>
                  </a:lnTo>
                  <a:lnTo>
                    <a:pt x="3223844" y="850253"/>
                  </a:lnTo>
                  <a:lnTo>
                    <a:pt x="3175727" y="862052"/>
                  </a:lnTo>
                  <a:lnTo>
                    <a:pt x="3127610" y="872779"/>
                  </a:lnTo>
                  <a:lnTo>
                    <a:pt x="3079493" y="882466"/>
                  </a:lnTo>
                  <a:lnTo>
                    <a:pt x="3031376" y="891146"/>
                  </a:lnTo>
                  <a:lnTo>
                    <a:pt x="2983259" y="898853"/>
                  </a:lnTo>
                  <a:lnTo>
                    <a:pt x="2935142" y="905619"/>
                  </a:lnTo>
                  <a:lnTo>
                    <a:pt x="2887025" y="911477"/>
                  </a:lnTo>
                  <a:lnTo>
                    <a:pt x="2838908" y="916461"/>
                  </a:lnTo>
                  <a:lnTo>
                    <a:pt x="2790791" y="920603"/>
                  </a:lnTo>
                  <a:lnTo>
                    <a:pt x="2742674" y="923936"/>
                  </a:lnTo>
                  <a:lnTo>
                    <a:pt x="2694557" y="926494"/>
                  </a:lnTo>
                  <a:lnTo>
                    <a:pt x="2646440" y="928309"/>
                  </a:lnTo>
                  <a:lnTo>
                    <a:pt x="2598323" y="929414"/>
                  </a:lnTo>
                  <a:lnTo>
                    <a:pt x="2550206" y="929843"/>
                  </a:lnTo>
                  <a:lnTo>
                    <a:pt x="2502089" y="929629"/>
                  </a:lnTo>
                  <a:lnTo>
                    <a:pt x="2453972" y="928803"/>
                  </a:lnTo>
                  <a:lnTo>
                    <a:pt x="2405855" y="927401"/>
                  </a:lnTo>
                  <a:lnTo>
                    <a:pt x="2357737" y="925453"/>
                  </a:lnTo>
                  <a:lnTo>
                    <a:pt x="2309620" y="922994"/>
                  </a:lnTo>
                  <a:lnTo>
                    <a:pt x="2261503" y="920056"/>
                  </a:lnTo>
                  <a:lnTo>
                    <a:pt x="2213386" y="916673"/>
                  </a:lnTo>
                  <a:lnTo>
                    <a:pt x="2165269" y="912877"/>
                  </a:lnTo>
                  <a:lnTo>
                    <a:pt x="2117152" y="908702"/>
                  </a:lnTo>
                  <a:lnTo>
                    <a:pt x="2069035" y="904180"/>
                  </a:lnTo>
                  <a:lnTo>
                    <a:pt x="2020918" y="899345"/>
                  </a:lnTo>
                  <a:lnTo>
                    <a:pt x="1972800" y="894229"/>
                  </a:lnTo>
                  <a:lnTo>
                    <a:pt x="1924683" y="888865"/>
                  </a:lnTo>
                  <a:lnTo>
                    <a:pt x="1876566" y="883287"/>
                  </a:lnTo>
                  <a:lnTo>
                    <a:pt x="1828449" y="877528"/>
                  </a:lnTo>
                  <a:lnTo>
                    <a:pt x="1780332" y="871619"/>
                  </a:lnTo>
                  <a:lnTo>
                    <a:pt x="1732215" y="865596"/>
                  </a:lnTo>
                  <a:lnTo>
                    <a:pt x="1684097" y="859490"/>
                  </a:lnTo>
                  <a:lnTo>
                    <a:pt x="1635980" y="853334"/>
                  </a:lnTo>
                  <a:lnTo>
                    <a:pt x="1587863" y="847162"/>
                  </a:lnTo>
                  <a:lnTo>
                    <a:pt x="1539746" y="841006"/>
                  </a:lnTo>
                  <a:lnTo>
                    <a:pt x="1491629" y="834900"/>
                  </a:lnTo>
                  <a:lnTo>
                    <a:pt x="1443512" y="828877"/>
                  </a:lnTo>
                  <a:lnTo>
                    <a:pt x="1395394" y="822969"/>
                  </a:lnTo>
                  <a:lnTo>
                    <a:pt x="1347277" y="817209"/>
                  </a:lnTo>
                  <a:lnTo>
                    <a:pt x="1299160" y="811631"/>
                  </a:lnTo>
                  <a:lnTo>
                    <a:pt x="1251043" y="806268"/>
                  </a:lnTo>
                  <a:lnTo>
                    <a:pt x="1202926" y="801152"/>
                  </a:lnTo>
                  <a:lnTo>
                    <a:pt x="1154809" y="796317"/>
                  </a:lnTo>
                  <a:lnTo>
                    <a:pt x="1106691" y="791795"/>
                  </a:lnTo>
                  <a:lnTo>
                    <a:pt x="1058574" y="787620"/>
                  </a:lnTo>
                  <a:lnTo>
                    <a:pt x="1010457" y="783824"/>
                  </a:lnTo>
                  <a:lnTo>
                    <a:pt x="962340" y="780441"/>
                  </a:lnTo>
                  <a:lnTo>
                    <a:pt x="914223" y="777504"/>
                  </a:lnTo>
                  <a:lnTo>
                    <a:pt x="866106" y="775045"/>
                  </a:lnTo>
                  <a:lnTo>
                    <a:pt x="817989" y="773098"/>
                  </a:lnTo>
                  <a:lnTo>
                    <a:pt x="769872" y="771695"/>
                  </a:lnTo>
                  <a:lnTo>
                    <a:pt x="721754" y="770870"/>
                  </a:lnTo>
                  <a:lnTo>
                    <a:pt x="673637" y="770656"/>
                  </a:lnTo>
                  <a:lnTo>
                    <a:pt x="625520" y="771085"/>
                  </a:lnTo>
                  <a:lnTo>
                    <a:pt x="577403" y="772191"/>
                  </a:lnTo>
                  <a:lnTo>
                    <a:pt x="529286" y="774007"/>
                  </a:lnTo>
                  <a:lnTo>
                    <a:pt x="481169" y="776565"/>
                  </a:lnTo>
                  <a:lnTo>
                    <a:pt x="433052" y="779899"/>
                  </a:lnTo>
                  <a:lnTo>
                    <a:pt x="384935" y="784041"/>
                  </a:lnTo>
                  <a:lnTo>
                    <a:pt x="336818" y="789025"/>
                  </a:lnTo>
                  <a:lnTo>
                    <a:pt x="288701" y="794884"/>
                  </a:lnTo>
                  <a:lnTo>
                    <a:pt x="240584" y="801650"/>
                  </a:lnTo>
                  <a:lnTo>
                    <a:pt x="192467" y="809357"/>
                  </a:lnTo>
                  <a:lnTo>
                    <a:pt x="144350" y="818038"/>
                  </a:lnTo>
                  <a:lnTo>
                    <a:pt x="96233" y="827726"/>
                  </a:lnTo>
                  <a:lnTo>
                    <a:pt x="48116" y="838453"/>
                  </a:lnTo>
                  <a:lnTo>
                    <a:pt x="0" y="850253"/>
                  </a:lnTo>
                  <a:lnTo>
                    <a:pt x="186550" y="79591"/>
                  </a:lnTo>
                  <a:close/>
                </a:path>
              </a:pathLst>
            </a:custGeom>
            <a:ln w="9525">
              <a:solidFill>
                <a:srgbClr val="5F9C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80304" y="2772156"/>
              <a:ext cx="2363723" cy="4069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74177" y="2766734"/>
              <a:ext cx="2342134" cy="38479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175003" y="3640835"/>
            <a:ext cx="7218045" cy="2005964"/>
            <a:chOff x="1175003" y="3640835"/>
            <a:chExt cx="7218045" cy="2005964"/>
          </a:xfrm>
        </p:grpSpPr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75003" y="3640835"/>
              <a:ext cx="3849623" cy="10210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9199" y="3659860"/>
              <a:ext cx="3761435" cy="93157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19206" y="3659870"/>
              <a:ext cx="3761740" cy="932180"/>
            </a:xfrm>
            <a:custGeom>
              <a:avLst/>
              <a:gdLst/>
              <a:ahLst/>
              <a:cxnLst/>
              <a:rect l="l" t="t" r="r" b="b"/>
              <a:pathLst>
                <a:path w="3761740" h="932179">
                  <a:moveTo>
                    <a:pt x="208978" y="57593"/>
                  </a:moveTo>
                  <a:lnTo>
                    <a:pt x="258317" y="49622"/>
                  </a:lnTo>
                  <a:lnTo>
                    <a:pt x="307657" y="42325"/>
                  </a:lnTo>
                  <a:lnTo>
                    <a:pt x="356997" y="35682"/>
                  </a:lnTo>
                  <a:lnTo>
                    <a:pt x="406336" y="29674"/>
                  </a:lnTo>
                  <a:lnTo>
                    <a:pt x="455675" y="24282"/>
                  </a:lnTo>
                  <a:lnTo>
                    <a:pt x="505015" y="19486"/>
                  </a:lnTo>
                  <a:lnTo>
                    <a:pt x="554354" y="15268"/>
                  </a:lnTo>
                  <a:lnTo>
                    <a:pt x="603694" y="11608"/>
                  </a:lnTo>
                  <a:lnTo>
                    <a:pt x="653033" y="8487"/>
                  </a:lnTo>
                  <a:lnTo>
                    <a:pt x="702373" y="5886"/>
                  </a:lnTo>
                  <a:lnTo>
                    <a:pt x="751712" y="3785"/>
                  </a:lnTo>
                  <a:lnTo>
                    <a:pt x="801052" y="2165"/>
                  </a:lnTo>
                  <a:lnTo>
                    <a:pt x="850391" y="1007"/>
                  </a:lnTo>
                  <a:lnTo>
                    <a:pt x="899731" y="291"/>
                  </a:lnTo>
                  <a:lnTo>
                    <a:pt x="949070" y="0"/>
                  </a:lnTo>
                  <a:lnTo>
                    <a:pt x="998410" y="112"/>
                  </a:lnTo>
                  <a:lnTo>
                    <a:pt x="1047749" y="609"/>
                  </a:lnTo>
                  <a:lnTo>
                    <a:pt x="1097089" y="1472"/>
                  </a:lnTo>
                  <a:lnTo>
                    <a:pt x="1146428" y="2681"/>
                  </a:lnTo>
                  <a:lnTo>
                    <a:pt x="1195768" y="4218"/>
                  </a:lnTo>
                  <a:lnTo>
                    <a:pt x="1245108" y="6062"/>
                  </a:lnTo>
                  <a:lnTo>
                    <a:pt x="1294447" y="8195"/>
                  </a:lnTo>
                  <a:lnTo>
                    <a:pt x="1343787" y="10598"/>
                  </a:lnTo>
                  <a:lnTo>
                    <a:pt x="1393126" y="13250"/>
                  </a:lnTo>
                  <a:lnTo>
                    <a:pt x="1442466" y="16134"/>
                  </a:lnTo>
                  <a:lnTo>
                    <a:pt x="1491805" y="19229"/>
                  </a:lnTo>
                  <a:lnTo>
                    <a:pt x="1541145" y="22517"/>
                  </a:lnTo>
                  <a:lnTo>
                    <a:pt x="1590484" y="25978"/>
                  </a:lnTo>
                  <a:lnTo>
                    <a:pt x="1639824" y="29593"/>
                  </a:lnTo>
                  <a:lnTo>
                    <a:pt x="1689163" y="33343"/>
                  </a:lnTo>
                  <a:lnTo>
                    <a:pt x="1738503" y="37208"/>
                  </a:lnTo>
                  <a:lnTo>
                    <a:pt x="1787842" y="41170"/>
                  </a:lnTo>
                  <a:lnTo>
                    <a:pt x="1837182" y="45208"/>
                  </a:lnTo>
                  <a:lnTo>
                    <a:pt x="1886521" y="49305"/>
                  </a:lnTo>
                  <a:lnTo>
                    <a:pt x="1935861" y="53439"/>
                  </a:lnTo>
                  <a:lnTo>
                    <a:pt x="1985200" y="57593"/>
                  </a:lnTo>
                  <a:lnTo>
                    <a:pt x="2034539" y="61747"/>
                  </a:lnTo>
                  <a:lnTo>
                    <a:pt x="2083879" y="65882"/>
                  </a:lnTo>
                  <a:lnTo>
                    <a:pt x="2133218" y="69978"/>
                  </a:lnTo>
                  <a:lnTo>
                    <a:pt x="2182558" y="74016"/>
                  </a:lnTo>
                  <a:lnTo>
                    <a:pt x="2231897" y="77978"/>
                  </a:lnTo>
                  <a:lnTo>
                    <a:pt x="2281237" y="81843"/>
                  </a:lnTo>
                  <a:lnTo>
                    <a:pt x="2330576" y="85593"/>
                  </a:lnTo>
                  <a:lnTo>
                    <a:pt x="2379916" y="89208"/>
                  </a:lnTo>
                  <a:lnTo>
                    <a:pt x="2429255" y="92669"/>
                  </a:lnTo>
                  <a:lnTo>
                    <a:pt x="2478595" y="95957"/>
                  </a:lnTo>
                  <a:lnTo>
                    <a:pt x="2527934" y="99052"/>
                  </a:lnTo>
                  <a:lnTo>
                    <a:pt x="2577274" y="101936"/>
                  </a:lnTo>
                  <a:lnTo>
                    <a:pt x="2626613" y="104589"/>
                  </a:lnTo>
                  <a:lnTo>
                    <a:pt x="2675953" y="106991"/>
                  </a:lnTo>
                  <a:lnTo>
                    <a:pt x="2725292" y="109124"/>
                  </a:lnTo>
                  <a:lnTo>
                    <a:pt x="2774632" y="110969"/>
                  </a:lnTo>
                  <a:lnTo>
                    <a:pt x="2823971" y="112505"/>
                  </a:lnTo>
                  <a:lnTo>
                    <a:pt x="2873311" y="113714"/>
                  </a:lnTo>
                  <a:lnTo>
                    <a:pt x="2922650" y="114577"/>
                  </a:lnTo>
                  <a:lnTo>
                    <a:pt x="2971990" y="115074"/>
                  </a:lnTo>
                  <a:lnTo>
                    <a:pt x="3021329" y="115187"/>
                  </a:lnTo>
                  <a:lnTo>
                    <a:pt x="3070669" y="114895"/>
                  </a:lnTo>
                  <a:lnTo>
                    <a:pt x="3120008" y="114180"/>
                  </a:lnTo>
                  <a:lnTo>
                    <a:pt x="3169348" y="113022"/>
                  </a:lnTo>
                  <a:lnTo>
                    <a:pt x="3218687" y="111402"/>
                  </a:lnTo>
                  <a:lnTo>
                    <a:pt x="3268027" y="109301"/>
                  </a:lnTo>
                  <a:lnTo>
                    <a:pt x="3317366" y="106699"/>
                  </a:lnTo>
                  <a:lnTo>
                    <a:pt x="3366706" y="103578"/>
                  </a:lnTo>
                  <a:lnTo>
                    <a:pt x="3416045" y="99918"/>
                  </a:lnTo>
                  <a:lnTo>
                    <a:pt x="3465385" y="95700"/>
                  </a:lnTo>
                  <a:lnTo>
                    <a:pt x="3514724" y="90905"/>
                  </a:lnTo>
                  <a:lnTo>
                    <a:pt x="3564064" y="85513"/>
                  </a:lnTo>
                  <a:lnTo>
                    <a:pt x="3613403" y="79505"/>
                  </a:lnTo>
                  <a:lnTo>
                    <a:pt x="3662743" y="72862"/>
                  </a:lnTo>
                  <a:lnTo>
                    <a:pt x="3712082" y="65564"/>
                  </a:lnTo>
                  <a:lnTo>
                    <a:pt x="3761422" y="57593"/>
                  </a:lnTo>
                  <a:lnTo>
                    <a:pt x="3552443" y="873975"/>
                  </a:lnTo>
                  <a:lnTo>
                    <a:pt x="3503104" y="881946"/>
                  </a:lnTo>
                  <a:lnTo>
                    <a:pt x="3453764" y="889243"/>
                  </a:lnTo>
                  <a:lnTo>
                    <a:pt x="3404425" y="895886"/>
                  </a:lnTo>
                  <a:lnTo>
                    <a:pt x="3355085" y="901894"/>
                  </a:lnTo>
                  <a:lnTo>
                    <a:pt x="3305746" y="907286"/>
                  </a:lnTo>
                  <a:lnTo>
                    <a:pt x="3256406" y="912081"/>
                  </a:lnTo>
                  <a:lnTo>
                    <a:pt x="3207067" y="916299"/>
                  </a:lnTo>
                  <a:lnTo>
                    <a:pt x="3157727" y="919959"/>
                  </a:lnTo>
                  <a:lnTo>
                    <a:pt x="3108387" y="923080"/>
                  </a:lnTo>
                  <a:lnTo>
                    <a:pt x="3059048" y="925681"/>
                  </a:lnTo>
                  <a:lnTo>
                    <a:pt x="3009708" y="927782"/>
                  </a:lnTo>
                  <a:lnTo>
                    <a:pt x="2960369" y="929402"/>
                  </a:lnTo>
                  <a:lnTo>
                    <a:pt x="2911029" y="930560"/>
                  </a:lnTo>
                  <a:lnTo>
                    <a:pt x="2861689" y="931275"/>
                  </a:lnTo>
                  <a:lnTo>
                    <a:pt x="2812350" y="931567"/>
                  </a:lnTo>
                  <a:lnTo>
                    <a:pt x="2763010" y="931454"/>
                  </a:lnTo>
                  <a:lnTo>
                    <a:pt x="2713670" y="930957"/>
                  </a:lnTo>
                  <a:lnTo>
                    <a:pt x="2664331" y="930094"/>
                  </a:lnTo>
                  <a:lnTo>
                    <a:pt x="2614991" y="928885"/>
                  </a:lnTo>
                  <a:lnTo>
                    <a:pt x="2565651" y="927348"/>
                  </a:lnTo>
                  <a:lnTo>
                    <a:pt x="2516312" y="925503"/>
                  </a:lnTo>
                  <a:lnTo>
                    <a:pt x="2466972" y="923370"/>
                  </a:lnTo>
                  <a:lnTo>
                    <a:pt x="2417632" y="920967"/>
                  </a:lnTo>
                  <a:lnTo>
                    <a:pt x="2368293" y="918314"/>
                  </a:lnTo>
                  <a:lnTo>
                    <a:pt x="2318953" y="915431"/>
                  </a:lnTo>
                  <a:lnTo>
                    <a:pt x="2269613" y="912335"/>
                  </a:lnTo>
                  <a:lnTo>
                    <a:pt x="2220274" y="909047"/>
                  </a:lnTo>
                  <a:lnTo>
                    <a:pt x="2170934" y="905586"/>
                  </a:lnTo>
                  <a:lnTo>
                    <a:pt x="2121594" y="901971"/>
                  </a:lnTo>
                  <a:lnTo>
                    <a:pt x="2072255" y="898221"/>
                  </a:lnTo>
                  <a:lnTo>
                    <a:pt x="2022915" y="894355"/>
                  </a:lnTo>
                  <a:lnTo>
                    <a:pt x="1973575" y="890394"/>
                  </a:lnTo>
                  <a:lnTo>
                    <a:pt x="1924236" y="886355"/>
                  </a:lnTo>
                  <a:lnTo>
                    <a:pt x="1874896" y="882259"/>
                  </a:lnTo>
                  <a:lnTo>
                    <a:pt x="1825556" y="878124"/>
                  </a:lnTo>
                  <a:lnTo>
                    <a:pt x="1776217" y="873970"/>
                  </a:lnTo>
                  <a:lnTo>
                    <a:pt x="1726877" y="869816"/>
                  </a:lnTo>
                  <a:lnTo>
                    <a:pt x="1677537" y="865681"/>
                  </a:lnTo>
                  <a:lnTo>
                    <a:pt x="1628198" y="861585"/>
                  </a:lnTo>
                  <a:lnTo>
                    <a:pt x="1578858" y="857546"/>
                  </a:lnTo>
                  <a:lnTo>
                    <a:pt x="1529519" y="853584"/>
                  </a:lnTo>
                  <a:lnTo>
                    <a:pt x="1480179" y="849719"/>
                  </a:lnTo>
                  <a:lnTo>
                    <a:pt x="1430840" y="845969"/>
                  </a:lnTo>
                  <a:lnTo>
                    <a:pt x="1381500" y="842354"/>
                  </a:lnTo>
                  <a:lnTo>
                    <a:pt x="1332160" y="838893"/>
                  </a:lnTo>
                  <a:lnTo>
                    <a:pt x="1282821" y="835605"/>
                  </a:lnTo>
                  <a:lnTo>
                    <a:pt x="1233481" y="832510"/>
                  </a:lnTo>
                  <a:lnTo>
                    <a:pt x="1184142" y="829626"/>
                  </a:lnTo>
                  <a:lnTo>
                    <a:pt x="1134802" y="826973"/>
                  </a:lnTo>
                  <a:lnTo>
                    <a:pt x="1085463" y="824571"/>
                  </a:lnTo>
                  <a:lnTo>
                    <a:pt x="1036123" y="822438"/>
                  </a:lnTo>
                  <a:lnTo>
                    <a:pt x="986784" y="820593"/>
                  </a:lnTo>
                  <a:lnTo>
                    <a:pt x="937445" y="819057"/>
                  </a:lnTo>
                  <a:lnTo>
                    <a:pt x="888105" y="817848"/>
                  </a:lnTo>
                  <a:lnTo>
                    <a:pt x="838766" y="816985"/>
                  </a:lnTo>
                  <a:lnTo>
                    <a:pt x="789426" y="816488"/>
                  </a:lnTo>
                  <a:lnTo>
                    <a:pt x="740087" y="816376"/>
                  </a:lnTo>
                  <a:lnTo>
                    <a:pt x="690748" y="816668"/>
                  </a:lnTo>
                  <a:lnTo>
                    <a:pt x="641408" y="817383"/>
                  </a:lnTo>
                  <a:lnTo>
                    <a:pt x="592069" y="818542"/>
                  </a:lnTo>
                  <a:lnTo>
                    <a:pt x="542730" y="820162"/>
                  </a:lnTo>
                  <a:lnTo>
                    <a:pt x="493391" y="822263"/>
                  </a:lnTo>
                  <a:lnTo>
                    <a:pt x="444051" y="824865"/>
                  </a:lnTo>
                  <a:lnTo>
                    <a:pt x="394712" y="827986"/>
                  </a:lnTo>
                  <a:lnTo>
                    <a:pt x="345373" y="831646"/>
                  </a:lnTo>
                  <a:lnTo>
                    <a:pt x="296034" y="835865"/>
                  </a:lnTo>
                  <a:lnTo>
                    <a:pt x="246695" y="840661"/>
                  </a:lnTo>
                  <a:lnTo>
                    <a:pt x="197356" y="846053"/>
                  </a:lnTo>
                  <a:lnTo>
                    <a:pt x="148017" y="852062"/>
                  </a:lnTo>
                  <a:lnTo>
                    <a:pt x="98677" y="858705"/>
                  </a:lnTo>
                  <a:lnTo>
                    <a:pt x="49338" y="866003"/>
                  </a:lnTo>
                  <a:lnTo>
                    <a:pt x="0" y="873975"/>
                  </a:lnTo>
                  <a:lnTo>
                    <a:pt x="208978" y="57593"/>
                  </a:lnTo>
                  <a:close/>
                </a:path>
              </a:pathLst>
            </a:custGeom>
            <a:ln w="9525">
              <a:solidFill>
                <a:srgbClr val="5F9C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44623" y="3945635"/>
              <a:ext cx="1295399" cy="43129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943248" y="3943550"/>
              <a:ext cx="1264920" cy="401955"/>
            </a:xfrm>
            <a:custGeom>
              <a:avLst/>
              <a:gdLst/>
              <a:ahLst/>
              <a:cxnLst/>
              <a:rect l="l" t="t" r="r" b="b"/>
              <a:pathLst>
                <a:path w="1264920" h="401954">
                  <a:moveTo>
                    <a:pt x="934186" y="63423"/>
                  </a:moveTo>
                  <a:lnTo>
                    <a:pt x="835761" y="63423"/>
                  </a:lnTo>
                  <a:lnTo>
                    <a:pt x="835761" y="401815"/>
                  </a:lnTo>
                  <a:lnTo>
                    <a:pt x="932675" y="401815"/>
                  </a:lnTo>
                  <a:lnTo>
                    <a:pt x="932675" y="335889"/>
                  </a:lnTo>
                  <a:lnTo>
                    <a:pt x="1038359" y="335889"/>
                  </a:lnTo>
                  <a:lnTo>
                    <a:pt x="1038732" y="335263"/>
                  </a:lnTo>
                  <a:lnTo>
                    <a:pt x="1041895" y="326821"/>
                  </a:lnTo>
                  <a:lnTo>
                    <a:pt x="1044071" y="316563"/>
                  </a:lnTo>
                  <a:lnTo>
                    <a:pt x="1045305" y="306235"/>
                  </a:lnTo>
                  <a:lnTo>
                    <a:pt x="938199" y="306235"/>
                  </a:lnTo>
                  <a:lnTo>
                    <a:pt x="935748" y="304685"/>
                  </a:lnTo>
                  <a:lnTo>
                    <a:pt x="934516" y="301586"/>
                  </a:lnTo>
                  <a:lnTo>
                    <a:pt x="933709" y="297955"/>
                  </a:lnTo>
                  <a:lnTo>
                    <a:pt x="933134" y="291725"/>
                  </a:lnTo>
                  <a:lnTo>
                    <a:pt x="932979" y="287759"/>
                  </a:lnTo>
                  <a:lnTo>
                    <a:pt x="932896" y="285622"/>
                  </a:lnTo>
                  <a:lnTo>
                    <a:pt x="932809" y="140058"/>
                  </a:lnTo>
                  <a:lnTo>
                    <a:pt x="938009" y="117970"/>
                  </a:lnTo>
                  <a:lnTo>
                    <a:pt x="1045883" y="117970"/>
                  </a:lnTo>
                  <a:lnTo>
                    <a:pt x="1044623" y="106442"/>
                  </a:lnTo>
                  <a:lnTo>
                    <a:pt x="1042873" y="97472"/>
                  </a:lnTo>
                  <a:lnTo>
                    <a:pt x="1040115" y="89919"/>
                  </a:lnTo>
                  <a:lnTo>
                    <a:pt x="1039448" y="88811"/>
                  </a:lnTo>
                  <a:lnTo>
                    <a:pt x="932675" y="88811"/>
                  </a:lnTo>
                  <a:lnTo>
                    <a:pt x="934021" y="66192"/>
                  </a:lnTo>
                  <a:lnTo>
                    <a:pt x="934105" y="64794"/>
                  </a:lnTo>
                  <a:lnTo>
                    <a:pt x="934186" y="63423"/>
                  </a:lnTo>
                  <a:close/>
                </a:path>
                <a:path w="1264920" h="401954">
                  <a:moveTo>
                    <a:pt x="1038359" y="335889"/>
                  </a:moveTo>
                  <a:lnTo>
                    <a:pt x="932675" y="335889"/>
                  </a:lnTo>
                  <a:lnTo>
                    <a:pt x="935328" y="342568"/>
                  </a:lnTo>
                  <a:lnTo>
                    <a:pt x="975000" y="365610"/>
                  </a:lnTo>
                  <a:lnTo>
                    <a:pt x="983589" y="366115"/>
                  </a:lnTo>
                  <a:lnTo>
                    <a:pt x="994162" y="365441"/>
                  </a:lnTo>
                  <a:lnTo>
                    <a:pt x="1034232" y="342831"/>
                  </a:lnTo>
                  <a:lnTo>
                    <a:pt x="1038359" y="335889"/>
                  </a:lnTo>
                  <a:close/>
                </a:path>
                <a:path w="1264920" h="401954">
                  <a:moveTo>
                    <a:pt x="1045883" y="117970"/>
                  </a:moveTo>
                  <a:lnTo>
                    <a:pt x="945413" y="117970"/>
                  </a:lnTo>
                  <a:lnTo>
                    <a:pt x="947750" y="119265"/>
                  </a:lnTo>
                  <a:lnTo>
                    <a:pt x="948639" y="121843"/>
                  </a:lnTo>
                  <a:lnTo>
                    <a:pt x="949222" y="125156"/>
                  </a:lnTo>
                  <a:lnTo>
                    <a:pt x="949639" y="131227"/>
                  </a:lnTo>
                  <a:lnTo>
                    <a:pt x="949889" y="140058"/>
                  </a:lnTo>
                  <a:lnTo>
                    <a:pt x="949807" y="287759"/>
                  </a:lnTo>
                  <a:lnTo>
                    <a:pt x="949669" y="291725"/>
                  </a:lnTo>
                  <a:lnTo>
                    <a:pt x="949612" y="293376"/>
                  </a:lnTo>
                  <a:lnTo>
                    <a:pt x="949237" y="297955"/>
                  </a:lnTo>
                  <a:lnTo>
                    <a:pt x="949163" y="298862"/>
                  </a:lnTo>
                  <a:lnTo>
                    <a:pt x="948633" y="301586"/>
                  </a:lnTo>
                  <a:lnTo>
                    <a:pt x="948537" y="302082"/>
                  </a:lnTo>
                  <a:lnTo>
                    <a:pt x="947641" y="304685"/>
                  </a:lnTo>
                  <a:lnTo>
                    <a:pt x="947585" y="304850"/>
                  </a:lnTo>
                  <a:lnTo>
                    <a:pt x="945362" y="306235"/>
                  </a:lnTo>
                  <a:lnTo>
                    <a:pt x="1045305" y="306235"/>
                  </a:lnTo>
                  <a:lnTo>
                    <a:pt x="1045627" y="303542"/>
                  </a:lnTo>
                  <a:lnTo>
                    <a:pt x="1046561" y="287759"/>
                  </a:lnTo>
                  <a:lnTo>
                    <a:pt x="1046873" y="269214"/>
                  </a:lnTo>
                  <a:lnTo>
                    <a:pt x="1046756" y="140058"/>
                  </a:lnTo>
                  <a:lnTo>
                    <a:pt x="1046634" y="132184"/>
                  </a:lnTo>
                  <a:lnTo>
                    <a:pt x="1046608" y="131227"/>
                  </a:lnTo>
                  <a:lnTo>
                    <a:pt x="1045968" y="119519"/>
                  </a:lnTo>
                  <a:lnTo>
                    <a:pt x="1045883" y="117970"/>
                  </a:lnTo>
                  <a:close/>
                </a:path>
                <a:path w="1264920" h="401954">
                  <a:moveTo>
                    <a:pt x="984681" y="58102"/>
                  </a:moveTo>
                  <a:lnTo>
                    <a:pt x="945019" y="70648"/>
                  </a:lnTo>
                  <a:lnTo>
                    <a:pt x="932675" y="88811"/>
                  </a:lnTo>
                  <a:lnTo>
                    <a:pt x="1039448" y="88811"/>
                  </a:lnTo>
                  <a:lnTo>
                    <a:pt x="1005176" y="61075"/>
                  </a:lnTo>
                  <a:lnTo>
                    <a:pt x="984681" y="58102"/>
                  </a:lnTo>
                  <a:close/>
                </a:path>
                <a:path w="1264920" h="401954">
                  <a:moveTo>
                    <a:pt x="1141806" y="63423"/>
                  </a:moveTo>
                  <a:lnTo>
                    <a:pt x="1053579" y="63423"/>
                  </a:lnTo>
                  <a:lnTo>
                    <a:pt x="1101712" y="309981"/>
                  </a:lnTo>
                  <a:lnTo>
                    <a:pt x="1104060" y="321708"/>
                  </a:lnTo>
                  <a:lnTo>
                    <a:pt x="1105735" y="330504"/>
                  </a:lnTo>
                  <a:lnTo>
                    <a:pt x="1106737" y="336367"/>
                  </a:lnTo>
                  <a:lnTo>
                    <a:pt x="1107071" y="339293"/>
                  </a:lnTo>
                  <a:lnTo>
                    <a:pt x="1107071" y="341985"/>
                  </a:lnTo>
                  <a:lnTo>
                    <a:pt x="1105738" y="343801"/>
                  </a:lnTo>
                  <a:lnTo>
                    <a:pt x="1103045" y="344741"/>
                  </a:lnTo>
                  <a:lnTo>
                    <a:pt x="1099275" y="345452"/>
                  </a:lnTo>
                  <a:lnTo>
                    <a:pt x="1098535" y="345452"/>
                  </a:lnTo>
                  <a:lnTo>
                    <a:pt x="1093989" y="345798"/>
                  </a:lnTo>
                  <a:lnTo>
                    <a:pt x="1082916" y="346151"/>
                  </a:lnTo>
                  <a:lnTo>
                    <a:pt x="1074864" y="346151"/>
                  </a:lnTo>
                  <a:lnTo>
                    <a:pt x="1074864" y="401154"/>
                  </a:lnTo>
                  <a:lnTo>
                    <a:pt x="1132573" y="401154"/>
                  </a:lnTo>
                  <a:lnTo>
                    <a:pt x="1150020" y="400786"/>
                  </a:lnTo>
                  <a:lnTo>
                    <a:pt x="1195923" y="391909"/>
                  </a:lnTo>
                  <a:lnTo>
                    <a:pt x="1223881" y="362604"/>
                  </a:lnTo>
                  <a:lnTo>
                    <a:pt x="1229417" y="345798"/>
                  </a:lnTo>
                  <a:lnTo>
                    <a:pt x="1229512" y="345452"/>
                  </a:lnTo>
                  <a:lnTo>
                    <a:pt x="1236782" y="300022"/>
                  </a:lnTo>
                  <a:lnTo>
                    <a:pt x="1241892" y="258178"/>
                  </a:lnTo>
                  <a:lnTo>
                    <a:pt x="1165085" y="258178"/>
                  </a:lnTo>
                  <a:lnTo>
                    <a:pt x="1141806" y="63423"/>
                  </a:lnTo>
                  <a:close/>
                </a:path>
                <a:path w="1264920" h="401954">
                  <a:moveTo>
                    <a:pt x="1264856" y="63423"/>
                  </a:moveTo>
                  <a:lnTo>
                    <a:pt x="1176337" y="63423"/>
                  </a:lnTo>
                  <a:lnTo>
                    <a:pt x="1165085" y="258178"/>
                  </a:lnTo>
                  <a:lnTo>
                    <a:pt x="1241892" y="258178"/>
                  </a:lnTo>
                  <a:lnTo>
                    <a:pt x="1264856" y="63423"/>
                  </a:lnTo>
                  <a:close/>
                </a:path>
                <a:path w="1264920" h="401954">
                  <a:moveTo>
                    <a:pt x="340029" y="63423"/>
                  </a:moveTo>
                  <a:lnTo>
                    <a:pt x="243116" y="63423"/>
                  </a:lnTo>
                  <a:lnTo>
                    <a:pt x="243215" y="279822"/>
                  </a:lnTo>
                  <a:lnTo>
                    <a:pt x="245800" y="319640"/>
                  </a:lnTo>
                  <a:lnTo>
                    <a:pt x="267146" y="354532"/>
                  </a:lnTo>
                  <a:lnTo>
                    <a:pt x="308787" y="366115"/>
                  </a:lnTo>
                  <a:lnTo>
                    <a:pt x="317450" y="365646"/>
                  </a:lnTo>
                  <a:lnTo>
                    <a:pt x="317722" y="365646"/>
                  </a:lnTo>
                  <a:lnTo>
                    <a:pt x="325874" y="364237"/>
                  </a:lnTo>
                  <a:lnTo>
                    <a:pt x="326092" y="364237"/>
                  </a:lnTo>
                  <a:lnTo>
                    <a:pt x="334362" y="361695"/>
                  </a:lnTo>
                  <a:lnTo>
                    <a:pt x="357543" y="336918"/>
                  </a:lnTo>
                  <a:lnTo>
                    <a:pt x="454456" y="336918"/>
                  </a:lnTo>
                  <a:lnTo>
                    <a:pt x="454456" y="306235"/>
                  </a:lnTo>
                  <a:lnTo>
                    <a:pt x="344741" y="306235"/>
                  </a:lnTo>
                  <a:lnTo>
                    <a:pt x="342366" y="304799"/>
                  </a:lnTo>
                  <a:lnTo>
                    <a:pt x="341426" y="301929"/>
                  </a:lnTo>
                  <a:lnTo>
                    <a:pt x="340817" y="297972"/>
                  </a:lnTo>
                  <a:lnTo>
                    <a:pt x="340380" y="290385"/>
                  </a:lnTo>
                  <a:lnTo>
                    <a:pt x="340133" y="279822"/>
                  </a:lnTo>
                  <a:lnTo>
                    <a:pt x="340029" y="63423"/>
                  </a:lnTo>
                  <a:close/>
                </a:path>
                <a:path w="1264920" h="401954">
                  <a:moveTo>
                    <a:pt x="454456" y="336918"/>
                  </a:moveTo>
                  <a:lnTo>
                    <a:pt x="357543" y="336918"/>
                  </a:lnTo>
                  <a:lnTo>
                    <a:pt x="356031" y="360794"/>
                  </a:lnTo>
                  <a:lnTo>
                    <a:pt x="454456" y="360794"/>
                  </a:lnTo>
                  <a:lnTo>
                    <a:pt x="454456" y="336918"/>
                  </a:lnTo>
                  <a:close/>
                </a:path>
                <a:path w="1264920" h="401954">
                  <a:moveTo>
                    <a:pt x="454456" y="63423"/>
                  </a:moveTo>
                  <a:lnTo>
                    <a:pt x="357543" y="63423"/>
                  </a:lnTo>
                  <a:lnTo>
                    <a:pt x="357416" y="279822"/>
                  </a:lnTo>
                  <a:lnTo>
                    <a:pt x="357217" y="289399"/>
                  </a:lnTo>
                  <a:lnTo>
                    <a:pt x="356809" y="297373"/>
                  </a:lnTo>
                  <a:lnTo>
                    <a:pt x="356234" y="301586"/>
                  </a:lnTo>
                  <a:lnTo>
                    <a:pt x="355326" y="304799"/>
                  </a:lnTo>
                  <a:lnTo>
                    <a:pt x="355170" y="304799"/>
                  </a:lnTo>
                  <a:lnTo>
                    <a:pt x="352805" y="306235"/>
                  </a:lnTo>
                  <a:lnTo>
                    <a:pt x="454456" y="306235"/>
                  </a:lnTo>
                  <a:lnTo>
                    <a:pt x="454456" y="63423"/>
                  </a:lnTo>
                  <a:close/>
                </a:path>
                <a:path w="1264920" h="401954">
                  <a:moveTo>
                    <a:pt x="579513" y="63423"/>
                  </a:moveTo>
                  <a:lnTo>
                    <a:pt x="483717" y="63423"/>
                  </a:lnTo>
                  <a:lnTo>
                    <a:pt x="483717" y="360794"/>
                  </a:lnTo>
                  <a:lnTo>
                    <a:pt x="577964" y="360794"/>
                  </a:lnTo>
                  <a:lnTo>
                    <a:pt x="578051" y="138696"/>
                  </a:lnTo>
                  <a:lnTo>
                    <a:pt x="578162" y="133038"/>
                  </a:lnTo>
                  <a:lnTo>
                    <a:pt x="585812" y="117970"/>
                  </a:lnTo>
                  <a:lnTo>
                    <a:pt x="804560" y="117970"/>
                  </a:lnTo>
                  <a:lnTo>
                    <a:pt x="803437" y="108250"/>
                  </a:lnTo>
                  <a:lnTo>
                    <a:pt x="801496" y="98615"/>
                  </a:lnTo>
                  <a:lnTo>
                    <a:pt x="798658" y="90754"/>
                  </a:lnTo>
                  <a:lnTo>
                    <a:pt x="577964" y="90754"/>
                  </a:lnTo>
                  <a:lnTo>
                    <a:pt x="579320" y="66827"/>
                  </a:lnTo>
                  <a:lnTo>
                    <a:pt x="579439" y="64735"/>
                  </a:lnTo>
                  <a:lnTo>
                    <a:pt x="579513" y="63423"/>
                  </a:lnTo>
                  <a:close/>
                </a:path>
                <a:path w="1264920" h="401954">
                  <a:moveTo>
                    <a:pt x="697979" y="117970"/>
                  </a:moveTo>
                  <a:lnTo>
                    <a:pt x="592264" y="117970"/>
                  </a:lnTo>
                  <a:lnTo>
                    <a:pt x="593451" y="119024"/>
                  </a:lnTo>
                  <a:lnTo>
                    <a:pt x="594791" y="120294"/>
                  </a:lnTo>
                  <a:lnTo>
                    <a:pt x="595845" y="124650"/>
                  </a:lnTo>
                  <a:lnTo>
                    <a:pt x="596467" y="129438"/>
                  </a:lnTo>
                  <a:lnTo>
                    <a:pt x="596566" y="130257"/>
                  </a:lnTo>
                  <a:lnTo>
                    <a:pt x="597003" y="138696"/>
                  </a:lnTo>
                  <a:lnTo>
                    <a:pt x="597074" y="140063"/>
                  </a:lnTo>
                  <a:lnTo>
                    <a:pt x="597316" y="151269"/>
                  </a:lnTo>
                  <a:lnTo>
                    <a:pt x="597381" y="154316"/>
                  </a:lnTo>
                  <a:lnTo>
                    <a:pt x="597484" y="360794"/>
                  </a:lnTo>
                  <a:lnTo>
                    <a:pt x="691730" y="360794"/>
                  </a:lnTo>
                  <a:lnTo>
                    <a:pt x="691843" y="154316"/>
                  </a:lnTo>
                  <a:lnTo>
                    <a:pt x="691879" y="151269"/>
                  </a:lnTo>
                  <a:lnTo>
                    <a:pt x="696736" y="119024"/>
                  </a:lnTo>
                  <a:lnTo>
                    <a:pt x="697979" y="117970"/>
                  </a:lnTo>
                  <a:close/>
                </a:path>
                <a:path w="1264920" h="401954">
                  <a:moveTo>
                    <a:pt x="804560" y="117970"/>
                  </a:moveTo>
                  <a:lnTo>
                    <a:pt x="705777" y="117970"/>
                  </a:lnTo>
                  <a:lnTo>
                    <a:pt x="708367" y="120294"/>
                  </a:lnTo>
                  <a:lnTo>
                    <a:pt x="709605" y="124650"/>
                  </a:lnTo>
                  <a:lnTo>
                    <a:pt x="711682" y="360794"/>
                  </a:lnTo>
                  <a:lnTo>
                    <a:pt x="805929" y="360794"/>
                  </a:lnTo>
                  <a:lnTo>
                    <a:pt x="805929" y="151269"/>
                  </a:lnTo>
                  <a:lnTo>
                    <a:pt x="805743" y="140063"/>
                  </a:lnTo>
                  <a:lnTo>
                    <a:pt x="805652" y="134577"/>
                  </a:lnTo>
                  <a:lnTo>
                    <a:pt x="804826" y="120294"/>
                  </a:lnTo>
                  <a:lnTo>
                    <a:pt x="804682" y="119024"/>
                  </a:lnTo>
                  <a:lnTo>
                    <a:pt x="804560" y="117970"/>
                  </a:lnTo>
                  <a:close/>
                </a:path>
                <a:path w="1264920" h="401954">
                  <a:moveTo>
                    <a:pt x="629869" y="58102"/>
                  </a:moveTo>
                  <a:lnTo>
                    <a:pt x="588712" y="71594"/>
                  </a:lnTo>
                  <a:lnTo>
                    <a:pt x="577964" y="90754"/>
                  </a:lnTo>
                  <a:lnTo>
                    <a:pt x="685584" y="90754"/>
                  </a:lnTo>
                  <a:lnTo>
                    <a:pt x="675394" y="76469"/>
                  </a:lnTo>
                  <a:lnTo>
                    <a:pt x="662712" y="66265"/>
                  </a:lnTo>
                  <a:lnTo>
                    <a:pt x="647538" y="60143"/>
                  </a:lnTo>
                  <a:lnTo>
                    <a:pt x="629869" y="58102"/>
                  </a:lnTo>
                  <a:close/>
                </a:path>
                <a:path w="1264920" h="401954">
                  <a:moveTo>
                    <a:pt x="741235" y="58102"/>
                  </a:moveTo>
                  <a:lnTo>
                    <a:pt x="701193" y="71594"/>
                  </a:lnTo>
                  <a:lnTo>
                    <a:pt x="685584" y="90754"/>
                  </a:lnTo>
                  <a:lnTo>
                    <a:pt x="798658" y="90754"/>
                  </a:lnTo>
                  <a:lnTo>
                    <a:pt x="763181" y="61048"/>
                  </a:lnTo>
                  <a:lnTo>
                    <a:pt x="741235" y="58102"/>
                  </a:lnTo>
                  <a:close/>
                </a:path>
                <a:path w="1264920" h="401954">
                  <a:moveTo>
                    <a:pt x="84518" y="0"/>
                  </a:moveTo>
                  <a:lnTo>
                    <a:pt x="0" y="0"/>
                  </a:lnTo>
                  <a:lnTo>
                    <a:pt x="0" y="360794"/>
                  </a:lnTo>
                  <a:lnTo>
                    <a:pt x="85597" y="360794"/>
                  </a:lnTo>
                  <a:lnTo>
                    <a:pt x="85597" y="200799"/>
                  </a:lnTo>
                  <a:lnTo>
                    <a:pt x="213550" y="200799"/>
                  </a:lnTo>
                  <a:lnTo>
                    <a:pt x="213550" y="158457"/>
                  </a:lnTo>
                  <a:lnTo>
                    <a:pt x="127952" y="158457"/>
                  </a:lnTo>
                  <a:lnTo>
                    <a:pt x="84518" y="0"/>
                  </a:lnTo>
                  <a:close/>
                </a:path>
                <a:path w="1264920" h="401954">
                  <a:moveTo>
                    <a:pt x="213550" y="200799"/>
                  </a:moveTo>
                  <a:lnTo>
                    <a:pt x="85597" y="200799"/>
                  </a:lnTo>
                  <a:lnTo>
                    <a:pt x="125247" y="360794"/>
                  </a:lnTo>
                  <a:lnTo>
                    <a:pt x="213550" y="360794"/>
                  </a:lnTo>
                  <a:lnTo>
                    <a:pt x="213550" y="200799"/>
                  </a:lnTo>
                  <a:close/>
                </a:path>
                <a:path w="1264920" h="401954">
                  <a:moveTo>
                    <a:pt x="213550" y="0"/>
                  </a:moveTo>
                  <a:lnTo>
                    <a:pt x="127952" y="0"/>
                  </a:lnTo>
                  <a:lnTo>
                    <a:pt x="127952" y="158457"/>
                  </a:lnTo>
                  <a:lnTo>
                    <a:pt x="213550" y="158457"/>
                  </a:lnTo>
                  <a:lnTo>
                    <a:pt x="21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43248" y="3943550"/>
              <a:ext cx="1264920" cy="401955"/>
            </a:xfrm>
            <a:custGeom>
              <a:avLst/>
              <a:gdLst/>
              <a:ahLst/>
              <a:cxnLst/>
              <a:rect l="l" t="t" r="r" b="b"/>
              <a:pathLst>
                <a:path w="1264920" h="401954">
                  <a:moveTo>
                    <a:pt x="941641" y="117970"/>
                  </a:moveTo>
                  <a:lnTo>
                    <a:pt x="938009" y="117970"/>
                  </a:lnTo>
                  <a:lnTo>
                    <a:pt x="935608" y="119519"/>
                  </a:lnTo>
                  <a:lnTo>
                    <a:pt x="932675" y="151650"/>
                  </a:lnTo>
                  <a:lnTo>
                    <a:pt x="932675" y="271462"/>
                  </a:lnTo>
                  <a:lnTo>
                    <a:pt x="938199" y="306235"/>
                  </a:lnTo>
                  <a:lnTo>
                    <a:pt x="941857" y="306235"/>
                  </a:lnTo>
                  <a:lnTo>
                    <a:pt x="945362" y="306235"/>
                  </a:lnTo>
                  <a:lnTo>
                    <a:pt x="949972" y="275602"/>
                  </a:lnTo>
                  <a:lnTo>
                    <a:pt x="949972" y="151650"/>
                  </a:lnTo>
                  <a:lnTo>
                    <a:pt x="945413" y="117970"/>
                  </a:lnTo>
                  <a:lnTo>
                    <a:pt x="941641" y="117970"/>
                  </a:lnTo>
                  <a:close/>
                </a:path>
                <a:path w="1264920" h="401954">
                  <a:moveTo>
                    <a:pt x="1053579" y="63423"/>
                  </a:moveTo>
                  <a:lnTo>
                    <a:pt x="1141806" y="63423"/>
                  </a:lnTo>
                  <a:lnTo>
                    <a:pt x="1165085" y="258178"/>
                  </a:lnTo>
                  <a:lnTo>
                    <a:pt x="1176337" y="63423"/>
                  </a:lnTo>
                  <a:lnTo>
                    <a:pt x="1264856" y="63423"/>
                  </a:lnTo>
                  <a:lnTo>
                    <a:pt x="1239659" y="277113"/>
                  </a:lnTo>
                  <a:lnTo>
                    <a:pt x="1234133" y="319046"/>
                  </a:lnTo>
                  <a:lnTo>
                    <a:pt x="1223881" y="362604"/>
                  </a:lnTo>
                  <a:lnTo>
                    <a:pt x="1195923" y="391909"/>
                  </a:lnTo>
                  <a:lnTo>
                    <a:pt x="1150020" y="400786"/>
                  </a:lnTo>
                  <a:lnTo>
                    <a:pt x="1132573" y="401154"/>
                  </a:lnTo>
                  <a:lnTo>
                    <a:pt x="1074864" y="401154"/>
                  </a:lnTo>
                  <a:lnTo>
                    <a:pt x="1074864" y="346151"/>
                  </a:lnTo>
                  <a:lnTo>
                    <a:pt x="1085684" y="346063"/>
                  </a:lnTo>
                  <a:lnTo>
                    <a:pt x="1093989" y="345798"/>
                  </a:lnTo>
                  <a:lnTo>
                    <a:pt x="1099776" y="345358"/>
                  </a:lnTo>
                  <a:lnTo>
                    <a:pt x="1103045" y="344741"/>
                  </a:lnTo>
                  <a:lnTo>
                    <a:pt x="1105738" y="343801"/>
                  </a:lnTo>
                  <a:lnTo>
                    <a:pt x="1107071" y="341985"/>
                  </a:lnTo>
                  <a:lnTo>
                    <a:pt x="1107071" y="339293"/>
                  </a:lnTo>
                  <a:lnTo>
                    <a:pt x="1106737" y="336367"/>
                  </a:lnTo>
                  <a:lnTo>
                    <a:pt x="1105735" y="330504"/>
                  </a:lnTo>
                  <a:lnTo>
                    <a:pt x="1104060" y="321708"/>
                  </a:lnTo>
                  <a:lnTo>
                    <a:pt x="1101712" y="309981"/>
                  </a:lnTo>
                  <a:lnTo>
                    <a:pt x="1053579" y="63423"/>
                  </a:lnTo>
                  <a:close/>
                </a:path>
                <a:path w="1264920" h="401954">
                  <a:moveTo>
                    <a:pt x="243116" y="63423"/>
                  </a:moveTo>
                  <a:lnTo>
                    <a:pt x="340029" y="63423"/>
                  </a:lnTo>
                  <a:lnTo>
                    <a:pt x="340029" y="264325"/>
                  </a:lnTo>
                  <a:lnTo>
                    <a:pt x="340117" y="279169"/>
                  </a:lnTo>
                  <a:lnTo>
                    <a:pt x="344741" y="306235"/>
                  </a:lnTo>
                  <a:lnTo>
                    <a:pt x="348564" y="306235"/>
                  </a:lnTo>
                  <a:lnTo>
                    <a:pt x="352805" y="306235"/>
                  </a:lnTo>
                  <a:lnTo>
                    <a:pt x="357543" y="262153"/>
                  </a:lnTo>
                  <a:lnTo>
                    <a:pt x="357543" y="63423"/>
                  </a:lnTo>
                  <a:lnTo>
                    <a:pt x="454456" y="63423"/>
                  </a:lnTo>
                  <a:lnTo>
                    <a:pt x="454456" y="360794"/>
                  </a:lnTo>
                  <a:lnTo>
                    <a:pt x="356031" y="360794"/>
                  </a:lnTo>
                  <a:lnTo>
                    <a:pt x="357543" y="336918"/>
                  </a:lnTo>
                  <a:lnTo>
                    <a:pt x="356052" y="343309"/>
                  </a:lnTo>
                  <a:lnTo>
                    <a:pt x="317846" y="365624"/>
                  </a:lnTo>
                  <a:lnTo>
                    <a:pt x="308787" y="366115"/>
                  </a:lnTo>
                  <a:lnTo>
                    <a:pt x="298722" y="365646"/>
                  </a:lnTo>
                  <a:lnTo>
                    <a:pt x="261492" y="349846"/>
                  </a:lnTo>
                  <a:lnTo>
                    <a:pt x="244690" y="313194"/>
                  </a:lnTo>
                  <a:lnTo>
                    <a:pt x="243116" y="262508"/>
                  </a:lnTo>
                  <a:lnTo>
                    <a:pt x="243116" y="63423"/>
                  </a:lnTo>
                  <a:close/>
                </a:path>
                <a:path w="1264920" h="401954">
                  <a:moveTo>
                    <a:pt x="984681" y="58102"/>
                  </a:moveTo>
                  <a:lnTo>
                    <a:pt x="1022756" y="70002"/>
                  </a:lnTo>
                  <a:lnTo>
                    <a:pt x="1044623" y="106442"/>
                  </a:lnTo>
                  <a:lnTo>
                    <a:pt x="1046873" y="147599"/>
                  </a:lnTo>
                  <a:lnTo>
                    <a:pt x="1046873" y="269214"/>
                  </a:lnTo>
                  <a:lnTo>
                    <a:pt x="1044071" y="316563"/>
                  </a:lnTo>
                  <a:lnTo>
                    <a:pt x="1021206" y="355345"/>
                  </a:lnTo>
                  <a:lnTo>
                    <a:pt x="983589" y="366115"/>
                  </a:lnTo>
                  <a:lnTo>
                    <a:pt x="975000" y="365610"/>
                  </a:lnTo>
                  <a:lnTo>
                    <a:pt x="939323" y="348489"/>
                  </a:lnTo>
                  <a:lnTo>
                    <a:pt x="932675" y="335889"/>
                  </a:lnTo>
                  <a:lnTo>
                    <a:pt x="932675" y="401815"/>
                  </a:lnTo>
                  <a:lnTo>
                    <a:pt x="835761" y="401815"/>
                  </a:lnTo>
                  <a:lnTo>
                    <a:pt x="835761" y="63423"/>
                  </a:lnTo>
                  <a:lnTo>
                    <a:pt x="934186" y="63423"/>
                  </a:lnTo>
                  <a:lnTo>
                    <a:pt x="932675" y="88811"/>
                  </a:lnTo>
                  <a:lnTo>
                    <a:pt x="935437" y="81955"/>
                  </a:lnTo>
                  <a:lnTo>
                    <a:pt x="967555" y="60123"/>
                  </a:lnTo>
                  <a:lnTo>
                    <a:pt x="975942" y="58607"/>
                  </a:lnTo>
                  <a:lnTo>
                    <a:pt x="984681" y="58102"/>
                  </a:lnTo>
                  <a:close/>
                </a:path>
                <a:path w="1264920" h="401954">
                  <a:moveTo>
                    <a:pt x="629869" y="58102"/>
                  </a:moveTo>
                  <a:lnTo>
                    <a:pt x="647538" y="60143"/>
                  </a:lnTo>
                  <a:lnTo>
                    <a:pt x="662712" y="66265"/>
                  </a:lnTo>
                  <a:lnTo>
                    <a:pt x="675394" y="76469"/>
                  </a:lnTo>
                  <a:lnTo>
                    <a:pt x="685584" y="90754"/>
                  </a:lnTo>
                  <a:lnTo>
                    <a:pt x="689927" y="83527"/>
                  </a:lnTo>
                  <a:lnTo>
                    <a:pt x="723888" y="60274"/>
                  </a:lnTo>
                  <a:lnTo>
                    <a:pt x="741235" y="58102"/>
                  </a:lnTo>
                  <a:lnTo>
                    <a:pt x="752708" y="58838"/>
                  </a:lnTo>
                  <a:lnTo>
                    <a:pt x="788372" y="76123"/>
                  </a:lnTo>
                  <a:lnTo>
                    <a:pt x="804822" y="120237"/>
                  </a:lnTo>
                  <a:lnTo>
                    <a:pt x="805929" y="151269"/>
                  </a:lnTo>
                  <a:lnTo>
                    <a:pt x="805929" y="360794"/>
                  </a:lnTo>
                  <a:lnTo>
                    <a:pt x="711682" y="360794"/>
                  </a:lnTo>
                  <a:lnTo>
                    <a:pt x="711682" y="168147"/>
                  </a:lnTo>
                  <a:lnTo>
                    <a:pt x="711558" y="151860"/>
                  </a:lnTo>
                  <a:lnTo>
                    <a:pt x="705777" y="117970"/>
                  </a:lnTo>
                  <a:lnTo>
                    <a:pt x="701928" y="117970"/>
                  </a:lnTo>
                  <a:lnTo>
                    <a:pt x="697979" y="117970"/>
                  </a:lnTo>
                  <a:lnTo>
                    <a:pt x="691730" y="168147"/>
                  </a:lnTo>
                  <a:lnTo>
                    <a:pt x="691730" y="360794"/>
                  </a:lnTo>
                  <a:lnTo>
                    <a:pt x="597484" y="360794"/>
                  </a:lnTo>
                  <a:lnTo>
                    <a:pt x="597484" y="172935"/>
                  </a:lnTo>
                  <a:lnTo>
                    <a:pt x="597381" y="154316"/>
                  </a:lnTo>
                  <a:lnTo>
                    <a:pt x="592264" y="117970"/>
                  </a:lnTo>
                  <a:lnTo>
                    <a:pt x="588378" y="117970"/>
                  </a:lnTo>
                  <a:lnTo>
                    <a:pt x="585812" y="117970"/>
                  </a:lnTo>
                  <a:lnTo>
                    <a:pt x="577964" y="156184"/>
                  </a:lnTo>
                  <a:lnTo>
                    <a:pt x="577964" y="360794"/>
                  </a:lnTo>
                  <a:lnTo>
                    <a:pt x="483717" y="360794"/>
                  </a:lnTo>
                  <a:lnTo>
                    <a:pt x="483717" y="63423"/>
                  </a:lnTo>
                  <a:lnTo>
                    <a:pt x="579513" y="63423"/>
                  </a:lnTo>
                  <a:lnTo>
                    <a:pt x="577964" y="90754"/>
                  </a:lnTo>
                  <a:lnTo>
                    <a:pt x="579957" y="83558"/>
                  </a:lnTo>
                  <a:lnTo>
                    <a:pt x="611635" y="60283"/>
                  </a:lnTo>
                  <a:lnTo>
                    <a:pt x="620491" y="58647"/>
                  </a:lnTo>
                  <a:lnTo>
                    <a:pt x="629869" y="58102"/>
                  </a:lnTo>
                  <a:close/>
                </a:path>
                <a:path w="1264920" h="401954">
                  <a:moveTo>
                    <a:pt x="0" y="0"/>
                  </a:moveTo>
                  <a:lnTo>
                    <a:pt x="84518" y="0"/>
                  </a:lnTo>
                  <a:lnTo>
                    <a:pt x="127952" y="158457"/>
                  </a:lnTo>
                  <a:lnTo>
                    <a:pt x="127952" y="0"/>
                  </a:lnTo>
                  <a:lnTo>
                    <a:pt x="213550" y="0"/>
                  </a:lnTo>
                  <a:lnTo>
                    <a:pt x="213550" y="360794"/>
                  </a:lnTo>
                  <a:lnTo>
                    <a:pt x="125247" y="360794"/>
                  </a:lnTo>
                  <a:lnTo>
                    <a:pt x="85597" y="200799"/>
                  </a:lnTo>
                  <a:lnTo>
                    <a:pt x="85597" y="360794"/>
                  </a:lnTo>
                  <a:lnTo>
                    <a:pt x="0" y="36079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79647" y="3945635"/>
              <a:ext cx="1031747" cy="43129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278769" y="3943541"/>
              <a:ext cx="1000760" cy="401320"/>
            </a:xfrm>
            <a:custGeom>
              <a:avLst/>
              <a:gdLst/>
              <a:ahLst/>
              <a:cxnLst/>
              <a:rect l="l" t="t" r="r" b="b"/>
              <a:pathLst>
                <a:path w="1000760" h="401320">
                  <a:moveTo>
                    <a:pt x="678802" y="58102"/>
                  </a:moveTo>
                  <a:lnTo>
                    <a:pt x="629130" y="66348"/>
                  </a:lnTo>
                  <a:lnTo>
                    <a:pt x="595631" y="88553"/>
                  </a:lnTo>
                  <a:lnTo>
                    <a:pt x="577284" y="129628"/>
                  </a:lnTo>
                  <a:lnTo>
                    <a:pt x="575246" y="160261"/>
                  </a:lnTo>
                  <a:lnTo>
                    <a:pt x="575246" y="184061"/>
                  </a:lnTo>
                  <a:lnTo>
                    <a:pt x="660095" y="184061"/>
                  </a:lnTo>
                  <a:lnTo>
                    <a:pt x="651979" y="187515"/>
                  </a:lnTo>
                  <a:lnTo>
                    <a:pt x="645845" y="189992"/>
                  </a:lnTo>
                  <a:lnTo>
                    <a:pt x="638886" y="192722"/>
                  </a:lnTo>
                  <a:lnTo>
                    <a:pt x="620033" y="200552"/>
                  </a:lnTo>
                  <a:lnTo>
                    <a:pt x="586308" y="221526"/>
                  </a:lnTo>
                  <a:lnTo>
                    <a:pt x="575340" y="266224"/>
                  </a:lnTo>
                  <a:lnTo>
                    <a:pt x="575276" y="292568"/>
                  </a:lnTo>
                  <a:lnTo>
                    <a:pt x="576541" y="313152"/>
                  </a:lnTo>
                  <a:lnTo>
                    <a:pt x="595972" y="352183"/>
                  </a:lnTo>
                  <a:lnTo>
                    <a:pt x="641223" y="366115"/>
                  </a:lnTo>
                  <a:lnTo>
                    <a:pt x="650395" y="365591"/>
                  </a:lnTo>
                  <a:lnTo>
                    <a:pt x="684388" y="347906"/>
                  </a:lnTo>
                  <a:lnTo>
                    <a:pt x="687895" y="335203"/>
                  </a:lnTo>
                  <a:lnTo>
                    <a:pt x="782358" y="335203"/>
                  </a:lnTo>
                  <a:lnTo>
                    <a:pt x="782358" y="306247"/>
                  </a:lnTo>
                  <a:lnTo>
                    <a:pt x="672934" y="306247"/>
                  </a:lnTo>
                  <a:lnTo>
                    <a:pt x="670356" y="304673"/>
                  </a:lnTo>
                  <a:lnTo>
                    <a:pt x="666826" y="275183"/>
                  </a:lnTo>
                  <a:lnTo>
                    <a:pt x="666969" y="268376"/>
                  </a:lnTo>
                  <a:lnTo>
                    <a:pt x="667014" y="266224"/>
                  </a:lnTo>
                  <a:lnTo>
                    <a:pt x="679751" y="230213"/>
                  </a:lnTo>
                  <a:lnTo>
                    <a:pt x="685457" y="223634"/>
                  </a:lnTo>
                  <a:lnTo>
                    <a:pt x="782358" y="223634"/>
                  </a:lnTo>
                  <a:lnTo>
                    <a:pt x="782257" y="200552"/>
                  </a:lnTo>
                  <a:lnTo>
                    <a:pt x="782138" y="187515"/>
                  </a:lnTo>
                  <a:lnTo>
                    <a:pt x="782080" y="181102"/>
                  </a:lnTo>
                  <a:lnTo>
                    <a:pt x="666826" y="181102"/>
                  </a:lnTo>
                  <a:lnTo>
                    <a:pt x="666916" y="138753"/>
                  </a:lnTo>
                  <a:lnTo>
                    <a:pt x="671614" y="117983"/>
                  </a:lnTo>
                  <a:lnTo>
                    <a:pt x="777874" y="117983"/>
                  </a:lnTo>
                  <a:lnTo>
                    <a:pt x="777557" y="115709"/>
                  </a:lnTo>
                  <a:lnTo>
                    <a:pt x="748766" y="74828"/>
                  </a:lnTo>
                  <a:lnTo>
                    <a:pt x="700421" y="59147"/>
                  </a:lnTo>
                  <a:lnTo>
                    <a:pt x="678802" y="58102"/>
                  </a:lnTo>
                  <a:close/>
                </a:path>
                <a:path w="1000760" h="401320">
                  <a:moveTo>
                    <a:pt x="782358" y="335203"/>
                  </a:moveTo>
                  <a:lnTo>
                    <a:pt x="687895" y="335203"/>
                  </a:lnTo>
                  <a:lnTo>
                    <a:pt x="687895" y="360794"/>
                  </a:lnTo>
                  <a:lnTo>
                    <a:pt x="782358" y="360794"/>
                  </a:lnTo>
                  <a:lnTo>
                    <a:pt x="782358" y="335203"/>
                  </a:lnTo>
                  <a:close/>
                </a:path>
                <a:path w="1000760" h="401320">
                  <a:moveTo>
                    <a:pt x="782358" y="223634"/>
                  </a:moveTo>
                  <a:lnTo>
                    <a:pt x="685457" y="223634"/>
                  </a:lnTo>
                  <a:lnTo>
                    <a:pt x="685452" y="292568"/>
                  </a:lnTo>
                  <a:lnTo>
                    <a:pt x="684898" y="300558"/>
                  </a:lnTo>
                  <a:lnTo>
                    <a:pt x="682688" y="305104"/>
                  </a:lnTo>
                  <a:lnTo>
                    <a:pt x="680326" y="306247"/>
                  </a:lnTo>
                  <a:lnTo>
                    <a:pt x="782358" y="306247"/>
                  </a:lnTo>
                  <a:lnTo>
                    <a:pt x="782358" y="223634"/>
                  </a:lnTo>
                  <a:close/>
                </a:path>
                <a:path w="1000760" h="401320">
                  <a:moveTo>
                    <a:pt x="777874" y="117983"/>
                  </a:moveTo>
                  <a:lnTo>
                    <a:pt x="678688" y="117983"/>
                  </a:lnTo>
                  <a:lnTo>
                    <a:pt x="681202" y="119722"/>
                  </a:lnTo>
                  <a:lnTo>
                    <a:pt x="682904" y="123215"/>
                  </a:lnTo>
                  <a:lnTo>
                    <a:pt x="684021" y="126851"/>
                  </a:lnTo>
                  <a:lnTo>
                    <a:pt x="684818" y="132524"/>
                  </a:lnTo>
                  <a:lnTo>
                    <a:pt x="685205" y="138753"/>
                  </a:lnTo>
                  <a:lnTo>
                    <a:pt x="685297" y="140235"/>
                  </a:lnTo>
                  <a:lnTo>
                    <a:pt x="685359" y="143992"/>
                  </a:lnTo>
                  <a:lnTo>
                    <a:pt x="685457" y="161340"/>
                  </a:lnTo>
                  <a:lnTo>
                    <a:pt x="684657" y="168579"/>
                  </a:lnTo>
                  <a:lnTo>
                    <a:pt x="682231" y="173240"/>
                  </a:lnTo>
                  <a:lnTo>
                    <a:pt x="678154" y="175768"/>
                  </a:lnTo>
                  <a:lnTo>
                    <a:pt x="670788" y="179273"/>
                  </a:lnTo>
                  <a:lnTo>
                    <a:pt x="666826" y="181102"/>
                  </a:lnTo>
                  <a:lnTo>
                    <a:pt x="782080" y="181102"/>
                  </a:lnTo>
                  <a:lnTo>
                    <a:pt x="781961" y="175768"/>
                  </a:lnTo>
                  <a:lnTo>
                    <a:pt x="781157" y="151741"/>
                  </a:lnTo>
                  <a:lnTo>
                    <a:pt x="779784" y="132524"/>
                  </a:lnTo>
                  <a:lnTo>
                    <a:pt x="779657" y="130756"/>
                  </a:lnTo>
                  <a:lnTo>
                    <a:pt x="777874" y="117983"/>
                  </a:lnTo>
                  <a:close/>
                </a:path>
                <a:path w="1000760" h="401320">
                  <a:moveTo>
                    <a:pt x="187350" y="0"/>
                  </a:moveTo>
                  <a:lnTo>
                    <a:pt x="47129" y="0"/>
                  </a:lnTo>
                  <a:lnTo>
                    <a:pt x="0" y="360794"/>
                  </a:lnTo>
                  <a:lnTo>
                    <a:pt x="103314" y="360794"/>
                  </a:lnTo>
                  <a:lnTo>
                    <a:pt x="108597" y="297599"/>
                  </a:lnTo>
                  <a:lnTo>
                    <a:pt x="231096" y="297599"/>
                  </a:lnTo>
                  <a:lnTo>
                    <a:pt x="220632" y="226415"/>
                  </a:lnTo>
                  <a:lnTo>
                    <a:pt x="108165" y="226415"/>
                  </a:lnTo>
                  <a:lnTo>
                    <a:pt x="110263" y="202143"/>
                  </a:lnTo>
                  <a:lnTo>
                    <a:pt x="112918" y="170873"/>
                  </a:lnTo>
                  <a:lnTo>
                    <a:pt x="116131" y="132605"/>
                  </a:lnTo>
                  <a:lnTo>
                    <a:pt x="119900" y="87337"/>
                  </a:lnTo>
                  <a:lnTo>
                    <a:pt x="200188" y="87337"/>
                  </a:lnTo>
                  <a:lnTo>
                    <a:pt x="187350" y="0"/>
                  </a:lnTo>
                  <a:close/>
                </a:path>
                <a:path w="1000760" h="401320">
                  <a:moveTo>
                    <a:pt x="231096" y="297599"/>
                  </a:moveTo>
                  <a:lnTo>
                    <a:pt x="133184" y="297599"/>
                  </a:lnTo>
                  <a:lnTo>
                    <a:pt x="138087" y="360794"/>
                  </a:lnTo>
                  <a:lnTo>
                    <a:pt x="240385" y="360794"/>
                  </a:lnTo>
                  <a:lnTo>
                    <a:pt x="231096" y="297599"/>
                  </a:lnTo>
                  <a:close/>
                </a:path>
                <a:path w="1000760" h="401320">
                  <a:moveTo>
                    <a:pt x="200188" y="87337"/>
                  </a:moveTo>
                  <a:lnTo>
                    <a:pt x="119900" y="87337"/>
                  </a:lnTo>
                  <a:lnTo>
                    <a:pt x="121958" y="127685"/>
                  </a:lnTo>
                  <a:lnTo>
                    <a:pt x="124377" y="164315"/>
                  </a:lnTo>
                  <a:lnTo>
                    <a:pt x="127158" y="197226"/>
                  </a:lnTo>
                  <a:lnTo>
                    <a:pt x="130302" y="226415"/>
                  </a:lnTo>
                  <a:lnTo>
                    <a:pt x="220632" y="226415"/>
                  </a:lnTo>
                  <a:lnTo>
                    <a:pt x="200188" y="87337"/>
                  </a:lnTo>
                  <a:close/>
                </a:path>
                <a:path w="1000760" h="401320">
                  <a:moveTo>
                    <a:pt x="877658" y="63423"/>
                  </a:moveTo>
                  <a:lnTo>
                    <a:pt x="789432" y="63423"/>
                  </a:lnTo>
                  <a:lnTo>
                    <a:pt x="837565" y="309994"/>
                  </a:lnTo>
                  <a:lnTo>
                    <a:pt x="839913" y="321719"/>
                  </a:lnTo>
                  <a:lnTo>
                    <a:pt x="841587" y="330512"/>
                  </a:lnTo>
                  <a:lnTo>
                    <a:pt x="842590" y="336374"/>
                  </a:lnTo>
                  <a:lnTo>
                    <a:pt x="842924" y="339305"/>
                  </a:lnTo>
                  <a:lnTo>
                    <a:pt x="842924" y="341985"/>
                  </a:lnTo>
                  <a:lnTo>
                    <a:pt x="841590" y="343801"/>
                  </a:lnTo>
                  <a:lnTo>
                    <a:pt x="838898" y="344754"/>
                  </a:lnTo>
                  <a:lnTo>
                    <a:pt x="835128" y="345465"/>
                  </a:lnTo>
                  <a:lnTo>
                    <a:pt x="834388" y="345465"/>
                  </a:lnTo>
                  <a:lnTo>
                    <a:pt x="829841" y="345811"/>
                  </a:lnTo>
                  <a:lnTo>
                    <a:pt x="818769" y="346163"/>
                  </a:lnTo>
                  <a:lnTo>
                    <a:pt x="810717" y="346163"/>
                  </a:lnTo>
                  <a:lnTo>
                    <a:pt x="810717" y="401154"/>
                  </a:lnTo>
                  <a:lnTo>
                    <a:pt x="868426" y="401154"/>
                  </a:lnTo>
                  <a:lnTo>
                    <a:pt x="885873" y="400787"/>
                  </a:lnTo>
                  <a:lnTo>
                    <a:pt x="931776" y="391917"/>
                  </a:lnTo>
                  <a:lnTo>
                    <a:pt x="959734" y="362611"/>
                  </a:lnTo>
                  <a:lnTo>
                    <a:pt x="965174" y="346163"/>
                  </a:lnTo>
                  <a:lnTo>
                    <a:pt x="965270" y="345811"/>
                  </a:lnTo>
                  <a:lnTo>
                    <a:pt x="972635" y="300029"/>
                  </a:lnTo>
                  <a:lnTo>
                    <a:pt x="977746" y="258178"/>
                  </a:lnTo>
                  <a:lnTo>
                    <a:pt x="900938" y="258178"/>
                  </a:lnTo>
                  <a:lnTo>
                    <a:pt x="877658" y="63423"/>
                  </a:lnTo>
                  <a:close/>
                </a:path>
                <a:path w="1000760" h="401320">
                  <a:moveTo>
                    <a:pt x="1000709" y="63423"/>
                  </a:moveTo>
                  <a:lnTo>
                    <a:pt x="912190" y="63423"/>
                  </a:lnTo>
                  <a:lnTo>
                    <a:pt x="900938" y="258178"/>
                  </a:lnTo>
                  <a:lnTo>
                    <a:pt x="977746" y="258178"/>
                  </a:lnTo>
                  <a:lnTo>
                    <a:pt x="1000709" y="63423"/>
                  </a:lnTo>
                  <a:close/>
                </a:path>
                <a:path w="1000760" h="401320">
                  <a:moveTo>
                    <a:pt x="511327" y="63423"/>
                  </a:moveTo>
                  <a:lnTo>
                    <a:pt x="414642" y="63423"/>
                  </a:lnTo>
                  <a:lnTo>
                    <a:pt x="414642" y="360794"/>
                  </a:lnTo>
                  <a:lnTo>
                    <a:pt x="511556" y="360794"/>
                  </a:lnTo>
                  <a:lnTo>
                    <a:pt x="511556" y="242404"/>
                  </a:lnTo>
                  <a:lnTo>
                    <a:pt x="511701" y="223530"/>
                  </a:lnTo>
                  <a:lnTo>
                    <a:pt x="515416" y="183476"/>
                  </a:lnTo>
                  <a:lnTo>
                    <a:pt x="550836" y="168899"/>
                  </a:lnTo>
                  <a:lnTo>
                    <a:pt x="563435" y="168541"/>
                  </a:lnTo>
                  <a:lnTo>
                    <a:pt x="563435" y="101346"/>
                  </a:lnTo>
                  <a:lnTo>
                    <a:pt x="508000" y="101346"/>
                  </a:lnTo>
                  <a:lnTo>
                    <a:pt x="511327" y="63423"/>
                  </a:lnTo>
                  <a:close/>
                </a:path>
                <a:path w="1000760" h="401320">
                  <a:moveTo>
                    <a:pt x="563435" y="58102"/>
                  </a:moveTo>
                  <a:lnTo>
                    <a:pt x="543511" y="61798"/>
                  </a:lnTo>
                  <a:lnTo>
                    <a:pt x="527631" y="70237"/>
                  </a:lnTo>
                  <a:lnTo>
                    <a:pt x="515793" y="83419"/>
                  </a:lnTo>
                  <a:lnTo>
                    <a:pt x="508000" y="101346"/>
                  </a:lnTo>
                  <a:lnTo>
                    <a:pt x="563435" y="101346"/>
                  </a:lnTo>
                  <a:lnTo>
                    <a:pt x="563435" y="58102"/>
                  </a:lnTo>
                  <a:close/>
                </a:path>
                <a:path w="1000760" h="401320">
                  <a:moveTo>
                    <a:pt x="346735" y="63423"/>
                  </a:moveTo>
                  <a:lnTo>
                    <a:pt x="250050" y="63423"/>
                  </a:lnTo>
                  <a:lnTo>
                    <a:pt x="250050" y="360794"/>
                  </a:lnTo>
                  <a:lnTo>
                    <a:pt x="346964" y="360794"/>
                  </a:lnTo>
                  <a:lnTo>
                    <a:pt x="346964" y="242404"/>
                  </a:lnTo>
                  <a:lnTo>
                    <a:pt x="347109" y="223530"/>
                  </a:lnTo>
                  <a:lnTo>
                    <a:pt x="350824" y="183476"/>
                  </a:lnTo>
                  <a:lnTo>
                    <a:pt x="386244" y="168899"/>
                  </a:lnTo>
                  <a:lnTo>
                    <a:pt x="398843" y="168541"/>
                  </a:lnTo>
                  <a:lnTo>
                    <a:pt x="398843" y="101346"/>
                  </a:lnTo>
                  <a:lnTo>
                    <a:pt x="343408" y="101346"/>
                  </a:lnTo>
                  <a:lnTo>
                    <a:pt x="346735" y="63423"/>
                  </a:lnTo>
                  <a:close/>
                </a:path>
                <a:path w="1000760" h="401320">
                  <a:moveTo>
                    <a:pt x="398843" y="58102"/>
                  </a:moveTo>
                  <a:lnTo>
                    <a:pt x="378919" y="61798"/>
                  </a:lnTo>
                  <a:lnTo>
                    <a:pt x="363039" y="70237"/>
                  </a:lnTo>
                  <a:lnTo>
                    <a:pt x="351201" y="83419"/>
                  </a:lnTo>
                  <a:lnTo>
                    <a:pt x="343408" y="101346"/>
                  </a:lnTo>
                  <a:lnTo>
                    <a:pt x="398843" y="101346"/>
                  </a:lnTo>
                  <a:lnTo>
                    <a:pt x="398843" y="58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78769" y="3943541"/>
              <a:ext cx="1000760" cy="401320"/>
            </a:xfrm>
            <a:custGeom>
              <a:avLst/>
              <a:gdLst/>
              <a:ahLst/>
              <a:cxnLst/>
              <a:rect l="l" t="t" r="r" b="b"/>
              <a:pathLst>
                <a:path w="1000760" h="401320">
                  <a:moveTo>
                    <a:pt x="685457" y="223634"/>
                  </a:moveTo>
                  <a:lnTo>
                    <a:pt x="667578" y="258492"/>
                  </a:lnTo>
                  <a:lnTo>
                    <a:pt x="666826" y="275183"/>
                  </a:lnTo>
                  <a:lnTo>
                    <a:pt x="666959" y="284930"/>
                  </a:lnTo>
                  <a:lnTo>
                    <a:pt x="672934" y="306247"/>
                  </a:lnTo>
                  <a:lnTo>
                    <a:pt x="676681" y="306247"/>
                  </a:lnTo>
                  <a:lnTo>
                    <a:pt x="680326" y="306247"/>
                  </a:lnTo>
                  <a:lnTo>
                    <a:pt x="682688" y="305104"/>
                  </a:lnTo>
                  <a:lnTo>
                    <a:pt x="683793" y="302831"/>
                  </a:lnTo>
                  <a:lnTo>
                    <a:pt x="684898" y="300558"/>
                  </a:lnTo>
                  <a:lnTo>
                    <a:pt x="685457" y="292506"/>
                  </a:lnTo>
                  <a:lnTo>
                    <a:pt x="685457" y="278663"/>
                  </a:lnTo>
                  <a:lnTo>
                    <a:pt x="685457" y="223634"/>
                  </a:lnTo>
                  <a:close/>
                </a:path>
                <a:path w="1000760" h="401320">
                  <a:moveTo>
                    <a:pt x="675386" y="117983"/>
                  </a:moveTo>
                  <a:lnTo>
                    <a:pt x="671614" y="117983"/>
                  </a:lnTo>
                  <a:lnTo>
                    <a:pt x="669251" y="119265"/>
                  </a:lnTo>
                  <a:lnTo>
                    <a:pt x="666826" y="149313"/>
                  </a:lnTo>
                  <a:lnTo>
                    <a:pt x="666826" y="181102"/>
                  </a:lnTo>
                  <a:lnTo>
                    <a:pt x="685457" y="161340"/>
                  </a:lnTo>
                  <a:lnTo>
                    <a:pt x="685457" y="149987"/>
                  </a:lnTo>
                  <a:lnTo>
                    <a:pt x="678688" y="117983"/>
                  </a:lnTo>
                  <a:lnTo>
                    <a:pt x="675386" y="117983"/>
                  </a:lnTo>
                  <a:close/>
                </a:path>
                <a:path w="1000760" h="401320">
                  <a:moveTo>
                    <a:pt x="119900" y="87337"/>
                  </a:moveTo>
                  <a:lnTo>
                    <a:pt x="116131" y="132605"/>
                  </a:lnTo>
                  <a:lnTo>
                    <a:pt x="112918" y="170873"/>
                  </a:lnTo>
                  <a:lnTo>
                    <a:pt x="110263" y="202143"/>
                  </a:lnTo>
                  <a:lnTo>
                    <a:pt x="108165" y="226415"/>
                  </a:lnTo>
                  <a:lnTo>
                    <a:pt x="130302" y="226415"/>
                  </a:lnTo>
                  <a:lnTo>
                    <a:pt x="127158" y="197226"/>
                  </a:lnTo>
                  <a:lnTo>
                    <a:pt x="124377" y="164315"/>
                  </a:lnTo>
                  <a:lnTo>
                    <a:pt x="121958" y="127685"/>
                  </a:lnTo>
                  <a:lnTo>
                    <a:pt x="119900" y="87337"/>
                  </a:lnTo>
                  <a:close/>
                </a:path>
                <a:path w="1000760" h="401320">
                  <a:moveTo>
                    <a:pt x="789432" y="63423"/>
                  </a:moveTo>
                  <a:lnTo>
                    <a:pt x="877658" y="63423"/>
                  </a:lnTo>
                  <a:lnTo>
                    <a:pt x="900938" y="258178"/>
                  </a:lnTo>
                  <a:lnTo>
                    <a:pt x="912190" y="63423"/>
                  </a:lnTo>
                  <a:lnTo>
                    <a:pt x="1000709" y="63423"/>
                  </a:lnTo>
                  <a:lnTo>
                    <a:pt x="975512" y="277126"/>
                  </a:lnTo>
                  <a:lnTo>
                    <a:pt x="969986" y="319054"/>
                  </a:lnTo>
                  <a:lnTo>
                    <a:pt x="959734" y="362611"/>
                  </a:lnTo>
                  <a:lnTo>
                    <a:pt x="931776" y="391917"/>
                  </a:lnTo>
                  <a:lnTo>
                    <a:pt x="885873" y="400787"/>
                  </a:lnTo>
                  <a:lnTo>
                    <a:pt x="868426" y="401154"/>
                  </a:lnTo>
                  <a:lnTo>
                    <a:pt x="810717" y="401154"/>
                  </a:lnTo>
                  <a:lnTo>
                    <a:pt x="810717" y="346163"/>
                  </a:lnTo>
                  <a:lnTo>
                    <a:pt x="821537" y="346075"/>
                  </a:lnTo>
                  <a:lnTo>
                    <a:pt x="829841" y="345811"/>
                  </a:lnTo>
                  <a:lnTo>
                    <a:pt x="835629" y="345370"/>
                  </a:lnTo>
                  <a:lnTo>
                    <a:pt x="838898" y="344754"/>
                  </a:lnTo>
                  <a:lnTo>
                    <a:pt x="841590" y="343801"/>
                  </a:lnTo>
                  <a:lnTo>
                    <a:pt x="842924" y="341985"/>
                  </a:lnTo>
                  <a:lnTo>
                    <a:pt x="842924" y="339305"/>
                  </a:lnTo>
                  <a:lnTo>
                    <a:pt x="842590" y="336374"/>
                  </a:lnTo>
                  <a:lnTo>
                    <a:pt x="841587" y="330512"/>
                  </a:lnTo>
                  <a:lnTo>
                    <a:pt x="839913" y="321719"/>
                  </a:lnTo>
                  <a:lnTo>
                    <a:pt x="837565" y="309994"/>
                  </a:lnTo>
                  <a:lnTo>
                    <a:pt x="789432" y="63423"/>
                  </a:lnTo>
                  <a:close/>
                </a:path>
                <a:path w="1000760" h="401320">
                  <a:moveTo>
                    <a:pt x="678802" y="58102"/>
                  </a:moveTo>
                  <a:lnTo>
                    <a:pt x="719289" y="62283"/>
                  </a:lnTo>
                  <a:lnTo>
                    <a:pt x="759560" y="83655"/>
                  </a:lnTo>
                  <a:lnTo>
                    <a:pt x="779657" y="130756"/>
                  </a:lnTo>
                  <a:lnTo>
                    <a:pt x="782058" y="178662"/>
                  </a:lnTo>
                  <a:lnTo>
                    <a:pt x="782358" y="211518"/>
                  </a:lnTo>
                  <a:lnTo>
                    <a:pt x="782358" y="360794"/>
                  </a:lnTo>
                  <a:lnTo>
                    <a:pt x="687895" y="360794"/>
                  </a:lnTo>
                  <a:lnTo>
                    <a:pt x="687895" y="335203"/>
                  </a:lnTo>
                  <a:lnTo>
                    <a:pt x="686999" y="341913"/>
                  </a:lnTo>
                  <a:lnTo>
                    <a:pt x="650395" y="365591"/>
                  </a:lnTo>
                  <a:lnTo>
                    <a:pt x="641223" y="366115"/>
                  </a:lnTo>
                  <a:lnTo>
                    <a:pt x="629200" y="365246"/>
                  </a:lnTo>
                  <a:lnTo>
                    <a:pt x="586905" y="343199"/>
                  </a:lnTo>
                  <a:lnTo>
                    <a:pt x="575246" y="292087"/>
                  </a:lnTo>
                  <a:lnTo>
                    <a:pt x="575246" y="268376"/>
                  </a:lnTo>
                  <a:lnTo>
                    <a:pt x="581466" y="229225"/>
                  </a:lnTo>
                  <a:lnTo>
                    <a:pt x="620033" y="200552"/>
                  </a:lnTo>
                  <a:lnTo>
                    <a:pt x="645845" y="189992"/>
                  </a:lnTo>
                  <a:lnTo>
                    <a:pt x="651979" y="187515"/>
                  </a:lnTo>
                  <a:lnTo>
                    <a:pt x="657301" y="185267"/>
                  </a:lnTo>
                  <a:lnTo>
                    <a:pt x="660095" y="184061"/>
                  </a:lnTo>
                  <a:lnTo>
                    <a:pt x="575246" y="184061"/>
                  </a:lnTo>
                  <a:lnTo>
                    <a:pt x="575246" y="160261"/>
                  </a:lnTo>
                  <a:lnTo>
                    <a:pt x="579832" y="117170"/>
                  </a:lnTo>
                  <a:lnTo>
                    <a:pt x="604807" y="80373"/>
                  </a:lnTo>
                  <a:lnTo>
                    <a:pt x="643961" y="61768"/>
                  </a:lnTo>
                  <a:lnTo>
                    <a:pt x="660519" y="59019"/>
                  </a:lnTo>
                  <a:lnTo>
                    <a:pt x="678802" y="58102"/>
                  </a:lnTo>
                  <a:close/>
                </a:path>
                <a:path w="1000760" h="401320">
                  <a:moveTo>
                    <a:pt x="563435" y="58102"/>
                  </a:moveTo>
                  <a:lnTo>
                    <a:pt x="563435" y="168541"/>
                  </a:lnTo>
                  <a:lnTo>
                    <a:pt x="550836" y="168899"/>
                  </a:lnTo>
                  <a:lnTo>
                    <a:pt x="540416" y="169973"/>
                  </a:lnTo>
                  <a:lnTo>
                    <a:pt x="512857" y="197522"/>
                  </a:lnTo>
                  <a:lnTo>
                    <a:pt x="511556" y="242404"/>
                  </a:lnTo>
                  <a:lnTo>
                    <a:pt x="511556" y="360794"/>
                  </a:lnTo>
                  <a:lnTo>
                    <a:pt x="414642" y="360794"/>
                  </a:lnTo>
                  <a:lnTo>
                    <a:pt x="414642" y="63423"/>
                  </a:lnTo>
                  <a:lnTo>
                    <a:pt x="511327" y="63423"/>
                  </a:lnTo>
                  <a:lnTo>
                    <a:pt x="508000" y="101346"/>
                  </a:lnTo>
                  <a:lnTo>
                    <a:pt x="515793" y="83419"/>
                  </a:lnTo>
                  <a:lnTo>
                    <a:pt x="527631" y="70237"/>
                  </a:lnTo>
                  <a:lnTo>
                    <a:pt x="543511" y="61798"/>
                  </a:lnTo>
                  <a:lnTo>
                    <a:pt x="563435" y="58102"/>
                  </a:lnTo>
                  <a:close/>
                </a:path>
                <a:path w="1000760" h="401320">
                  <a:moveTo>
                    <a:pt x="398843" y="58102"/>
                  </a:moveTo>
                  <a:lnTo>
                    <a:pt x="398843" y="168541"/>
                  </a:lnTo>
                  <a:lnTo>
                    <a:pt x="386244" y="168899"/>
                  </a:lnTo>
                  <a:lnTo>
                    <a:pt x="375824" y="169973"/>
                  </a:lnTo>
                  <a:lnTo>
                    <a:pt x="348265" y="197522"/>
                  </a:lnTo>
                  <a:lnTo>
                    <a:pt x="346964" y="242404"/>
                  </a:lnTo>
                  <a:lnTo>
                    <a:pt x="346964" y="360794"/>
                  </a:lnTo>
                  <a:lnTo>
                    <a:pt x="250050" y="360794"/>
                  </a:lnTo>
                  <a:lnTo>
                    <a:pt x="250050" y="63423"/>
                  </a:lnTo>
                  <a:lnTo>
                    <a:pt x="346735" y="63423"/>
                  </a:lnTo>
                  <a:lnTo>
                    <a:pt x="343408" y="101346"/>
                  </a:lnTo>
                  <a:lnTo>
                    <a:pt x="351201" y="83419"/>
                  </a:lnTo>
                  <a:lnTo>
                    <a:pt x="363039" y="70237"/>
                  </a:lnTo>
                  <a:lnTo>
                    <a:pt x="378919" y="61798"/>
                  </a:lnTo>
                  <a:lnTo>
                    <a:pt x="398843" y="58102"/>
                  </a:lnTo>
                  <a:close/>
                </a:path>
                <a:path w="1000760" h="401320">
                  <a:moveTo>
                    <a:pt x="47129" y="0"/>
                  </a:moveTo>
                  <a:lnTo>
                    <a:pt x="187350" y="0"/>
                  </a:lnTo>
                  <a:lnTo>
                    <a:pt x="240385" y="360794"/>
                  </a:lnTo>
                  <a:lnTo>
                    <a:pt x="138087" y="360794"/>
                  </a:lnTo>
                  <a:lnTo>
                    <a:pt x="133184" y="297599"/>
                  </a:lnTo>
                  <a:lnTo>
                    <a:pt x="108597" y="297599"/>
                  </a:lnTo>
                  <a:lnTo>
                    <a:pt x="103314" y="360794"/>
                  </a:lnTo>
                  <a:lnTo>
                    <a:pt x="0" y="360794"/>
                  </a:lnTo>
                  <a:lnTo>
                    <a:pt x="471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98720" y="4625339"/>
              <a:ext cx="3393947" cy="102107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43258" y="4644326"/>
              <a:ext cx="3305606" cy="93155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043255" y="4644330"/>
              <a:ext cx="3305810" cy="932180"/>
            </a:xfrm>
            <a:custGeom>
              <a:avLst/>
              <a:gdLst/>
              <a:ahLst/>
              <a:cxnLst/>
              <a:rect l="l" t="t" r="r" b="b"/>
              <a:pathLst>
                <a:path w="3305809" h="932179">
                  <a:moveTo>
                    <a:pt x="321437" y="57599"/>
                  </a:moveTo>
                  <a:lnTo>
                    <a:pt x="370358" y="48263"/>
                  </a:lnTo>
                  <a:lnTo>
                    <a:pt x="419279" y="39860"/>
                  </a:lnTo>
                  <a:lnTo>
                    <a:pt x="468200" y="32360"/>
                  </a:lnTo>
                  <a:lnTo>
                    <a:pt x="517121" y="25729"/>
                  </a:lnTo>
                  <a:lnTo>
                    <a:pt x="566042" y="19938"/>
                  </a:lnTo>
                  <a:lnTo>
                    <a:pt x="614963" y="14953"/>
                  </a:lnTo>
                  <a:lnTo>
                    <a:pt x="663884" y="10744"/>
                  </a:lnTo>
                  <a:lnTo>
                    <a:pt x="712805" y="7279"/>
                  </a:lnTo>
                  <a:lnTo>
                    <a:pt x="761726" y="4525"/>
                  </a:lnTo>
                  <a:lnTo>
                    <a:pt x="810647" y="2452"/>
                  </a:lnTo>
                  <a:lnTo>
                    <a:pt x="859568" y="1028"/>
                  </a:lnTo>
                  <a:lnTo>
                    <a:pt x="908489" y="221"/>
                  </a:lnTo>
                  <a:lnTo>
                    <a:pt x="957410" y="0"/>
                  </a:lnTo>
                  <a:lnTo>
                    <a:pt x="1006331" y="332"/>
                  </a:lnTo>
                  <a:lnTo>
                    <a:pt x="1055252" y="1186"/>
                  </a:lnTo>
                  <a:lnTo>
                    <a:pt x="1104173" y="2531"/>
                  </a:lnTo>
                  <a:lnTo>
                    <a:pt x="1153094" y="4335"/>
                  </a:lnTo>
                  <a:lnTo>
                    <a:pt x="1202015" y="6566"/>
                  </a:lnTo>
                  <a:lnTo>
                    <a:pt x="1250936" y="9193"/>
                  </a:lnTo>
                  <a:lnTo>
                    <a:pt x="1299857" y="12184"/>
                  </a:lnTo>
                  <a:lnTo>
                    <a:pt x="1348778" y="15507"/>
                  </a:lnTo>
                  <a:lnTo>
                    <a:pt x="1397699" y="19131"/>
                  </a:lnTo>
                  <a:lnTo>
                    <a:pt x="1446620" y="23024"/>
                  </a:lnTo>
                  <a:lnTo>
                    <a:pt x="1495541" y="27154"/>
                  </a:lnTo>
                  <a:lnTo>
                    <a:pt x="1544462" y="31489"/>
                  </a:lnTo>
                  <a:lnTo>
                    <a:pt x="1593383" y="35999"/>
                  </a:lnTo>
                  <a:lnTo>
                    <a:pt x="1642304" y="40652"/>
                  </a:lnTo>
                  <a:lnTo>
                    <a:pt x="1691225" y="45415"/>
                  </a:lnTo>
                  <a:lnTo>
                    <a:pt x="1740146" y="50257"/>
                  </a:lnTo>
                  <a:lnTo>
                    <a:pt x="1789067" y="55146"/>
                  </a:lnTo>
                  <a:lnTo>
                    <a:pt x="1837988" y="60052"/>
                  </a:lnTo>
                  <a:lnTo>
                    <a:pt x="1886909" y="64941"/>
                  </a:lnTo>
                  <a:lnTo>
                    <a:pt x="1935830" y="69784"/>
                  </a:lnTo>
                  <a:lnTo>
                    <a:pt x="1984751" y="74547"/>
                  </a:lnTo>
                  <a:lnTo>
                    <a:pt x="2033672" y="79199"/>
                  </a:lnTo>
                  <a:lnTo>
                    <a:pt x="2082593" y="83709"/>
                  </a:lnTo>
                  <a:lnTo>
                    <a:pt x="2131514" y="88045"/>
                  </a:lnTo>
                  <a:lnTo>
                    <a:pt x="2180435" y="92175"/>
                  </a:lnTo>
                  <a:lnTo>
                    <a:pt x="2229356" y="96067"/>
                  </a:lnTo>
                  <a:lnTo>
                    <a:pt x="2278277" y="99691"/>
                  </a:lnTo>
                  <a:lnTo>
                    <a:pt x="2327199" y="103014"/>
                  </a:lnTo>
                  <a:lnTo>
                    <a:pt x="2376120" y="106005"/>
                  </a:lnTo>
                  <a:lnTo>
                    <a:pt x="2425041" y="108632"/>
                  </a:lnTo>
                  <a:lnTo>
                    <a:pt x="2473962" y="110863"/>
                  </a:lnTo>
                  <a:lnTo>
                    <a:pt x="2522883" y="112667"/>
                  </a:lnTo>
                  <a:lnTo>
                    <a:pt x="2571804" y="114012"/>
                  </a:lnTo>
                  <a:lnTo>
                    <a:pt x="2620725" y="114866"/>
                  </a:lnTo>
                  <a:lnTo>
                    <a:pt x="2669646" y="115199"/>
                  </a:lnTo>
                  <a:lnTo>
                    <a:pt x="2718567" y="114977"/>
                  </a:lnTo>
                  <a:lnTo>
                    <a:pt x="2767488" y="114170"/>
                  </a:lnTo>
                  <a:lnTo>
                    <a:pt x="2816409" y="112746"/>
                  </a:lnTo>
                  <a:lnTo>
                    <a:pt x="2865330" y="110673"/>
                  </a:lnTo>
                  <a:lnTo>
                    <a:pt x="2914251" y="107920"/>
                  </a:lnTo>
                  <a:lnTo>
                    <a:pt x="2963172" y="104454"/>
                  </a:lnTo>
                  <a:lnTo>
                    <a:pt x="3012093" y="100245"/>
                  </a:lnTo>
                  <a:lnTo>
                    <a:pt x="3061014" y="95260"/>
                  </a:lnTo>
                  <a:lnTo>
                    <a:pt x="3109935" y="89469"/>
                  </a:lnTo>
                  <a:lnTo>
                    <a:pt x="3158856" y="82839"/>
                  </a:lnTo>
                  <a:lnTo>
                    <a:pt x="3207777" y="75338"/>
                  </a:lnTo>
                  <a:lnTo>
                    <a:pt x="3256698" y="66935"/>
                  </a:lnTo>
                  <a:lnTo>
                    <a:pt x="3305619" y="57599"/>
                  </a:lnTo>
                  <a:lnTo>
                    <a:pt x="2984182" y="873981"/>
                  </a:lnTo>
                  <a:lnTo>
                    <a:pt x="2935261" y="883317"/>
                  </a:lnTo>
                  <a:lnTo>
                    <a:pt x="2886340" y="891719"/>
                  </a:lnTo>
                  <a:lnTo>
                    <a:pt x="2837419" y="899220"/>
                  </a:lnTo>
                  <a:lnTo>
                    <a:pt x="2788498" y="905850"/>
                  </a:lnTo>
                  <a:lnTo>
                    <a:pt x="2739577" y="911642"/>
                  </a:lnTo>
                  <a:lnTo>
                    <a:pt x="2690656" y="916626"/>
                  </a:lnTo>
                  <a:lnTo>
                    <a:pt x="2641735" y="920835"/>
                  </a:lnTo>
                  <a:lnTo>
                    <a:pt x="2592814" y="924300"/>
                  </a:lnTo>
                  <a:lnTo>
                    <a:pt x="2543893" y="927054"/>
                  </a:lnTo>
                  <a:lnTo>
                    <a:pt x="2494972" y="929127"/>
                  </a:lnTo>
                  <a:lnTo>
                    <a:pt x="2446051" y="930551"/>
                  </a:lnTo>
                  <a:lnTo>
                    <a:pt x="2397130" y="931357"/>
                  </a:lnTo>
                  <a:lnTo>
                    <a:pt x="2348209" y="931579"/>
                  </a:lnTo>
                  <a:lnTo>
                    <a:pt x="2299288" y="931246"/>
                  </a:lnTo>
                  <a:lnTo>
                    <a:pt x="2250367" y="930392"/>
                  </a:lnTo>
                  <a:lnTo>
                    <a:pt x="2201446" y="929046"/>
                  </a:lnTo>
                  <a:lnTo>
                    <a:pt x="2152525" y="927242"/>
                  </a:lnTo>
                  <a:lnTo>
                    <a:pt x="2103604" y="925011"/>
                  </a:lnTo>
                  <a:lnTo>
                    <a:pt x="2054683" y="922384"/>
                  </a:lnTo>
                  <a:lnTo>
                    <a:pt x="2005762" y="919393"/>
                  </a:lnTo>
                  <a:lnTo>
                    <a:pt x="1956840" y="916070"/>
                  </a:lnTo>
                  <a:lnTo>
                    <a:pt x="1907919" y="912446"/>
                  </a:lnTo>
                  <a:lnTo>
                    <a:pt x="1858998" y="908553"/>
                  </a:lnTo>
                  <a:lnTo>
                    <a:pt x="1810077" y="904422"/>
                  </a:lnTo>
                  <a:lnTo>
                    <a:pt x="1761156" y="900086"/>
                  </a:lnTo>
                  <a:lnTo>
                    <a:pt x="1712235" y="895576"/>
                  </a:lnTo>
                  <a:lnTo>
                    <a:pt x="1663314" y="890924"/>
                  </a:lnTo>
                  <a:lnTo>
                    <a:pt x="1614393" y="886161"/>
                  </a:lnTo>
                  <a:lnTo>
                    <a:pt x="1565472" y="881318"/>
                  </a:lnTo>
                  <a:lnTo>
                    <a:pt x="1516551" y="876429"/>
                  </a:lnTo>
                  <a:lnTo>
                    <a:pt x="1467630" y="871523"/>
                  </a:lnTo>
                  <a:lnTo>
                    <a:pt x="1418709" y="866633"/>
                  </a:lnTo>
                  <a:lnTo>
                    <a:pt x="1369788" y="861791"/>
                  </a:lnTo>
                  <a:lnTo>
                    <a:pt x="1320867" y="857028"/>
                  </a:lnTo>
                  <a:lnTo>
                    <a:pt x="1271946" y="852375"/>
                  </a:lnTo>
                  <a:lnTo>
                    <a:pt x="1223025" y="847865"/>
                  </a:lnTo>
                  <a:lnTo>
                    <a:pt x="1174104" y="843529"/>
                  </a:lnTo>
                  <a:lnTo>
                    <a:pt x="1125183" y="839399"/>
                  </a:lnTo>
                  <a:lnTo>
                    <a:pt x="1076262" y="835507"/>
                  </a:lnTo>
                  <a:lnTo>
                    <a:pt x="1027341" y="831883"/>
                  </a:lnTo>
                  <a:lnTo>
                    <a:pt x="978420" y="828560"/>
                  </a:lnTo>
                  <a:lnTo>
                    <a:pt x="929499" y="825569"/>
                  </a:lnTo>
                  <a:lnTo>
                    <a:pt x="880578" y="822942"/>
                  </a:lnTo>
                  <a:lnTo>
                    <a:pt x="831657" y="820711"/>
                  </a:lnTo>
                  <a:lnTo>
                    <a:pt x="782736" y="818907"/>
                  </a:lnTo>
                  <a:lnTo>
                    <a:pt x="733815" y="817562"/>
                  </a:lnTo>
                  <a:lnTo>
                    <a:pt x="684894" y="816708"/>
                  </a:lnTo>
                  <a:lnTo>
                    <a:pt x="635973" y="816376"/>
                  </a:lnTo>
                  <a:lnTo>
                    <a:pt x="587052" y="816598"/>
                  </a:lnTo>
                  <a:lnTo>
                    <a:pt x="538131" y="817405"/>
                  </a:lnTo>
                  <a:lnTo>
                    <a:pt x="489210" y="818829"/>
                  </a:lnTo>
                  <a:lnTo>
                    <a:pt x="440289" y="820902"/>
                  </a:lnTo>
                  <a:lnTo>
                    <a:pt x="391368" y="823656"/>
                  </a:lnTo>
                  <a:lnTo>
                    <a:pt x="342447" y="827122"/>
                  </a:lnTo>
                  <a:lnTo>
                    <a:pt x="293526" y="831332"/>
                  </a:lnTo>
                  <a:lnTo>
                    <a:pt x="244605" y="836317"/>
                  </a:lnTo>
                  <a:lnTo>
                    <a:pt x="195684" y="842109"/>
                  </a:lnTo>
                  <a:lnTo>
                    <a:pt x="146763" y="848739"/>
                  </a:lnTo>
                  <a:lnTo>
                    <a:pt x="97842" y="856241"/>
                  </a:lnTo>
                  <a:lnTo>
                    <a:pt x="48921" y="864644"/>
                  </a:lnTo>
                  <a:lnTo>
                    <a:pt x="0" y="873981"/>
                  </a:lnTo>
                  <a:lnTo>
                    <a:pt x="321437" y="57599"/>
                  </a:lnTo>
                  <a:close/>
                </a:path>
              </a:pathLst>
            </a:custGeom>
            <a:ln w="9525">
              <a:solidFill>
                <a:srgbClr val="5F9C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45480" y="4928615"/>
              <a:ext cx="1956815" cy="43281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39676" y="4923435"/>
              <a:ext cx="1935416" cy="4102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21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6089" y="974178"/>
            <a:ext cx="5947410" cy="3308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250" dirty="0">
                <a:latin typeface="Eras Bold ITC"/>
                <a:cs typeface="Eras Bold ITC"/>
              </a:rPr>
              <a:t>Creation</a:t>
            </a:r>
            <a:r>
              <a:rPr sz="2250" spc="15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of</a:t>
            </a:r>
            <a:r>
              <a:rPr sz="2250" spc="40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Series</a:t>
            </a:r>
            <a:r>
              <a:rPr sz="2250" spc="40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from</a:t>
            </a:r>
            <a:r>
              <a:rPr sz="2250" spc="25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Python</a:t>
            </a:r>
            <a:r>
              <a:rPr sz="2250" spc="40" dirty="0">
                <a:latin typeface="Eras Bold ITC"/>
                <a:cs typeface="Eras Bold ITC"/>
              </a:rPr>
              <a:t> </a:t>
            </a:r>
            <a:r>
              <a:rPr sz="2250" spc="-10" dirty="0">
                <a:latin typeface="Eras Bold ITC"/>
                <a:cs typeface="Eras Bold ITC"/>
              </a:rPr>
              <a:t>Sequence</a:t>
            </a:r>
            <a:endParaRPr sz="2250">
              <a:latin typeface="Eras Bold ITC"/>
              <a:cs typeface="Eras Bold IT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8622" y="1465180"/>
            <a:ext cx="563372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291465" algn="l"/>
              </a:tabLst>
            </a:pP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series,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give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sequence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attribute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Series()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607" y="2451950"/>
            <a:ext cx="9565638" cy="38873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22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12" y="298277"/>
            <a:ext cx="4141057" cy="30545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9241" y="330149"/>
            <a:ext cx="3573646" cy="32096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3577158"/>
            <a:ext cx="4038599" cy="31266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9242" y="3753108"/>
            <a:ext cx="4270767" cy="29506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23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259371"/>
            <a:ext cx="5296661" cy="29077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3429000"/>
            <a:ext cx="6279667" cy="31696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24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23212" y="606513"/>
            <a:ext cx="5332730" cy="3308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250" dirty="0">
                <a:latin typeface="Eras Bold ITC"/>
                <a:cs typeface="Eras Bold ITC"/>
              </a:rPr>
              <a:t>Creation</a:t>
            </a:r>
            <a:r>
              <a:rPr sz="2250" spc="25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of</a:t>
            </a:r>
            <a:r>
              <a:rPr sz="2250" spc="35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Series</a:t>
            </a:r>
            <a:r>
              <a:rPr sz="2250" spc="45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from</a:t>
            </a:r>
            <a:r>
              <a:rPr sz="2250" spc="25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Scalar</a:t>
            </a:r>
            <a:r>
              <a:rPr sz="2250" spc="15" dirty="0">
                <a:latin typeface="Eras Bold ITC"/>
                <a:cs typeface="Eras Bold ITC"/>
              </a:rPr>
              <a:t> </a:t>
            </a:r>
            <a:r>
              <a:rPr sz="2250" spc="-10" dirty="0">
                <a:latin typeface="Eras Bold ITC"/>
                <a:cs typeface="Eras Bold ITC"/>
              </a:rPr>
              <a:t>Values</a:t>
            </a:r>
            <a:endParaRPr sz="2250">
              <a:latin typeface="Eras Bold ITC"/>
              <a:cs typeface="Eras Bold IT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0" y="2667000"/>
            <a:ext cx="3717251" cy="25902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100" dirty="0"/>
              <a:t> </a:t>
            </a:r>
            <a:r>
              <a:rPr dirty="0"/>
              <a:t>Series</a:t>
            </a:r>
            <a:r>
              <a:rPr spc="-20" dirty="0"/>
              <a:t> </a:t>
            </a:r>
            <a:r>
              <a:rPr dirty="0"/>
              <a:t>can</a:t>
            </a:r>
            <a:r>
              <a:rPr spc="-4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created</a:t>
            </a:r>
            <a:r>
              <a:rPr spc="-40" dirty="0"/>
              <a:t> </a:t>
            </a:r>
            <a:r>
              <a:rPr dirty="0"/>
              <a:t>using</a:t>
            </a:r>
            <a:r>
              <a:rPr spc="-55" dirty="0"/>
              <a:t> </a:t>
            </a:r>
            <a:r>
              <a:rPr dirty="0"/>
              <a:t>scalar</a:t>
            </a:r>
            <a:r>
              <a:rPr spc="-35" dirty="0"/>
              <a:t> </a:t>
            </a:r>
            <a:r>
              <a:rPr dirty="0"/>
              <a:t>values</a:t>
            </a:r>
            <a:r>
              <a:rPr spc="-10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spc="-10" dirty="0"/>
              <a:t>shown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example</a:t>
            </a:r>
            <a:r>
              <a:rPr spc="-35" dirty="0"/>
              <a:t> </a:t>
            </a:r>
            <a:r>
              <a:rPr spc="-10" dirty="0"/>
              <a:t>below:</a:t>
            </a: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pc="-10" dirty="0"/>
          </a:p>
          <a:p>
            <a:pPr marL="12700" marR="1751330">
              <a:lnSpc>
                <a:spcPct val="145800"/>
              </a:lnSpc>
            </a:pPr>
            <a:r>
              <a:rPr sz="2000" dirty="0"/>
              <a:t>Observe</a:t>
            </a:r>
            <a:r>
              <a:rPr sz="2000" spc="-30" dirty="0"/>
              <a:t> </a:t>
            </a:r>
            <a:r>
              <a:rPr sz="2000" dirty="0"/>
              <a:t>that</a:t>
            </a:r>
            <a:r>
              <a:rPr sz="2000" spc="-25" dirty="0"/>
              <a:t> </a:t>
            </a:r>
            <a:r>
              <a:rPr sz="2000" dirty="0"/>
              <a:t>output</a:t>
            </a:r>
            <a:r>
              <a:rPr sz="2000" spc="-40" dirty="0"/>
              <a:t> </a:t>
            </a:r>
            <a:r>
              <a:rPr sz="2000" dirty="0"/>
              <a:t>is</a:t>
            </a:r>
            <a:r>
              <a:rPr sz="2000" spc="-15" dirty="0"/>
              <a:t> </a:t>
            </a:r>
            <a:r>
              <a:rPr sz="2000" dirty="0"/>
              <a:t>shown</a:t>
            </a:r>
            <a:r>
              <a:rPr sz="2000" spc="-70" dirty="0"/>
              <a:t> </a:t>
            </a:r>
            <a:r>
              <a:rPr sz="2000" dirty="0"/>
              <a:t>in</a:t>
            </a:r>
            <a:r>
              <a:rPr sz="2000" spc="-15" dirty="0"/>
              <a:t> </a:t>
            </a:r>
            <a:r>
              <a:rPr sz="2000" spc="-25" dirty="0"/>
              <a:t>two </a:t>
            </a:r>
            <a:r>
              <a:rPr sz="2000" dirty="0"/>
              <a:t>columns</a:t>
            </a:r>
            <a:r>
              <a:rPr sz="2000" spc="-30" dirty="0"/>
              <a:t> </a:t>
            </a:r>
            <a:r>
              <a:rPr sz="2000" dirty="0"/>
              <a:t>-</a:t>
            </a:r>
            <a:r>
              <a:rPr sz="2000" spc="-25" dirty="0"/>
              <a:t> </a:t>
            </a:r>
            <a:r>
              <a:rPr sz="2000" dirty="0"/>
              <a:t>the</a:t>
            </a:r>
            <a:r>
              <a:rPr sz="2000" spc="-25" dirty="0"/>
              <a:t> </a:t>
            </a:r>
            <a:r>
              <a:rPr sz="2000" dirty="0"/>
              <a:t>index</a:t>
            </a:r>
            <a:r>
              <a:rPr sz="2000" spc="-25" dirty="0"/>
              <a:t> </a:t>
            </a:r>
            <a:r>
              <a:rPr sz="2000" dirty="0"/>
              <a:t>is</a:t>
            </a:r>
            <a:r>
              <a:rPr sz="2000" spc="-15" dirty="0"/>
              <a:t> </a:t>
            </a:r>
            <a:r>
              <a:rPr sz="2000" dirty="0"/>
              <a:t>on</a:t>
            </a:r>
            <a:r>
              <a:rPr sz="2000" spc="-15" dirty="0"/>
              <a:t> </a:t>
            </a:r>
            <a:r>
              <a:rPr sz="2000" dirty="0"/>
              <a:t>the</a:t>
            </a:r>
            <a:r>
              <a:rPr sz="2000" spc="-25" dirty="0"/>
              <a:t> </a:t>
            </a:r>
            <a:r>
              <a:rPr sz="2000" dirty="0"/>
              <a:t>left</a:t>
            </a:r>
            <a:r>
              <a:rPr sz="2000" spc="-45" dirty="0"/>
              <a:t> </a:t>
            </a:r>
            <a:r>
              <a:rPr sz="2000" dirty="0"/>
              <a:t>and</a:t>
            </a:r>
            <a:r>
              <a:rPr sz="2000" spc="-15" dirty="0"/>
              <a:t> </a:t>
            </a:r>
            <a:r>
              <a:rPr sz="2000" spc="-25" dirty="0"/>
              <a:t>the </a:t>
            </a:r>
            <a:r>
              <a:rPr sz="2000" dirty="0"/>
              <a:t>data</a:t>
            </a:r>
            <a:r>
              <a:rPr sz="2000" spc="-25" dirty="0"/>
              <a:t> </a:t>
            </a:r>
            <a:r>
              <a:rPr sz="2000" dirty="0"/>
              <a:t>value</a:t>
            </a:r>
            <a:r>
              <a:rPr sz="2000" spc="-10" dirty="0"/>
              <a:t> </a:t>
            </a:r>
            <a:r>
              <a:rPr sz="2000" dirty="0"/>
              <a:t>is</a:t>
            </a:r>
            <a:r>
              <a:rPr sz="2000" spc="-10" dirty="0"/>
              <a:t> </a:t>
            </a:r>
            <a:r>
              <a:rPr sz="2000" dirty="0"/>
              <a:t>on</a:t>
            </a:r>
            <a:r>
              <a:rPr sz="2000" spc="-10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right.</a:t>
            </a:r>
            <a:r>
              <a:rPr sz="2000" spc="-40" dirty="0"/>
              <a:t> </a:t>
            </a:r>
            <a:r>
              <a:rPr sz="2000" dirty="0"/>
              <a:t>if</a:t>
            </a:r>
            <a:r>
              <a:rPr sz="2000" spc="-35" dirty="0"/>
              <a:t> </a:t>
            </a:r>
            <a:r>
              <a:rPr sz="2000" dirty="0"/>
              <a:t>we</a:t>
            </a:r>
            <a:r>
              <a:rPr sz="2000" spc="-45" dirty="0"/>
              <a:t> </a:t>
            </a:r>
            <a:r>
              <a:rPr sz="2000" dirty="0"/>
              <a:t>do</a:t>
            </a:r>
            <a:r>
              <a:rPr sz="2000" spc="-10" dirty="0"/>
              <a:t> </a:t>
            </a:r>
            <a:r>
              <a:rPr sz="2000" spc="-25" dirty="0"/>
              <a:t>not </a:t>
            </a:r>
            <a:r>
              <a:rPr sz="2000" dirty="0"/>
              <a:t>explicitly</a:t>
            </a:r>
            <a:r>
              <a:rPr sz="2000" spc="-55" dirty="0"/>
              <a:t> </a:t>
            </a:r>
            <a:r>
              <a:rPr sz="2000" dirty="0"/>
              <a:t>specify</a:t>
            </a:r>
            <a:r>
              <a:rPr sz="2000" spc="-45" dirty="0"/>
              <a:t> </a:t>
            </a:r>
            <a:r>
              <a:rPr sz="2000" dirty="0"/>
              <a:t>an</a:t>
            </a:r>
            <a:r>
              <a:rPr sz="2000" spc="-20" dirty="0"/>
              <a:t> </a:t>
            </a:r>
            <a:r>
              <a:rPr sz="2000" dirty="0"/>
              <a:t>index</a:t>
            </a:r>
            <a:r>
              <a:rPr sz="2000" spc="-30" dirty="0"/>
              <a:t> </a:t>
            </a:r>
            <a:r>
              <a:rPr sz="2000" dirty="0"/>
              <a:t>for</a:t>
            </a:r>
            <a:r>
              <a:rPr sz="2000" spc="-35" dirty="0"/>
              <a:t> </a:t>
            </a:r>
            <a:r>
              <a:rPr sz="2000" dirty="0"/>
              <a:t>the</a:t>
            </a:r>
            <a:r>
              <a:rPr sz="2000" spc="-30" dirty="0"/>
              <a:t> </a:t>
            </a:r>
            <a:r>
              <a:rPr sz="2000" spc="-20" dirty="0"/>
              <a:t>data </a:t>
            </a:r>
            <a:r>
              <a:rPr sz="2000" dirty="0"/>
              <a:t>values</a:t>
            </a:r>
            <a:r>
              <a:rPr sz="2000" spc="-30" dirty="0"/>
              <a:t> </a:t>
            </a:r>
            <a:r>
              <a:rPr sz="2000" dirty="0"/>
              <a:t>while</a:t>
            </a:r>
            <a:r>
              <a:rPr sz="2000" spc="-55" dirty="0"/>
              <a:t> </a:t>
            </a:r>
            <a:r>
              <a:rPr sz="2000" dirty="0"/>
              <a:t>creating</a:t>
            </a:r>
            <a:r>
              <a:rPr sz="2000" spc="-40" dirty="0"/>
              <a:t> </a:t>
            </a:r>
            <a:r>
              <a:rPr sz="2000" dirty="0"/>
              <a:t>a</a:t>
            </a:r>
            <a:r>
              <a:rPr sz="2000" spc="-30" dirty="0"/>
              <a:t> </a:t>
            </a:r>
            <a:r>
              <a:rPr sz="2000" dirty="0"/>
              <a:t>series,</a:t>
            </a:r>
            <a:r>
              <a:rPr sz="2000" spc="-50" dirty="0"/>
              <a:t> </a:t>
            </a:r>
            <a:r>
              <a:rPr sz="2000" dirty="0"/>
              <a:t>then</a:t>
            </a:r>
            <a:r>
              <a:rPr sz="2000" spc="-30" dirty="0"/>
              <a:t> </a:t>
            </a:r>
            <a:r>
              <a:rPr sz="2000" spc="-25" dirty="0"/>
              <a:t>by </a:t>
            </a:r>
            <a:r>
              <a:rPr sz="2000" dirty="0"/>
              <a:t>default</a:t>
            </a:r>
            <a:r>
              <a:rPr sz="2000" spc="-35" dirty="0"/>
              <a:t> </a:t>
            </a:r>
            <a:r>
              <a:rPr sz="2000" dirty="0"/>
              <a:t>indices</a:t>
            </a:r>
            <a:r>
              <a:rPr sz="2000" spc="-40" dirty="0"/>
              <a:t> </a:t>
            </a:r>
            <a:r>
              <a:rPr sz="2000" dirty="0"/>
              <a:t>range</a:t>
            </a:r>
            <a:r>
              <a:rPr sz="2000" spc="-20" dirty="0"/>
              <a:t> </a:t>
            </a:r>
            <a:r>
              <a:rPr sz="2000" dirty="0"/>
              <a:t>from</a:t>
            </a:r>
            <a:r>
              <a:rPr sz="2000" spc="-35" dirty="0"/>
              <a:t> </a:t>
            </a:r>
            <a:r>
              <a:rPr sz="2000" dirty="0"/>
              <a:t>0</a:t>
            </a:r>
            <a:r>
              <a:rPr sz="2000" spc="-10" dirty="0"/>
              <a:t> </a:t>
            </a:r>
            <a:r>
              <a:rPr sz="2000" dirty="0"/>
              <a:t>through</a:t>
            </a:r>
            <a:r>
              <a:rPr sz="2000" spc="-30" dirty="0"/>
              <a:t> </a:t>
            </a:r>
            <a:r>
              <a:rPr sz="2000" dirty="0"/>
              <a:t>N</a:t>
            </a:r>
            <a:r>
              <a:rPr sz="2000" spc="-20" dirty="0"/>
              <a:t> </a:t>
            </a:r>
            <a:r>
              <a:rPr sz="2000" spc="-25" dirty="0"/>
              <a:t>1. </a:t>
            </a:r>
            <a:r>
              <a:rPr sz="2000" dirty="0"/>
              <a:t>Here</a:t>
            </a:r>
            <a:r>
              <a:rPr sz="2000" spc="-40" dirty="0"/>
              <a:t> </a:t>
            </a:r>
            <a:r>
              <a:rPr sz="2000" dirty="0"/>
              <a:t>N</a:t>
            </a:r>
            <a:r>
              <a:rPr sz="2000" spc="-35" dirty="0"/>
              <a:t> </a:t>
            </a:r>
            <a:r>
              <a:rPr sz="2000" dirty="0"/>
              <a:t>is</a:t>
            </a:r>
            <a:r>
              <a:rPr sz="2000" spc="-25" dirty="0"/>
              <a:t>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dirty="0"/>
              <a:t>number</a:t>
            </a:r>
            <a:r>
              <a:rPr sz="2000" spc="-40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dirty="0"/>
              <a:t>data</a:t>
            </a:r>
            <a:r>
              <a:rPr sz="2000" spc="-35" dirty="0"/>
              <a:t> </a:t>
            </a:r>
            <a:r>
              <a:rPr sz="2000" spc="-10" dirty="0"/>
              <a:t>elements.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25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098" y="295737"/>
            <a:ext cx="7864251" cy="2844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7887" y="3544503"/>
            <a:ext cx="6756349" cy="301775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26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90650"/>
            <a:ext cx="6793496" cy="276549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039" y="3613289"/>
            <a:ext cx="7824169" cy="22541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27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8004" y="974178"/>
            <a:ext cx="5383530" cy="3308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250" dirty="0">
                <a:latin typeface="Eras Bold ITC"/>
                <a:cs typeface="Eras Bold ITC"/>
              </a:rPr>
              <a:t>Creation</a:t>
            </a:r>
            <a:r>
              <a:rPr sz="2250" spc="20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of</a:t>
            </a:r>
            <a:r>
              <a:rPr sz="2250" spc="45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Series</a:t>
            </a:r>
            <a:r>
              <a:rPr sz="2250" spc="45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from</a:t>
            </a:r>
            <a:r>
              <a:rPr sz="2250" spc="30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Numpy</a:t>
            </a:r>
            <a:r>
              <a:rPr sz="2250" spc="40" dirty="0">
                <a:latin typeface="Eras Bold ITC"/>
                <a:cs typeface="Eras Bold ITC"/>
              </a:rPr>
              <a:t> </a:t>
            </a:r>
            <a:r>
              <a:rPr sz="2250" spc="-10" dirty="0">
                <a:latin typeface="Eras Bold ITC"/>
                <a:cs typeface="Eras Bold ITC"/>
              </a:rPr>
              <a:t>Array</a:t>
            </a:r>
            <a:endParaRPr sz="2250">
              <a:latin typeface="Eras Bold ITC"/>
              <a:cs typeface="Eras Bold IT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366" y="1673809"/>
            <a:ext cx="4055592" cy="48793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7503" y="1953107"/>
            <a:ext cx="4870068" cy="399166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28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1482369"/>
            <a:ext cx="4601057" cy="42440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720902"/>
            <a:ext cx="4495799" cy="424408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29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156830"/>
            <a:ext cx="7245883" cy="454433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30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1161" y="432066"/>
            <a:ext cx="4947920" cy="3308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250" dirty="0">
                <a:latin typeface="Eras Bold ITC"/>
                <a:cs typeface="Eras Bold ITC"/>
              </a:rPr>
              <a:t>Creation</a:t>
            </a:r>
            <a:r>
              <a:rPr sz="2250" spc="20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of</a:t>
            </a:r>
            <a:r>
              <a:rPr sz="2250" spc="40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Series</a:t>
            </a:r>
            <a:r>
              <a:rPr sz="2250" spc="40" dirty="0">
                <a:latin typeface="Eras Bold ITC"/>
                <a:cs typeface="Eras Bold ITC"/>
              </a:rPr>
              <a:t> </a:t>
            </a:r>
            <a:r>
              <a:rPr sz="2250" dirty="0">
                <a:latin typeface="Eras Bold ITC"/>
                <a:cs typeface="Eras Bold ITC"/>
              </a:rPr>
              <a:t>from</a:t>
            </a:r>
            <a:r>
              <a:rPr sz="2250" spc="20" dirty="0">
                <a:latin typeface="Eras Bold ITC"/>
                <a:cs typeface="Eras Bold ITC"/>
              </a:rPr>
              <a:t> </a:t>
            </a:r>
            <a:r>
              <a:rPr sz="2250" spc="-10" dirty="0">
                <a:latin typeface="Eras Bold ITC"/>
                <a:cs typeface="Eras Bold ITC"/>
              </a:rPr>
              <a:t>Dictionary</a:t>
            </a:r>
            <a:endParaRPr sz="2250">
              <a:latin typeface="Eras Bold ITC"/>
              <a:cs typeface="Eras Bold IT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381614"/>
            <a:ext cx="6169098" cy="200940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8200" y="1787067"/>
            <a:ext cx="5172798" cy="21962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5940" y="864406"/>
            <a:ext cx="3577590" cy="297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5080" indent="-233045" algn="just">
              <a:lnSpc>
                <a:spcPct val="136800"/>
              </a:lnSpc>
              <a:spcBef>
                <a:spcPts val="100"/>
              </a:spcBef>
              <a:buFont typeface="Wingdings"/>
              <a:buChar char=""/>
              <a:tabLst>
                <a:tab pos="245745" algn="l"/>
              </a:tabLst>
            </a:pP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Python</a:t>
            </a:r>
            <a:r>
              <a:rPr sz="1950" b="1" spc="3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dictionary</a:t>
            </a:r>
            <a:r>
              <a:rPr sz="1950" b="1" spc="3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has</a:t>
            </a:r>
            <a:r>
              <a:rPr sz="1950" b="1" spc="3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key: 	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value</a:t>
            </a:r>
            <a:r>
              <a:rPr sz="1950" b="1" spc="195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pairs</a:t>
            </a:r>
            <a:r>
              <a:rPr sz="1950" b="1" spc="20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950" b="1" spc="195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950" b="1" spc="195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value 	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can</a:t>
            </a:r>
            <a:r>
              <a:rPr sz="1950" b="1" spc="20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be</a:t>
            </a:r>
            <a:r>
              <a:rPr sz="1950" b="1" spc="20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quickly</a:t>
            </a:r>
            <a:r>
              <a:rPr sz="1950" b="1" spc="21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retrieved 	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when</a:t>
            </a:r>
            <a:r>
              <a:rPr sz="19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its</a:t>
            </a:r>
            <a:r>
              <a:rPr sz="195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key</a:t>
            </a:r>
            <a:r>
              <a:rPr sz="195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is</a:t>
            </a:r>
            <a:r>
              <a:rPr sz="19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known.</a:t>
            </a:r>
            <a:endParaRPr sz="1950">
              <a:latin typeface="Century Gothic"/>
              <a:cs typeface="Century Gothic"/>
            </a:endParaRPr>
          </a:p>
          <a:p>
            <a:pPr marL="245745" indent="-233679" algn="just">
              <a:lnSpc>
                <a:spcPct val="100000"/>
              </a:lnSpc>
              <a:spcBef>
                <a:spcPts val="1095"/>
              </a:spcBef>
              <a:buFont typeface="Wingdings"/>
              <a:buChar char=""/>
              <a:tabLst>
                <a:tab pos="245745" algn="l"/>
              </a:tabLst>
            </a:pP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Dictionary</a:t>
            </a:r>
            <a:r>
              <a:rPr sz="1950" b="1" spc="42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keys</a:t>
            </a:r>
            <a:r>
              <a:rPr sz="1950" b="1" spc="43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can</a:t>
            </a:r>
            <a:r>
              <a:rPr sz="1950" b="1" spc="430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195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be</a:t>
            </a:r>
            <a:endParaRPr sz="1950">
              <a:latin typeface="Century Gothic"/>
              <a:cs typeface="Century Gothic"/>
            </a:endParaRPr>
          </a:p>
          <a:p>
            <a:pPr marL="245745" marR="5080" indent="-635" algn="just">
              <a:lnSpc>
                <a:spcPct val="149700"/>
              </a:lnSpc>
              <a:spcBef>
                <a:spcPts val="10"/>
              </a:spcBef>
            </a:pP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used</a:t>
            </a:r>
            <a:r>
              <a:rPr sz="1950" b="1" spc="2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1950" b="1" spc="2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construct</a:t>
            </a:r>
            <a:r>
              <a:rPr sz="1950" b="1" spc="2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1950" b="1" spc="2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index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for</a:t>
            </a:r>
            <a:r>
              <a:rPr sz="19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9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Series.</a:t>
            </a:r>
            <a:endParaRPr sz="19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31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925089"/>
            <a:ext cx="8312150" cy="3145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1600"/>
              </a:lnSpc>
              <a:spcBef>
                <a:spcPts val="90"/>
              </a:spcBef>
            </a:pP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22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index</a:t>
            </a:r>
            <a:r>
              <a:rPr sz="225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labels are</a:t>
            </a:r>
            <a:r>
              <a:rPr sz="225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passed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25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array,</a:t>
            </a:r>
            <a:r>
              <a:rPr sz="22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sz="22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length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index</a:t>
            </a:r>
            <a:r>
              <a:rPr sz="22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5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array</a:t>
            </a:r>
            <a:r>
              <a:rPr sz="22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must</a:t>
            </a:r>
            <a:r>
              <a:rPr sz="225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2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22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size,</a:t>
            </a:r>
            <a:r>
              <a:rPr sz="225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else</a:t>
            </a:r>
            <a:r>
              <a:rPr sz="22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5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20" dirty="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result</a:t>
            </a:r>
            <a:r>
              <a:rPr sz="22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5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ValueError.</a:t>
            </a:r>
            <a:endParaRPr sz="2250">
              <a:latin typeface="Arial"/>
              <a:cs typeface="Arial"/>
            </a:endParaRPr>
          </a:p>
          <a:p>
            <a:pPr marL="12700" marR="936625" algn="just">
              <a:lnSpc>
                <a:spcPct val="151600"/>
              </a:lnSpc>
              <a:spcBef>
                <a:spcPts val="15"/>
              </a:spcBef>
            </a:pP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sz="22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shown</a:t>
            </a:r>
            <a:r>
              <a:rPr sz="22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below,</a:t>
            </a:r>
            <a:r>
              <a:rPr sz="22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array!</a:t>
            </a:r>
            <a:r>
              <a:rPr sz="22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contains</a:t>
            </a:r>
            <a:r>
              <a:rPr sz="22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22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values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whereas there</a:t>
            </a:r>
            <a:r>
              <a:rPr sz="22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2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sz="225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25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indices,</a:t>
            </a:r>
            <a:r>
              <a:rPr sz="22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hence</a:t>
            </a:r>
            <a:r>
              <a:rPr sz="22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ValueError</a:t>
            </a:r>
            <a:r>
              <a:rPr sz="22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2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displayed.</a:t>
            </a:r>
            <a:endParaRPr sz="22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28045" y="547700"/>
            <a:ext cx="1100455" cy="4546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25"/>
              </a:lnSpc>
            </a:pPr>
            <a:r>
              <a:rPr sz="2900" spc="-10" dirty="0">
                <a:latin typeface="Eras Bold ITC"/>
                <a:cs typeface="Eras Bold ITC"/>
              </a:rPr>
              <a:t>Series</a:t>
            </a:r>
            <a:endParaRPr sz="2900">
              <a:latin typeface="Eras Bold ITC"/>
              <a:cs typeface="Eras Bold IT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7449" y="3733800"/>
            <a:ext cx="5190794" cy="21507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5943600"/>
            <a:ext cx="7786839" cy="47918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2396" y="208788"/>
            <a:ext cx="7239000" cy="647700"/>
            <a:chOff x="882396" y="208788"/>
            <a:chExt cx="7239000" cy="647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6132" y="291084"/>
              <a:ext cx="2747771" cy="3916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76096" y="298703"/>
              <a:ext cx="2708275" cy="352425"/>
            </a:xfrm>
            <a:custGeom>
              <a:avLst/>
              <a:gdLst/>
              <a:ahLst/>
              <a:cxnLst/>
              <a:rect l="l" t="t" r="r" b="b"/>
              <a:pathLst>
                <a:path w="2708275" h="352425">
                  <a:moveTo>
                    <a:pt x="2708147" y="0"/>
                  </a:moveTo>
                  <a:lnTo>
                    <a:pt x="0" y="0"/>
                  </a:lnTo>
                  <a:lnTo>
                    <a:pt x="0" y="352044"/>
                  </a:lnTo>
                  <a:lnTo>
                    <a:pt x="2708147" y="352044"/>
                  </a:lnTo>
                  <a:lnTo>
                    <a:pt x="27081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4280" y="291084"/>
              <a:ext cx="659891" cy="3916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84244" y="298703"/>
              <a:ext cx="620395" cy="352425"/>
            </a:xfrm>
            <a:custGeom>
              <a:avLst/>
              <a:gdLst/>
              <a:ahLst/>
              <a:cxnLst/>
              <a:rect l="l" t="t" r="r" b="b"/>
              <a:pathLst>
                <a:path w="620395" h="352425">
                  <a:moveTo>
                    <a:pt x="620268" y="0"/>
                  </a:moveTo>
                  <a:lnTo>
                    <a:pt x="0" y="0"/>
                  </a:lnTo>
                  <a:lnTo>
                    <a:pt x="0" y="352044"/>
                  </a:lnTo>
                  <a:lnTo>
                    <a:pt x="620268" y="352044"/>
                  </a:lnTo>
                  <a:lnTo>
                    <a:pt x="62026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4548" y="291084"/>
              <a:ext cx="118871" cy="3916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4512" y="291084"/>
              <a:ext cx="3543147" cy="3916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483760" y="298703"/>
              <a:ext cx="3444240" cy="352425"/>
            </a:xfrm>
            <a:custGeom>
              <a:avLst/>
              <a:gdLst/>
              <a:ahLst/>
              <a:cxnLst/>
              <a:rect l="l" t="t" r="r" b="b"/>
              <a:pathLst>
                <a:path w="3444240" h="352425">
                  <a:moveTo>
                    <a:pt x="3444239" y="0"/>
                  </a:moveTo>
                  <a:lnTo>
                    <a:pt x="0" y="0"/>
                  </a:lnTo>
                  <a:lnTo>
                    <a:pt x="0" y="352044"/>
                  </a:lnTo>
                  <a:lnTo>
                    <a:pt x="3444239" y="352044"/>
                  </a:lnTo>
                  <a:lnTo>
                    <a:pt x="344423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2396" y="208788"/>
              <a:ext cx="3095243" cy="6476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0544" y="208788"/>
              <a:ext cx="1007363" cy="6476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90060" y="208788"/>
              <a:ext cx="3831335" cy="64769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63391" y="286004"/>
            <a:ext cx="6877684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latin typeface="Century Gothic"/>
                <a:cs typeface="Century Gothic"/>
              </a:rPr>
              <a:t>Specifying/Adding</a:t>
            </a:r>
            <a:r>
              <a:rPr sz="2250" spc="30" dirty="0">
                <a:latin typeface="Century Gothic"/>
                <a:cs typeface="Century Gothic"/>
              </a:rPr>
              <a:t> </a:t>
            </a:r>
            <a:r>
              <a:rPr sz="2250" dirty="0">
                <a:latin typeface="Century Gothic"/>
                <a:cs typeface="Century Gothic"/>
              </a:rPr>
              <a:t>NaN</a:t>
            </a:r>
            <a:r>
              <a:rPr sz="2250" spc="55" dirty="0">
                <a:latin typeface="Century Gothic"/>
                <a:cs typeface="Century Gothic"/>
              </a:rPr>
              <a:t> </a:t>
            </a:r>
            <a:r>
              <a:rPr sz="2250" dirty="0">
                <a:latin typeface="Century Gothic"/>
                <a:cs typeface="Century Gothic"/>
              </a:rPr>
              <a:t>values</a:t>
            </a:r>
            <a:r>
              <a:rPr sz="2250" spc="60" dirty="0">
                <a:latin typeface="Century Gothic"/>
                <a:cs typeface="Century Gothic"/>
              </a:rPr>
              <a:t> </a:t>
            </a:r>
            <a:r>
              <a:rPr sz="2250" dirty="0">
                <a:latin typeface="Century Gothic"/>
                <a:cs typeface="Century Gothic"/>
              </a:rPr>
              <a:t>in</a:t>
            </a:r>
            <a:r>
              <a:rPr sz="2250" spc="65" dirty="0">
                <a:latin typeface="Century Gothic"/>
                <a:cs typeface="Century Gothic"/>
              </a:rPr>
              <a:t> </a:t>
            </a:r>
            <a:r>
              <a:rPr sz="2250" dirty="0">
                <a:latin typeface="Century Gothic"/>
                <a:cs typeface="Century Gothic"/>
              </a:rPr>
              <a:t>a</a:t>
            </a:r>
            <a:r>
              <a:rPr sz="2250" spc="60" dirty="0">
                <a:latin typeface="Century Gothic"/>
                <a:cs typeface="Century Gothic"/>
              </a:rPr>
              <a:t> </a:t>
            </a:r>
            <a:r>
              <a:rPr sz="2250" dirty="0">
                <a:latin typeface="Century Gothic"/>
                <a:cs typeface="Century Gothic"/>
              </a:rPr>
              <a:t>Series</a:t>
            </a:r>
            <a:r>
              <a:rPr sz="2250" spc="50" dirty="0">
                <a:latin typeface="Century Gothic"/>
                <a:cs typeface="Century Gothic"/>
              </a:rPr>
              <a:t> </a:t>
            </a:r>
            <a:r>
              <a:rPr sz="2250" spc="-10" dirty="0">
                <a:latin typeface="Century Gothic"/>
                <a:cs typeface="Century Gothic"/>
              </a:rPr>
              <a:t>Object</a:t>
            </a:r>
            <a:endParaRPr sz="225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8553" y="393423"/>
            <a:ext cx="8295640" cy="320103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490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32</a:t>
            </a:r>
            <a:endParaRPr sz="2800">
              <a:latin typeface="Century Gothic"/>
              <a:cs typeface="Century Gothic"/>
            </a:endParaRPr>
          </a:p>
          <a:p>
            <a:pPr marL="244475" marR="969644" indent="-232410">
              <a:lnSpc>
                <a:spcPts val="4090"/>
              </a:lnSpc>
              <a:spcBef>
                <a:spcPts val="145"/>
              </a:spcBef>
              <a:buSzPct val="95555"/>
              <a:buFont typeface="Wingdings"/>
              <a:buChar char=""/>
              <a:tabLst>
                <a:tab pos="245745" algn="l"/>
              </a:tabLst>
            </a:pP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Sometimes</a:t>
            </a:r>
            <a:r>
              <a:rPr sz="2250" b="1" spc="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you</a:t>
            </a:r>
            <a:r>
              <a:rPr sz="2250" b="1" spc="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need</a:t>
            </a:r>
            <a:r>
              <a:rPr sz="2250" b="1" spc="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250" b="1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create</a:t>
            </a:r>
            <a:r>
              <a:rPr sz="2250" b="1" spc="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2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series</a:t>
            </a:r>
            <a:r>
              <a:rPr sz="2250" b="1" spc="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object</a:t>
            </a:r>
            <a:r>
              <a:rPr sz="22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2250" b="1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a 	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certain</a:t>
            </a:r>
            <a:r>
              <a:rPr sz="2250" b="1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size</a:t>
            </a:r>
            <a:r>
              <a:rPr sz="22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but</a:t>
            </a:r>
            <a:r>
              <a:rPr sz="2250" b="1" spc="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you</a:t>
            </a:r>
            <a:r>
              <a:rPr sz="2250" b="1" spc="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do</a:t>
            </a:r>
            <a:r>
              <a:rPr sz="22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not</a:t>
            </a:r>
            <a:r>
              <a:rPr sz="2250" b="1" spc="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have</a:t>
            </a:r>
            <a:r>
              <a:rPr sz="2250" b="1" spc="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complete</a:t>
            </a:r>
            <a:r>
              <a:rPr sz="2250" b="1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data 	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available</a:t>
            </a:r>
            <a:r>
              <a:rPr sz="22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at</a:t>
            </a:r>
            <a:r>
              <a:rPr sz="22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that</a:t>
            </a:r>
            <a:r>
              <a:rPr sz="2250" b="1" spc="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time.</a:t>
            </a:r>
            <a:endParaRPr sz="2250">
              <a:latin typeface="Century Gothic"/>
              <a:cs typeface="Century Gothic"/>
            </a:endParaRPr>
          </a:p>
          <a:p>
            <a:pPr marL="244475" marR="996315" indent="-232410">
              <a:lnSpc>
                <a:spcPts val="4100"/>
              </a:lnSpc>
              <a:buSzPct val="95555"/>
              <a:buFont typeface="Wingdings"/>
              <a:buChar char=""/>
              <a:tabLst>
                <a:tab pos="245745" algn="l"/>
              </a:tabLst>
            </a:pP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In</a:t>
            </a:r>
            <a:r>
              <a:rPr sz="2250" b="1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such</a:t>
            </a:r>
            <a:r>
              <a:rPr sz="2250" b="1" spc="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cases,</a:t>
            </a:r>
            <a:r>
              <a:rPr sz="2250" b="1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you</a:t>
            </a:r>
            <a:r>
              <a:rPr sz="2250" b="1" spc="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can</a:t>
            </a:r>
            <a:r>
              <a:rPr sz="2250" b="1" spc="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fill</a:t>
            </a:r>
            <a:r>
              <a:rPr sz="22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missing</a:t>
            </a:r>
            <a:r>
              <a:rPr sz="2250" b="1" spc="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r>
              <a:rPr sz="2250" b="1" spc="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with</a:t>
            </a:r>
            <a:r>
              <a:rPr sz="2250" b="1" spc="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250" b="1" spc="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NaN 	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(Not</a:t>
            </a:r>
            <a:r>
              <a:rPr sz="22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2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Century Gothic"/>
                <a:cs typeface="Century Gothic"/>
              </a:rPr>
              <a:t>Number)</a:t>
            </a:r>
            <a:r>
              <a:rPr sz="2250" b="1" spc="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value.</a:t>
            </a:r>
            <a:endParaRPr sz="2250">
              <a:latin typeface="Century Gothic"/>
              <a:cs typeface="Century Gothic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57400" y="3886200"/>
            <a:ext cx="4680519" cy="25081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33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74700"/>
            <a:ext cx="6248399" cy="31805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3611501"/>
            <a:ext cx="5880811" cy="297179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34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7737" y="1726857"/>
            <a:ext cx="4495792" cy="48029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381000"/>
            <a:ext cx="4267199" cy="476512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945" y="570537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entury Gothic"/>
                <a:cs typeface="Century Gothic"/>
              </a:rPr>
              <a:t>35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762000"/>
            <a:ext cx="5310150" cy="56769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94</TotalTime>
  <Words>806</Words>
  <Application>Microsoft Office PowerPoint</Application>
  <PresentationFormat>A4 Paper (210x297 mm)</PresentationFormat>
  <Paragraphs>155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Yu Gothic</vt:lpstr>
      <vt:lpstr>Arial</vt:lpstr>
      <vt:lpstr>Century Gothic</vt:lpstr>
      <vt:lpstr>Eras Bold ITC</vt:lpstr>
      <vt:lpstr>Futura Bk BT</vt:lpstr>
      <vt:lpstr>Times New Roman</vt:lpstr>
      <vt:lpstr>Wingdings</vt:lpstr>
      <vt:lpstr>Office Theme</vt:lpstr>
      <vt:lpstr>Introduction to Python Libraries:</vt:lpstr>
      <vt:lpstr>PowerPoint Presentation</vt:lpstr>
      <vt:lpstr>PowerPoint Presentation</vt:lpstr>
      <vt:lpstr>PowerPoint Presentation</vt:lpstr>
      <vt:lpstr>Matplotlib Library</vt:lpstr>
      <vt:lpstr>Pandas (Panel Data) Library</vt:lpstr>
      <vt:lpstr>Data Analysis refers to process of evaluating big data</vt:lpstr>
      <vt:lpstr>Differences between Pandas and Numpy:</vt:lpstr>
      <vt:lpstr>PowerPoint Presentation</vt:lpstr>
      <vt:lpstr>Why Pandas?</vt:lpstr>
      <vt:lpstr>Data Structure in Pandas</vt:lpstr>
      <vt:lpstr>Data Structure in Pandas</vt:lpstr>
      <vt:lpstr>PowerPoint Presentation</vt:lpstr>
      <vt:lpstr>PowerPoint Presentation</vt:lpstr>
      <vt:lpstr>PowerPoint Presentation</vt:lpstr>
      <vt:lpstr>:Series:</vt:lpstr>
      <vt:lpstr>PowerPoint Presentation</vt:lpstr>
      <vt:lpstr>19</vt:lpstr>
      <vt:lpstr>Different ways to create Series:</vt:lpstr>
      <vt:lpstr>Creation of Series from Python Sequence</vt:lpstr>
      <vt:lpstr>PowerPoint Presentation</vt:lpstr>
      <vt:lpstr>PowerPoint Presentation</vt:lpstr>
      <vt:lpstr>Creation of Series from Scalar Values</vt:lpstr>
      <vt:lpstr>PowerPoint Presentation</vt:lpstr>
      <vt:lpstr>PowerPoint Presentation</vt:lpstr>
      <vt:lpstr>Creation of Series from Numpy Array</vt:lpstr>
      <vt:lpstr>PowerPoint Presentation</vt:lpstr>
      <vt:lpstr>PowerPoint Presentation</vt:lpstr>
      <vt:lpstr>Creation of Series from Dictionary</vt:lpstr>
      <vt:lpstr>Series</vt:lpstr>
      <vt:lpstr>Specifying/Adding NaN values in a Series Object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PalikaC</cp:lastModifiedBy>
  <cp:revision>3</cp:revision>
  <dcterms:created xsi:type="dcterms:W3CDTF">2025-06-01T23:44:42Z</dcterms:created>
  <dcterms:modified xsi:type="dcterms:W3CDTF">2026-03-25T05:18:23Z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2025-04-10T00:00:00Z</vt:filetime>
  </property>
  <property fmtid="{D5CDD505-2E9C-101B-9397-08002B2CF9AE}" pid="3" name="Creator">
    <vt:lpwstr>Acrobat PDFMaker 24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Adobe PDF Library 24.5.96</vt:lpwstr>
  </property>
</Properties>
</file>