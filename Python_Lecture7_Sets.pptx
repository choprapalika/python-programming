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4" r:id="rId15"/>
    <p:sldId id="275" r:id="rId16"/>
    <p:sldId id="276" r:id="rId17"/>
    <p:sldId id="277" r:id="rId18"/>
    <p:sldId id="272" r:id="rId19"/>
    <p:sldId id="273" r:id="rId20"/>
    <p:sldId id="278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17259"/>
            <a:ext cx="9144000" cy="10375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436750"/>
            <a:ext cx="9144000" cy="44450"/>
          </a:xfrm>
          <a:custGeom>
            <a:avLst/>
            <a:gdLst/>
            <a:ahLst/>
            <a:cxnLst/>
            <a:rect l="l" t="t" r="r" b="b"/>
            <a:pathLst>
              <a:path w="9144000" h="44450">
                <a:moveTo>
                  <a:pt x="9144000" y="0"/>
                </a:moveTo>
                <a:lnTo>
                  <a:pt x="0" y="0"/>
                </a:lnTo>
                <a:lnTo>
                  <a:pt x="0" y="44450"/>
                </a:lnTo>
                <a:lnTo>
                  <a:pt x="9144000" y="444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433830"/>
          </a:xfrm>
          <a:custGeom>
            <a:avLst/>
            <a:gdLst/>
            <a:ahLst/>
            <a:cxnLst/>
            <a:rect l="l" t="t" r="r" b="b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576"/>
                </a:lnTo>
                <a:lnTo>
                  <a:pt x="9144000" y="1433576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5836" y="1519173"/>
            <a:ext cx="584708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www.programiz.com/python-programming/list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www.programiz.com/python-programming/dictionary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www.programiz.com/python-programming/tuple" TargetMode="External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www.programiz.com/python-programming/str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6"/>
            <a:ext cx="9144000" cy="6858634"/>
            <a:chOff x="0" y="-126"/>
            <a:chExt cx="9144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126"/>
              <a:ext cx="9144000" cy="5135880"/>
            </a:xfrm>
            <a:custGeom>
              <a:avLst/>
              <a:gdLst/>
              <a:ahLst/>
              <a:cxnLst/>
              <a:rect l="l" t="t" r="r" b="b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626"/>
                  </a:lnTo>
                  <a:lnTo>
                    <a:pt x="9144000" y="51356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03876"/>
              <a:ext cx="9144000" cy="112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7561"/>
              <a:ext cx="9144000" cy="46355"/>
            </a:xfrm>
            <a:custGeom>
              <a:avLst/>
              <a:gdLst/>
              <a:ahLst/>
              <a:cxnLst/>
              <a:rect l="l" t="t" r="r" b="b"/>
              <a:pathLst>
                <a:path w="9144000" h="46354">
                  <a:moveTo>
                    <a:pt x="9144000" y="0"/>
                  </a:moveTo>
                  <a:lnTo>
                    <a:pt x="0" y="0"/>
                  </a:lnTo>
                  <a:lnTo>
                    <a:pt x="0" y="46037"/>
                  </a:lnTo>
                  <a:lnTo>
                    <a:pt x="9144000" y="4603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908" y="3163824"/>
              <a:ext cx="3602736" cy="914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3547872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834134"/>
            <a:ext cx="756094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Wingdings 2"/>
              <a:buChar char=""/>
              <a:tabLst>
                <a:tab pos="332105" algn="l"/>
              </a:tabLst>
            </a:pPr>
            <a:r>
              <a:rPr sz="2400" dirty="0">
                <a:latin typeface="Corbel"/>
                <a:cs typeface="Corbel"/>
              </a:rPr>
              <a:t>A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set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unordered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collection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items.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Every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element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is </a:t>
            </a:r>
            <a:r>
              <a:rPr sz="2400" dirty="0">
                <a:latin typeface="Corbel"/>
                <a:cs typeface="Corbel"/>
              </a:rPr>
              <a:t>unique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must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immutable.</a:t>
            </a:r>
            <a:endParaRPr sz="2400" dirty="0">
              <a:latin typeface="Corbel"/>
              <a:cs typeface="Corbel"/>
            </a:endParaRPr>
          </a:p>
          <a:p>
            <a:pPr marL="332105" marR="133985" indent="-320040">
              <a:lnSpc>
                <a:spcPct val="100000"/>
              </a:lnSpc>
              <a:buClr>
                <a:srgbClr val="EFAC00"/>
              </a:buClr>
              <a:buSzPct val="79166"/>
              <a:buFont typeface="Wingdings 2"/>
              <a:buChar char=""/>
              <a:tabLst>
                <a:tab pos="332105" algn="l"/>
              </a:tabLst>
            </a:pPr>
            <a:r>
              <a:rPr sz="2400" spc="-20" dirty="0">
                <a:latin typeface="Corbel"/>
                <a:cs typeface="Corbel"/>
              </a:rPr>
              <a:t>However,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set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itself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25" dirty="0">
                <a:latin typeface="Corbel"/>
                <a:cs typeface="Corbel"/>
              </a:rPr>
              <a:t> mutable.</a:t>
            </a:r>
            <a:r>
              <a:rPr sz="2400" spc="-1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can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add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remove </a:t>
            </a:r>
            <a:r>
              <a:rPr sz="2400" dirty="0">
                <a:latin typeface="Corbel"/>
                <a:cs typeface="Corbel"/>
              </a:rPr>
              <a:t>items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from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it.</a:t>
            </a:r>
            <a:endParaRPr sz="2400" dirty="0">
              <a:latin typeface="Corbel"/>
              <a:cs typeface="Corbel"/>
            </a:endParaRPr>
          </a:p>
          <a:p>
            <a:pPr marL="332105" marR="49530" indent="-320040">
              <a:lnSpc>
                <a:spcPct val="100000"/>
              </a:lnSpc>
              <a:buClr>
                <a:srgbClr val="EFAC00"/>
              </a:buClr>
              <a:buSzPct val="79166"/>
              <a:buFont typeface="Wingdings 2"/>
              <a:buChar char=""/>
              <a:tabLst>
                <a:tab pos="332105" algn="l"/>
              </a:tabLst>
            </a:pPr>
            <a:r>
              <a:rPr sz="2400" dirty="0">
                <a:latin typeface="Corbel"/>
                <a:cs typeface="Corbel"/>
              </a:rPr>
              <a:t>Sets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can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used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perform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mathematical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set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operations </a:t>
            </a:r>
            <a:r>
              <a:rPr sz="2400" dirty="0">
                <a:latin typeface="Corbel"/>
                <a:cs typeface="Corbel"/>
              </a:rPr>
              <a:t>like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union,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intersection,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symmetric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difference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etc.</a:t>
            </a:r>
            <a:endParaRPr sz="2400" dirty="0">
              <a:latin typeface="Corbel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4169664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747774"/>
            <a:ext cx="784415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227329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spc="-2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created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placing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elements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inside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curly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braces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{}, </a:t>
            </a:r>
            <a:r>
              <a:rPr sz="2000" dirty="0">
                <a:latin typeface="Arial"/>
                <a:cs typeface="Arial"/>
              </a:rPr>
              <a:t>separated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comma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using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built-in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function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set().</a:t>
            </a:r>
            <a:endParaRPr sz="2000">
              <a:latin typeface="Arial"/>
              <a:cs typeface="Arial"/>
            </a:endParaRPr>
          </a:p>
          <a:p>
            <a:pPr marL="332105" marR="208279" indent="-320040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elements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types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(integer,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float,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tuple,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string etc.).</a:t>
            </a:r>
            <a:endParaRPr sz="2000">
              <a:latin typeface="Arial"/>
              <a:cs typeface="Arial"/>
            </a:endParaRPr>
          </a:p>
          <a:p>
            <a:pPr marL="332105" marR="5080" indent="-320040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dirty="0">
                <a:latin typeface="Arial"/>
                <a:cs typeface="Arial"/>
              </a:rPr>
              <a:t>But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cannot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mutable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element,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like </a:t>
            </a:r>
            <a:r>
              <a:rPr sz="2000" u="sng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Arial"/>
                <a:cs typeface="Arial"/>
                <a:hlinkClick r:id="rId3"/>
              </a:rPr>
              <a:t>list</a:t>
            </a:r>
            <a:r>
              <a:rPr sz="2000" u="none" dirty="0">
                <a:latin typeface="Arial"/>
                <a:cs typeface="Arial"/>
              </a:rPr>
              <a:t>,</a:t>
            </a:r>
            <a:r>
              <a:rPr sz="2000" u="none" spc="-35" dirty="0">
                <a:latin typeface="Arial"/>
                <a:cs typeface="Arial"/>
              </a:rPr>
              <a:t> </a:t>
            </a:r>
            <a:r>
              <a:rPr sz="2000" u="none" dirty="0">
                <a:latin typeface="Arial"/>
                <a:cs typeface="Arial"/>
              </a:rPr>
              <a:t>set</a:t>
            </a:r>
            <a:r>
              <a:rPr sz="2000" u="none" spc="-30" dirty="0">
                <a:latin typeface="Arial"/>
                <a:cs typeface="Arial"/>
              </a:rPr>
              <a:t> </a:t>
            </a:r>
            <a:r>
              <a:rPr sz="2000" u="none" dirty="0">
                <a:latin typeface="Arial"/>
                <a:cs typeface="Arial"/>
              </a:rPr>
              <a:t>or</a:t>
            </a:r>
            <a:r>
              <a:rPr sz="2000" u="none" spc="-15" dirty="0">
                <a:latin typeface="Arial"/>
                <a:cs typeface="Arial"/>
              </a:rPr>
              <a:t> </a:t>
            </a:r>
            <a:r>
              <a:rPr sz="2000" u="sng" spc="-10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Arial"/>
                <a:cs typeface="Arial"/>
                <a:hlinkClick r:id="rId4"/>
              </a:rPr>
              <a:t>dictionary</a:t>
            </a:r>
            <a:r>
              <a:rPr sz="2000" u="none" spc="-10" dirty="0">
                <a:latin typeface="Arial"/>
                <a:cs typeface="Arial"/>
              </a:rPr>
              <a:t>, </a:t>
            </a:r>
            <a:r>
              <a:rPr sz="2000" u="none" dirty="0">
                <a:latin typeface="Arial"/>
                <a:cs typeface="Arial"/>
              </a:rPr>
              <a:t>as</a:t>
            </a:r>
            <a:r>
              <a:rPr sz="2000" u="none" spc="-25" dirty="0">
                <a:latin typeface="Arial"/>
                <a:cs typeface="Arial"/>
              </a:rPr>
              <a:t> </a:t>
            </a:r>
            <a:r>
              <a:rPr sz="2000" u="none" dirty="0">
                <a:latin typeface="Arial"/>
                <a:cs typeface="Arial"/>
              </a:rPr>
              <a:t>its</a:t>
            </a:r>
            <a:r>
              <a:rPr sz="2000" u="none" spc="-20" dirty="0">
                <a:latin typeface="Arial"/>
                <a:cs typeface="Arial"/>
              </a:rPr>
              <a:t> </a:t>
            </a:r>
            <a:r>
              <a:rPr sz="2000" u="none" spc="-10" dirty="0">
                <a:latin typeface="Arial"/>
                <a:cs typeface="Arial"/>
              </a:rPr>
              <a:t>element.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100" y="3810000"/>
            <a:ext cx="5057775" cy="2543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7900" y="3971925"/>
            <a:ext cx="1304925" cy="180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29325" y="4733925"/>
            <a:ext cx="1514475" cy="1333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91225" y="5591175"/>
            <a:ext cx="1409700" cy="133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70" dirty="0"/>
              <a:t> </a:t>
            </a:r>
            <a:r>
              <a:rPr dirty="0"/>
              <a:t>set</a:t>
            </a:r>
            <a:r>
              <a:rPr spc="-85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contain</a:t>
            </a:r>
            <a:r>
              <a:rPr spc="-40" dirty="0"/>
              <a:t> </a:t>
            </a:r>
            <a:r>
              <a:rPr dirty="0"/>
              <a:t>elements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different</a:t>
            </a:r>
            <a:r>
              <a:rPr spc="-45" dirty="0"/>
              <a:t> </a:t>
            </a:r>
            <a:r>
              <a:rPr spc="-20" dirty="0"/>
              <a:t>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925" y="1981200"/>
            <a:ext cx="4019550" cy="12001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515" y="3979328"/>
            <a:ext cx="3611709" cy="12539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5836" y="3348354"/>
            <a:ext cx="3462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cannot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contain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lists.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9871" y="3348354"/>
            <a:ext cx="36766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convert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set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8854" y="4157546"/>
            <a:ext cx="3974795" cy="16136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6423659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662430"/>
            <a:ext cx="7757795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61849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dirty="0">
                <a:latin typeface="Corbel"/>
                <a:cs typeface="Corbel"/>
              </a:rPr>
              <a:t>Sets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are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mutable.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But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since</a:t>
            </a:r>
            <a:r>
              <a:rPr sz="2000" spc="-5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they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are</a:t>
            </a:r>
            <a:r>
              <a:rPr sz="2000" spc="-3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unordered,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indexing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have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spc="-25" dirty="0">
                <a:latin typeface="Corbel"/>
                <a:cs typeface="Corbel"/>
              </a:rPr>
              <a:t>no </a:t>
            </a:r>
            <a:r>
              <a:rPr sz="2000" spc="-10" dirty="0">
                <a:latin typeface="Corbel"/>
                <a:cs typeface="Corbel"/>
              </a:rPr>
              <a:t>meaning.</a:t>
            </a:r>
            <a:endParaRPr sz="2000">
              <a:latin typeface="Corbel"/>
              <a:cs typeface="Corbel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spc="-10" dirty="0">
                <a:latin typeface="Corbel"/>
                <a:cs typeface="Corbel"/>
              </a:rPr>
              <a:t>We</a:t>
            </a:r>
            <a:r>
              <a:rPr sz="2000" spc="-5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cannot</a:t>
            </a:r>
            <a:r>
              <a:rPr sz="2000" spc="-5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access</a:t>
            </a:r>
            <a:r>
              <a:rPr sz="2000" spc="-4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or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change</a:t>
            </a:r>
            <a:r>
              <a:rPr sz="2000" spc="-6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an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element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of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set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using</a:t>
            </a:r>
            <a:r>
              <a:rPr sz="2000" spc="-4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indexing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or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spc="-10" dirty="0">
                <a:latin typeface="Corbel"/>
                <a:cs typeface="Corbel"/>
              </a:rPr>
              <a:t>slicing.</a:t>
            </a:r>
            <a:endParaRPr sz="2000">
              <a:latin typeface="Corbel"/>
              <a:cs typeface="Corbel"/>
            </a:endParaRPr>
          </a:p>
          <a:p>
            <a:pPr marL="332105" marR="732790" indent="-320040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spc="-10" dirty="0">
                <a:latin typeface="Corbel"/>
                <a:cs typeface="Corbel"/>
              </a:rPr>
              <a:t>We</a:t>
            </a:r>
            <a:r>
              <a:rPr sz="2000" spc="-5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can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add</a:t>
            </a:r>
            <a:r>
              <a:rPr sz="2000" spc="-3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single</a:t>
            </a:r>
            <a:r>
              <a:rPr sz="2000" spc="-4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element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using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the </a:t>
            </a:r>
            <a:r>
              <a:rPr sz="2000" b="1" dirty="0">
                <a:latin typeface="Corbel"/>
                <a:cs typeface="Corbel"/>
              </a:rPr>
              <a:t>add()</a:t>
            </a:r>
            <a:r>
              <a:rPr sz="2000" b="1" spc="-6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method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and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spc="-10" dirty="0">
                <a:latin typeface="Corbel"/>
                <a:cs typeface="Corbel"/>
              </a:rPr>
              <a:t>multiple elements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using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the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update()</a:t>
            </a:r>
            <a:r>
              <a:rPr sz="2000" b="1" spc="-55" dirty="0">
                <a:latin typeface="Corbel"/>
                <a:cs typeface="Corbel"/>
              </a:rPr>
              <a:t> </a:t>
            </a:r>
            <a:r>
              <a:rPr sz="2000" spc="-10" dirty="0">
                <a:latin typeface="Corbel"/>
                <a:cs typeface="Corbel"/>
              </a:rPr>
              <a:t>method.</a:t>
            </a:r>
            <a:endParaRPr sz="2000">
              <a:latin typeface="Corbel"/>
              <a:cs typeface="Corbel"/>
            </a:endParaRPr>
          </a:p>
          <a:p>
            <a:pPr marL="332105" marR="259715" indent="-320040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dirty="0">
                <a:latin typeface="Corbel"/>
                <a:cs typeface="Corbel"/>
              </a:rPr>
              <a:t>The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update()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method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can</a:t>
            </a:r>
            <a:r>
              <a:rPr sz="2000" spc="-4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take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u="sng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orbel"/>
                <a:cs typeface="Corbel"/>
                <a:hlinkClick r:id="rId3"/>
              </a:rPr>
              <a:t>tuples</a:t>
            </a:r>
            <a:r>
              <a:rPr sz="2000" u="none" dirty="0">
                <a:latin typeface="Corbel"/>
                <a:cs typeface="Corbel"/>
              </a:rPr>
              <a:t>,</a:t>
            </a:r>
            <a:r>
              <a:rPr sz="2000" u="none" spc="-30" dirty="0">
                <a:latin typeface="Corbel"/>
                <a:cs typeface="Corbel"/>
              </a:rPr>
              <a:t> </a:t>
            </a:r>
            <a:r>
              <a:rPr sz="2000" u="none" dirty="0">
                <a:latin typeface="Corbel"/>
                <a:cs typeface="Corbel"/>
              </a:rPr>
              <a:t>lists,</a:t>
            </a:r>
            <a:r>
              <a:rPr sz="2000" u="none" spc="-35" dirty="0">
                <a:latin typeface="Corbel"/>
                <a:cs typeface="Corbel"/>
              </a:rPr>
              <a:t> </a:t>
            </a:r>
            <a:r>
              <a:rPr sz="2000" u="sng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orbel"/>
                <a:cs typeface="Corbel"/>
                <a:hlinkClick r:id="rId4"/>
              </a:rPr>
              <a:t>strings</a:t>
            </a:r>
            <a:r>
              <a:rPr sz="2000" u="none" spc="-35" dirty="0">
                <a:solidFill>
                  <a:srgbClr val="168AB9"/>
                </a:solidFill>
                <a:latin typeface="Corbel"/>
                <a:cs typeface="Corbel"/>
              </a:rPr>
              <a:t> </a:t>
            </a:r>
            <a:r>
              <a:rPr sz="2000" u="none" dirty="0">
                <a:latin typeface="Corbel"/>
                <a:cs typeface="Corbel"/>
              </a:rPr>
              <a:t>or</a:t>
            </a:r>
            <a:r>
              <a:rPr sz="2000" u="none" spc="-25" dirty="0">
                <a:latin typeface="Corbel"/>
                <a:cs typeface="Corbel"/>
              </a:rPr>
              <a:t> </a:t>
            </a:r>
            <a:r>
              <a:rPr sz="2000" u="none" dirty="0">
                <a:latin typeface="Corbel"/>
                <a:cs typeface="Corbel"/>
              </a:rPr>
              <a:t>other</a:t>
            </a:r>
            <a:r>
              <a:rPr sz="2000" u="none" spc="-30" dirty="0">
                <a:latin typeface="Corbel"/>
                <a:cs typeface="Corbel"/>
              </a:rPr>
              <a:t> </a:t>
            </a:r>
            <a:r>
              <a:rPr sz="2000" u="none" dirty="0">
                <a:latin typeface="Corbel"/>
                <a:cs typeface="Corbel"/>
              </a:rPr>
              <a:t>sets</a:t>
            </a:r>
            <a:r>
              <a:rPr sz="2000" u="none" spc="-30" dirty="0">
                <a:latin typeface="Corbel"/>
                <a:cs typeface="Corbel"/>
              </a:rPr>
              <a:t> </a:t>
            </a:r>
            <a:r>
              <a:rPr sz="2000" u="none" dirty="0">
                <a:latin typeface="Corbel"/>
                <a:cs typeface="Corbel"/>
              </a:rPr>
              <a:t>as</a:t>
            </a:r>
            <a:r>
              <a:rPr sz="2000" u="none" spc="-40" dirty="0">
                <a:latin typeface="Corbel"/>
                <a:cs typeface="Corbel"/>
              </a:rPr>
              <a:t> </a:t>
            </a:r>
            <a:r>
              <a:rPr sz="2000" u="none" spc="-25" dirty="0">
                <a:latin typeface="Corbel"/>
                <a:cs typeface="Corbel"/>
              </a:rPr>
              <a:t>its </a:t>
            </a:r>
            <a:r>
              <a:rPr sz="2000" u="none" spc="-10" dirty="0">
                <a:latin typeface="Corbel"/>
                <a:cs typeface="Corbel"/>
              </a:rPr>
              <a:t>argument.</a:t>
            </a:r>
            <a:endParaRPr sz="2000">
              <a:latin typeface="Corbel"/>
              <a:cs typeface="Corbel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dirty="0">
                <a:latin typeface="Corbel"/>
                <a:cs typeface="Corbel"/>
              </a:rPr>
              <a:t>In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all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cases,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duplicates</a:t>
            </a:r>
            <a:r>
              <a:rPr sz="2000" spc="-1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are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10" dirty="0">
                <a:latin typeface="Corbel"/>
                <a:cs typeface="Corbel"/>
              </a:rPr>
              <a:t>avoided.</a:t>
            </a:r>
            <a:endParaRPr sz="20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6250" y="4314825"/>
            <a:ext cx="3552825" cy="1609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" y="6391275"/>
            <a:ext cx="5810250" cy="1809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114800" y="4295775"/>
            <a:ext cx="4152900" cy="1752600"/>
            <a:chOff x="4114800" y="4295775"/>
            <a:chExt cx="4152900" cy="1752600"/>
          </a:xfrm>
        </p:grpSpPr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1000" y="4295775"/>
              <a:ext cx="4076700" cy="6667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14800" y="4953000"/>
              <a:ext cx="2552700" cy="10953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7717535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95374"/>
            <a:ext cx="715581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1445895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spc="-2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particular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item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removed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using </a:t>
            </a:r>
            <a:r>
              <a:rPr sz="2000" dirty="0">
                <a:latin typeface="Arial"/>
                <a:cs typeface="Arial"/>
              </a:rPr>
              <a:t>methods,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discard()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remove().</a:t>
            </a:r>
            <a:endParaRPr sz="20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dirty="0">
                <a:latin typeface="Arial"/>
                <a:cs typeface="Arial"/>
              </a:rPr>
              <a:t>using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discard()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item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remains</a:t>
            </a:r>
            <a:endParaRPr sz="2000">
              <a:latin typeface="Arial"/>
              <a:cs typeface="Arial"/>
            </a:endParaRPr>
          </a:p>
          <a:p>
            <a:pPr marL="332105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unchanged.</a:t>
            </a:r>
            <a:endParaRPr sz="20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dirty="0">
                <a:latin typeface="Arial"/>
                <a:cs typeface="Arial"/>
              </a:rPr>
              <a:t>But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remove()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raise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error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such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condition.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3171825"/>
            <a:ext cx="4076700" cy="3514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500" y="3657600"/>
            <a:ext cx="357187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5870448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590801"/>
            <a:ext cx="728472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2105" algn="l"/>
              </a:tabLst>
            </a:pPr>
            <a:r>
              <a:rPr sz="3200" dirty="0">
                <a:latin typeface="Arial"/>
                <a:cs typeface="Arial"/>
              </a:rPr>
              <a:t>We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can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test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if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item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exists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set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or </a:t>
            </a:r>
            <a:r>
              <a:rPr sz="3200" dirty="0">
                <a:latin typeface="Arial"/>
                <a:cs typeface="Arial"/>
              </a:rPr>
              <a:t>not,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using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operator.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873" y="2681351"/>
            <a:ext cx="3599726" cy="36799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6309360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236" y="1659382"/>
            <a:ext cx="79730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Wingdings 2"/>
              <a:buChar char=""/>
              <a:tabLst>
                <a:tab pos="332105" algn="l"/>
              </a:tabLst>
            </a:pPr>
            <a:r>
              <a:rPr sz="2400" dirty="0">
                <a:latin typeface="Corbel"/>
                <a:cs typeface="Corbel"/>
              </a:rPr>
              <a:t>Sets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used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carry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out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mathematical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set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operations </a:t>
            </a:r>
            <a:r>
              <a:rPr sz="2400" dirty="0">
                <a:latin typeface="Corbel"/>
                <a:cs typeface="Corbel"/>
              </a:rPr>
              <a:t>like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union,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intersection,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difference</a:t>
            </a:r>
            <a:r>
              <a:rPr sz="2400" spc="-8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symmetric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difference.</a:t>
            </a:r>
            <a:endParaRPr sz="2400">
              <a:latin typeface="Corbel"/>
              <a:cs typeface="Corbel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79166"/>
              <a:buFont typeface="Wingdings 2"/>
              <a:buChar char=""/>
              <a:tabLst>
                <a:tab pos="332105" algn="l"/>
              </a:tabLst>
            </a:pPr>
            <a:r>
              <a:rPr sz="2400" spc="-10" dirty="0">
                <a:latin typeface="Corbel"/>
                <a:cs typeface="Corbel"/>
              </a:rPr>
              <a:t>We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do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this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with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operators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methods.</a:t>
            </a:r>
            <a:endParaRPr sz="2400">
              <a:latin typeface="Corbel"/>
              <a:cs typeface="Corbe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0850" y="3041650"/>
          <a:ext cx="7543800" cy="2983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Method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Operator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union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|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intersection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&amp;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difference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-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21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symmetric_difference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orbel"/>
                          <a:cs typeface="Corbel"/>
                        </a:rPr>
                        <a:t>^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0" y="3494570"/>
            <a:ext cx="1066800" cy="62022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38800" y="4191000"/>
            <a:ext cx="2227580" cy="1828800"/>
            <a:chOff x="5638800" y="4191000"/>
            <a:chExt cx="2227580" cy="18288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9400" y="4191000"/>
              <a:ext cx="1036637" cy="609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8800" y="4800663"/>
              <a:ext cx="1066800" cy="6270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0" y="5410200"/>
              <a:ext cx="1008062" cy="60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828800"/>
            <a:ext cx="3819525" cy="1857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50" y="4724400"/>
            <a:ext cx="4391025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734" y="1697732"/>
            <a:ext cx="8928100" cy="4127500"/>
            <a:chOff x="173734" y="1697732"/>
            <a:chExt cx="8928100" cy="412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34" y="1697732"/>
              <a:ext cx="8927595" cy="4126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1752599"/>
              <a:ext cx="8763000" cy="396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550" y="1733549"/>
              <a:ext cx="8801100" cy="4000500"/>
            </a:xfrm>
            <a:custGeom>
              <a:avLst/>
              <a:gdLst/>
              <a:ahLst/>
              <a:cxnLst/>
              <a:rect l="l" t="t" r="r" b="b"/>
              <a:pathLst>
                <a:path w="8801100" h="4000500">
                  <a:moveTo>
                    <a:pt x="0" y="4000500"/>
                  </a:moveTo>
                  <a:lnTo>
                    <a:pt x="8801100" y="4000500"/>
                  </a:lnTo>
                  <a:lnTo>
                    <a:pt x="8801100" y="0"/>
                  </a:lnTo>
                  <a:lnTo>
                    <a:pt x="0" y="0"/>
                  </a:lnTo>
                  <a:lnTo>
                    <a:pt x="0" y="40005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2334" y="1697732"/>
            <a:ext cx="8374380" cy="4127500"/>
            <a:chOff x="402334" y="1697732"/>
            <a:chExt cx="8374380" cy="412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334" y="1697732"/>
              <a:ext cx="8374383" cy="4126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9" y="1752599"/>
              <a:ext cx="8210677" cy="396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8149" y="1733549"/>
              <a:ext cx="8249284" cy="4000500"/>
            </a:xfrm>
            <a:custGeom>
              <a:avLst/>
              <a:gdLst/>
              <a:ahLst/>
              <a:cxnLst/>
              <a:rect l="l" t="t" r="r" b="b"/>
              <a:pathLst>
                <a:path w="8249284" h="4000500">
                  <a:moveTo>
                    <a:pt x="0" y="4000500"/>
                  </a:moveTo>
                  <a:lnTo>
                    <a:pt x="8248777" y="4000500"/>
                  </a:lnTo>
                  <a:lnTo>
                    <a:pt x="8248777" y="0"/>
                  </a:lnTo>
                  <a:lnTo>
                    <a:pt x="0" y="0"/>
                  </a:lnTo>
                  <a:lnTo>
                    <a:pt x="0" y="40005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905000"/>
            <a:ext cx="7164162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6803135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9636" y="1662430"/>
            <a:ext cx="815657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spc="-10" dirty="0">
                <a:latin typeface="Corbel"/>
                <a:cs typeface="Corbel"/>
              </a:rPr>
              <a:t>We</a:t>
            </a:r>
            <a:r>
              <a:rPr sz="2000" spc="-5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have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seen</a:t>
            </a:r>
            <a:r>
              <a:rPr sz="2000" spc="-4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the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applications</a:t>
            </a:r>
            <a:r>
              <a:rPr sz="2000" spc="-7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of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i="1" dirty="0">
                <a:latin typeface="Corbel"/>
                <a:cs typeface="Corbel"/>
              </a:rPr>
              <a:t>union,</a:t>
            </a:r>
            <a:r>
              <a:rPr sz="2000" i="1" spc="-30" dirty="0">
                <a:latin typeface="Corbel"/>
                <a:cs typeface="Corbel"/>
              </a:rPr>
              <a:t> </a:t>
            </a:r>
            <a:r>
              <a:rPr sz="2000" i="1" spc="-10" dirty="0">
                <a:latin typeface="Corbel"/>
                <a:cs typeface="Corbel"/>
              </a:rPr>
              <a:t>intersection,</a:t>
            </a:r>
            <a:endParaRPr sz="2000">
              <a:latin typeface="Corbel"/>
              <a:cs typeface="Corbel"/>
            </a:endParaRPr>
          </a:p>
          <a:p>
            <a:pPr marL="332740" marR="5080">
              <a:lnSpc>
                <a:spcPct val="100000"/>
              </a:lnSpc>
            </a:pPr>
            <a:r>
              <a:rPr sz="2000" i="1" dirty="0">
                <a:latin typeface="Corbel"/>
                <a:cs typeface="Corbel"/>
              </a:rPr>
              <a:t>difference</a:t>
            </a:r>
            <a:r>
              <a:rPr sz="2000" i="1" spc="-6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and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i="1" dirty="0">
                <a:latin typeface="Corbel"/>
                <a:cs typeface="Corbel"/>
              </a:rPr>
              <a:t>symmetric</a:t>
            </a:r>
            <a:r>
              <a:rPr sz="2000" i="1" spc="-45" dirty="0">
                <a:latin typeface="Corbel"/>
                <a:cs typeface="Corbel"/>
              </a:rPr>
              <a:t> </a:t>
            </a:r>
            <a:r>
              <a:rPr sz="2000" i="1" dirty="0">
                <a:latin typeface="Corbel"/>
                <a:cs typeface="Corbel"/>
              </a:rPr>
              <a:t>difference</a:t>
            </a:r>
            <a:r>
              <a:rPr sz="2000" i="1" spc="-5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operations,</a:t>
            </a:r>
            <a:r>
              <a:rPr sz="2000" spc="-5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but</a:t>
            </a:r>
            <a:r>
              <a:rPr sz="2000" spc="-1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these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operations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do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25" dirty="0">
                <a:latin typeface="Corbel"/>
                <a:cs typeface="Corbel"/>
              </a:rPr>
              <a:t>not </a:t>
            </a:r>
            <a:r>
              <a:rPr sz="2000" dirty="0">
                <a:latin typeface="Corbel"/>
                <a:cs typeface="Corbel"/>
              </a:rPr>
              <a:t>make</a:t>
            </a:r>
            <a:r>
              <a:rPr sz="2000" spc="-4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any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changes</a:t>
            </a:r>
            <a:r>
              <a:rPr sz="2000" spc="-5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or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mutations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to</a:t>
            </a:r>
            <a:r>
              <a:rPr sz="2000" spc="-3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the</a:t>
            </a:r>
            <a:r>
              <a:rPr sz="2000" spc="-25" dirty="0">
                <a:latin typeface="Corbel"/>
                <a:cs typeface="Corbel"/>
              </a:rPr>
              <a:t> </a:t>
            </a:r>
            <a:r>
              <a:rPr sz="2000" spc="-20" dirty="0">
                <a:latin typeface="Corbel"/>
                <a:cs typeface="Corbel"/>
              </a:rPr>
              <a:t>set.</a:t>
            </a:r>
            <a:endParaRPr sz="2000">
              <a:latin typeface="Corbel"/>
              <a:cs typeface="Corbel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000"/>
              <a:buFont typeface="Wingdings 2"/>
              <a:buChar char=""/>
              <a:tabLst>
                <a:tab pos="332105" algn="l"/>
              </a:tabLst>
            </a:pPr>
            <a:r>
              <a:rPr sz="2000" b="1" spc="-10" dirty="0">
                <a:latin typeface="Corbel"/>
                <a:cs typeface="Corbel"/>
              </a:rPr>
              <a:t>We</a:t>
            </a:r>
            <a:r>
              <a:rPr sz="2000" b="1" spc="-4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can</a:t>
            </a:r>
            <a:r>
              <a:rPr sz="2000" b="1" spc="-3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use</a:t>
            </a:r>
            <a:r>
              <a:rPr sz="2000" b="1" spc="-4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the</a:t>
            </a:r>
            <a:r>
              <a:rPr sz="2000" b="1" spc="-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following</a:t>
            </a:r>
            <a:r>
              <a:rPr sz="2000" b="1" spc="-2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operations</a:t>
            </a:r>
            <a:r>
              <a:rPr sz="2000" b="1" spc="-3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to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create</a:t>
            </a:r>
            <a:r>
              <a:rPr sz="2000" b="1" spc="-4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mutations</a:t>
            </a:r>
            <a:r>
              <a:rPr sz="2000" b="1" spc="-2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to</a:t>
            </a:r>
            <a:r>
              <a:rPr sz="2000" b="1" spc="-3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a</a:t>
            </a:r>
            <a:r>
              <a:rPr sz="2000" b="1" spc="-30" dirty="0">
                <a:latin typeface="Corbel"/>
                <a:cs typeface="Corbel"/>
              </a:rPr>
              <a:t> </a:t>
            </a:r>
            <a:r>
              <a:rPr sz="2000" b="1" spc="-20" dirty="0">
                <a:latin typeface="Corbel"/>
                <a:cs typeface="Corbel"/>
              </a:rPr>
              <a:t>set:</a:t>
            </a:r>
            <a:endParaRPr sz="2000">
              <a:latin typeface="Corbel"/>
              <a:cs typeface="Corbe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8450" y="3041650"/>
          <a:ext cx="8610599" cy="3540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7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Method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Operator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F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|=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Update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by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adding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elements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from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an</a:t>
                      </a:r>
                      <a:r>
                        <a:rPr sz="1800" spc="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iterable/another</a:t>
                      </a:r>
                      <a:r>
                        <a:rPr sz="1800" spc="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set.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orbel"/>
                          <a:cs typeface="Corbel"/>
                        </a:rPr>
                        <a:t>intersection_update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&amp;=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657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Update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by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keeping</a:t>
                      </a:r>
                      <a:r>
                        <a:rPr sz="18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only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the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elements</a:t>
                      </a:r>
                      <a:r>
                        <a:rPr sz="1800" spc="-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found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it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and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an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iterable/another</a:t>
                      </a:r>
                      <a:r>
                        <a:rPr sz="1800" spc="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set.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Difference_update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-</a:t>
                      </a:r>
                      <a:r>
                        <a:rPr sz="1800" spc="-50" dirty="0">
                          <a:latin typeface="Corbel"/>
                          <a:cs typeface="Corbel"/>
                        </a:rPr>
                        <a:t>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28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Update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by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removing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elements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found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an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iterable/another</a:t>
                      </a:r>
                      <a:r>
                        <a:rPr sz="1800" spc="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set.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symmetric_difference_update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orbel"/>
                          <a:cs typeface="Corbel"/>
                        </a:rPr>
                        <a:t>^=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7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Update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by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only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keeping</a:t>
                      </a:r>
                      <a:r>
                        <a:rPr sz="18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the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elements</a:t>
                      </a:r>
                      <a:r>
                        <a:rPr sz="1800" spc="-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found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either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set,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but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not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both.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F0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1019"/>
            <a:ext cx="6213559" cy="471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60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7061316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06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73152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27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7467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50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236" y="1828038"/>
            <a:ext cx="7814309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2105" algn="l"/>
              </a:tabLst>
            </a:pPr>
            <a:r>
              <a:rPr sz="3200" spc="-10" dirty="0">
                <a:latin typeface="Corbel"/>
                <a:cs typeface="Corbel"/>
              </a:rPr>
              <a:t>Isdisjoint–</a:t>
            </a:r>
            <a:r>
              <a:rPr sz="3200" spc="-25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This</a:t>
            </a:r>
            <a:r>
              <a:rPr sz="3200" spc="-3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method</a:t>
            </a:r>
            <a:r>
              <a:rPr sz="3200" spc="-3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will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spc="-20" dirty="0">
                <a:latin typeface="Corbel"/>
                <a:cs typeface="Corbel"/>
              </a:rPr>
              <a:t>return</a:t>
            </a:r>
            <a:r>
              <a:rPr sz="3200" spc="-220" dirty="0">
                <a:latin typeface="Corbel"/>
                <a:cs typeface="Corbel"/>
              </a:rPr>
              <a:t> </a:t>
            </a:r>
            <a:r>
              <a:rPr sz="3200" spc="-25" dirty="0">
                <a:latin typeface="Corbel"/>
                <a:cs typeface="Corbel"/>
              </a:rPr>
              <a:t>True</a:t>
            </a:r>
            <a:r>
              <a:rPr sz="3200" spc="-1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if</a:t>
            </a:r>
            <a:r>
              <a:rPr sz="3200" spc="-35" dirty="0">
                <a:latin typeface="Corbel"/>
                <a:cs typeface="Corbel"/>
              </a:rPr>
              <a:t> </a:t>
            </a:r>
            <a:r>
              <a:rPr sz="3200" spc="-25" dirty="0">
                <a:latin typeface="Corbel"/>
                <a:cs typeface="Corbel"/>
              </a:rPr>
              <a:t>two </a:t>
            </a:r>
            <a:r>
              <a:rPr sz="3200" dirty="0">
                <a:latin typeface="Corbel"/>
                <a:cs typeface="Corbel"/>
              </a:rPr>
              <a:t>set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have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null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spc="-10" dirty="0">
                <a:latin typeface="Corbel"/>
                <a:cs typeface="Corbel"/>
              </a:rPr>
              <a:t>intersection</a:t>
            </a:r>
            <a:endParaRPr sz="3200">
              <a:latin typeface="Corbel"/>
              <a:cs typeface="Corbel"/>
            </a:endParaRPr>
          </a:p>
          <a:p>
            <a:pPr marL="332105" marR="881380" indent="-320040">
              <a:lnSpc>
                <a:spcPct val="100000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2105" algn="l"/>
              </a:tabLst>
            </a:pPr>
            <a:r>
              <a:rPr sz="3200" dirty="0">
                <a:latin typeface="Corbel"/>
                <a:cs typeface="Corbel"/>
              </a:rPr>
              <a:t>Issubset</a:t>
            </a:r>
            <a:r>
              <a:rPr sz="3200" spc="-8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–</a:t>
            </a:r>
            <a:r>
              <a:rPr sz="3200" spc="-229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This</a:t>
            </a:r>
            <a:r>
              <a:rPr sz="3200" spc="-5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method</a:t>
            </a:r>
            <a:r>
              <a:rPr sz="3200" spc="-6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reports</a:t>
            </a:r>
            <a:r>
              <a:rPr sz="3200" spc="-40" dirty="0">
                <a:latin typeface="Corbel"/>
                <a:cs typeface="Corbel"/>
              </a:rPr>
              <a:t> </a:t>
            </a:r>
            <a:r>
              <a:rPr sz="3200" spc="-10" dirty="0">
                <a:latin typeface="Corbel"/>
                <a:cs typeface="Corbel"/>
              </a:rPr>
              <a:t>whether </a:t>
            </a:r>
            <a:r>
              <a:rPr sz="3200" dirty="0">
                <a:latin typeface="Corbel"/>
                <a:cs typeface="Corbel"/>
              </a:rPr>
              <a:t>another</a:t>
            </a:r>
            <a:r>
              <a:rPr sz="3200" spc="-5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set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contains</a:t>
            </a:r>
            <a:r>
              <a:rPr sz="3200" spc="-3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this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spc="-25" dirty="0">
                <a:latin typeface="Corbel"/>
                <a:cs typeface="Corbel"/>
              </a:rPr>
              <a:t>set</a:t>
            </a:r>
            <a:endParaRPr sz="3200">
              <a:latin typeface="Corbel"/>
              <a:cs typeface="Corbel"/>
            </a:endParaRPr>
          </a:p>
          <a:p>
            <a:pPr marL="332105" marR="60325" indent="-320040">
              <a:lnSpc>
                <a:spcPct val="100000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2105" algn="l"/>
              </a:tabLst>
            </a:pPr>
            <a:r>
              <a:rPr sz="3200" dirty="0">
                <a:latin typeface="Corbel"/>
                <a:cs typeface="Corbel"/>
              </a:rPr>
              <a:t>Issuperset</a:t>
            </a:r>
            <a:r>
              <a:rPr sz="3200" spc="-5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–</a:t>
            </a:r>
            <a:r>
              <a:rPr sz="3200" spc="-229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This</a:t>
            </a:r>
            <a:r>
              <a:rPr sz="3200" spc="-5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method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will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report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spc="-10" dirty="0">
                <a:latin typeface="Corbel"/>
                <a:cs typeface="Corbel"/>
              </a:rPr>
              <a:t>whether </a:t>
            </a:r>
            <a:r>
              <a:rPr sz="3200" dirty="0">
                <a:latin typeface="Corbel"/>
                <a:cs typeface="Corbel"/>
              </a:rPr>
              <a:t>this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set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contains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another</a:t>
            </a:r>
            <a:r>
              <a:rPr sz="3200" spc="-35" dirty="0">
                <a:latin typeface="Corbel"/>
                <a:cs typeface="Corbel"/>
              </a:rPr>
              <a:t> </a:t>
            </a:r>
            <a:r>
              <a:rPr sz="3200" spc="-25" dirty="0">
                <a:latin typeface="Corbel"/>
                <a:cs typeface="Corbel"/>
              </a:rPr>
              <a:t>set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2023998"/>
            <a:ext cx="799147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667000"/>
            <a:ext cx="853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u="sng" dirty="0" err="1" smtClean="0"/>
              <a:t>Aaj</a:t>
            </a:r>
            <a:r>
              <a:rPr lang="en-US" sz="3600" u="sng" dirty="0" smtClean="0"/>
              <a:t> </a:t>
            </a:r>
            <a:r>
              <a:rPr lang="en-US" sz="3600" u="sng" dirty="0" err="1" smtClean="0"/>
              <a:t>Ka</a:t>
            </a:r>
            <a:r>
              <a:rPr lang="en-US" sz="3600" u="sng" dirty="0" smtClean="0"/>
              <a:t> </a:t>
            </a:r>
            <a:r>
              <a:rPr lang="en-US" sz="3600" u="sng" dirty="0" err="1" smtClean="0"/>
              <a:t>Gyan</a:t>
            </a:r>
            <a:r>
              <a:rPr lang="en-US" sz="3600" u="sng" dirty="0" smtClean="0"/>
              <a:t>:</a:t>
            </a:r>
          </a:p>
          <a:p>
            <a:pPr algn="just"/>
            <a:endParaRPr lang="en-US" sz="3600" dirty="0"/>
          </a:p>
          <a:p>
            <a:pPr algn="just"/>
            <a:endParaRPr lang="en-US" sz="3600" dirty="0" smtClean="0"/>
          </a:p>
          <a:p>
            <a:pPr algn="just"/>
            <a:r>
              <a:rPr lang="en-US" sz="3600" dirty="0" smtClean="0"/>
              <a:t>“Keep what’s unique, remove what’s repeated—life and sets both become simpler.”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5044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478</Words>
  <Application>Microsoft Office PowerPoint</Application>
  <PresentationFormat>On-screen Show (4:3)</PresentationFormat>
  <Paragraphs>56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Corbel</vt:lpstr>
      <vt:lpstr>Times New Roman</vt:lpstr>
      <vt:lpstr>Wingdings 2</vt:lpstr>
      <vt:lpstr>Office Theme</vt:lpstr>
      <vt:lpstr>PowerPoint Presentation</vt:lpstr>
      <vt:lpstr>PowerPoint Presentation</vt:lpstr>
      <vt:lpstr>PowerPoint Presentation</vt:lpstr>
      <vt:lpstr>A set can contain elements of different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mohammed.sikander</dc:creator>
  <cp:lastModifiedBy>PalikaC</cp:lastModifiedBy>
  <cp:revision>3</cp:revision>
  <dcterms:created xsi:type="dcterms:W3CDTF">2025-06-01T13:24:13Z</dcterms:created>
  <dcterms:modified xsi:type="dcterms:W3CDTF">2026-02-04T05:30:27Z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2019-02-15T00:00:00Z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2025-06-01T00:00:00Z</vt:filetime>
  </property>
  <property fmtid="{D5CDD505-2E9C-101B-9397-08002B2CF9AE}" pid="5" name="Producer">
    <vt:lpwstr>Microsoft® Office PowerPoint® 2007</vt:lpwstr>
  </property>
</Properties>
</file>