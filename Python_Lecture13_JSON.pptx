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1" r:id="rId5"/>
    <p:sldId id="259" r:id="rId6"/>
    <p:sldId id="292" r:id="rId7"/>
    <p:sldId id="293" r:id="rId8"/>
    <p:sldId id="267" r:id="rId9"/>
    <p:sldId id="260" r:id="rId10"/>
    <p:sldId id="270" r:id="rId11"/>
    <p:sldId id="261" r:id="rId12"/>
    <p:sldId id="262" r:id="rId13"/>
    <p:sldId id="271" r:id="rId14"/>
    <p:sldId id="294" r:id="rId15"/>
    <p:sldId id="273" r:id="rId16"/>
    <p:sldId id="268" r:id="rId17"/>
    <p:sldId id="274" r:id="rId18"/>
    <p:sldId id="263" r:id="rId19"/>
    <p:sldId id="264" r:id="rId20"/>
    <p:sldId id="290" r:id="rId21"/>
    <p:sldId id="265" r:id="rId22"/>
    <p:sldId id="283" r:id="rId23"/>
    <p:sldId id="284" r:id="rId24"/>
    <p:sldId id="288" r:id="rId25"/>
    <p:sldId id="285" r:id="rId26"/>
    <p:sldId id="29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FA23BB-E58E-4102-B8DC-5BAE99D17ED8}">
          <p14:sldIdLst>
            <p14:sldId id="256"/>
            <p14:sldId id="257"/>
            <p14:sldId id="258"/>
            <p14:sldId id="291"/>
            <p14:sldId id="259"/>
            <p14:sldId id="292"/>
            <p14:sldId id="293"/>
            <p14:sldId id="267"/>
            <p14:sldId id="260"/>
            <p14:sldId id="270"/>
            <p14:sldId id="261"/>
            <p14:sldId id="262"/>
            <p14:sldId id="271"/>
            <p14:sldId id="294"/>
            <p14:sldId id="273"/>
            <p14:sldId id="268"/>
            <p14:sldId id="274"/>
            <p14:sldId id="263"/>
            <p14:sldId id="264"/>
            <p14:sldId id="290"/>
            <p14:sldId id="265"/>
            <p14:sldId id="283"/>
            <p14:sldId id="284"/>
            <p14:sldId id="288"/>
            <p14:sldId id="285"/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12AB-95B1-4712-1908-49B9E4F64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739CF-7014-7BE2-20AE-3586B2273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03C9-7344-56AE-DB93-8DF842AE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FC90-6831-6E76-BFD2-87B53C832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AC543-B36F-52D6-FB72-DC4B963E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3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190B-40B3-4D4B-204A-8887C7FB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8B2BC-39B9-1174-24B3-00E815349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EF98D-5864-2571-572C-BE4975ED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8FC0A-8EC6-92B4-6102-416C5DBF4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0DEEF-CD5C-53FA-DD20-D2553024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0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B8513-D3B1-7920-BC1B-B54A8960D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DAB3D-B2C0-2A44-D0EB-D3216AA005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84301-F5F6-56B4-5C5D-CD35F600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7099-FFC5-512B-E812-046F75C3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89DFB-C1B7-6196-BA18-77FC1B74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23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FEF8-ED61-19D9-BC13-834322D49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8F7D4-AF75-1EB5-BBD0-6207A3008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EABAC-92E1-9E28-4E57-4F213C4A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D248D-0288-3D8A-CC1F-1B1DFFFB4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56A9A-D90F-8AE7-6A1B-76D45D355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6E162-6A8B-47AC-1AF7-88CCDC22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39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13C4-840C-5B9E-DD7D-B42D7D2C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0238A-0C5B-B399-A7BB-1273108FC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0CB17-FB8F-5EE2-E023-80C8989B6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EF265-A202-2348-E533-8988D7842D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4A3486-BB4E-249C-635B-D98EB6F04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67D3B-F49F-0192-B5BE-86A63920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FA114-6A2A-25E0-D553-B31680B56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7A8A23-5F95-4B9E-A9DB-7496FB44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02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BAC3-8320-BE91-A5B2-D3C0956A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9EA3A8-AF41-A246-B71A-1053D152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DF770-5502-C1D7-46E1-D84A9F785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93309-BDF0-3955-FDBF-871101C5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480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670A88-21FE-06F7-335E-A43F65604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D6C7B-95AE-C316-7FBC-0D4232C7E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29517-D490-93AC-3D12-7E607197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4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AD8B0-AAA9-2DA6-C080-07C3923E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6AEA-D834-2E77-147D-D375CC00D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96A08-1A8C-2210-F17E-CE9964B86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7C06CA-73F8-5D07-B091-F4875387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95FAC-EFC3-881A-8344-5C266B4D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21D7E-2975-7EF1-41CB-DDE08678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08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878E-0283-09DE-9839-6BAFC99A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A23D1E-F41D-3B3A-177D-A719D4B366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151BE-BBDB-0529-B9A0-5A9A9320E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E1718-D5C0-80E5-73B0-44D333AB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2CE8B-EF9B-840F-E1F6-B6567AA2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4F9FB-01DC-B40B-CE00-8DF0DF45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16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0DE96-A071-2907-87B9-6EEA416A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276B7-4087-9916-7BB4-9ED903B12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91AFF-1652-0253-B05A-CBB74561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C5E47-7494-00F9-6109-31C459ED2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C2104-FC22-38CA-4C78-8B65FB75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69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41135-5C18-C994-BD99-C13F31DB7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EED53-1A03-DA66-E9AF-254C4D792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9F71E-17D5-2901-922D-5DDF37AF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402CF-5F93-5F38-BB1A-B4F1E35A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F4E96-021F-9126-5CB5-FFA335013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26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E35713-F1CC-80D4-5EB1-48AB36139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0A9CD-0D6A-C655-EC0B-0222636F2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F5B2D-889B-7700-95C5-C2E1E599F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6FEED-E26B-4E2C-8C12-0EDFEB9B2FEB}" type="datetimeFigureOut">
              <a:rPr lang="en-IN" smtClean="0"/>
              <a:pPr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F57A5-89C6-A45D-5311-3AF1077F6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F86EF-5304-9E4F-93DD-E0F5D9B8C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2A0FD-ACFA-4DCB-8D12-99ACD22F827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047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How To Load Json file Using Python">
            <a:extLst>
              <a:ext uri="{FF2B5EF4-FFF2-40B4-BE49-F238E27FC236}">
                <a16:creationId xmlns:a16="http://schemas.microsoft.com/office/drawing/2014/main" id="{6C53EFD6-9893-85A2-D9D4-3B714CDE59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9ECDF-1026-CEFC-3DF6-746CB1DEE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94" y="354509"/>
            <a:ext cx="10488706" cy="57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9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F1867B-123B-AD5C-7876-F15A332E7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71" y="2819400"/>
            <a:ext cx="11770229" cy="40385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FF92DA9-DF87-C5D0-39AE-B0BBF4AC2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6" y="165099"/>
            <a:ext cx="3633694" cy="774701"/>
          </a:xfrm>
          <a:solidFill>
            <a:srgbClr val="00B0F0"/>
          </a:solidFill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What is JSON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BD900-9703-DBF8-1364-7F998A6DFCB1}"/>
              </a:ext>
            </a:extLst>
          </p:cNvPr>
          <p:cNvSpPr txBox="1"/>
          <p:nvPr/>
        </p:nvSpPr>
        <p:spPr>
          <a:xfrm>
            <a:off x="240024" y="994333"/>
            <a:ext cx="11711952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JSON (JavaScript Object Notation) is a popular data format used for representing structured data. It's common to transmit and receive data between a server and web application in JSON format.</a:t>
            </a:r>
          </a:p>
          <a:p>
            <a:pPr marL="285750" indent="-28575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2">
                    <a:lumMod val="50000"/>
                  </a:schemeClr>
                </a:solidFill>
                <a:effectLst/>
                <a:latin typeface="Lato" panose="020F0502020204030203" pitchFamily="34" charset="0"/>
              </a:rPr>
              <a:t>JSON was inspired by the JavaScript programming language, but it's not tied to only one language.</a:t>
            </a:r>
          </a:p>
          <a:p>
            <a:pPr marL="285750" indent="-285750" algn="l" fontAlgn="base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Most modern programming languages have libraries for parsing and generating JSON data</a:t>
            </a:r>
            <a:r>
              <a:rPr lang="en-US" b="0" i="0" dirty="0" smtClean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89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8A9C-A612-76B2-55D9-7A795CD5A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63525"/>
            <a:ext cx="5613400" cy="106997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Why do we use JSON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D4096-972A-5C61-EB53-AEF439F82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49759" cy="434657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IN" dirty="0">
                <a:solidFill>
                  <a:srgbClr val="0070C0"/>
                </a:solidFill>
              </a:rPr>
              <a:t>JSON has a more compact style than XML </a:t>
            </a:r>
            <a:r>
              <a:rPr lang="en-US" b="0" i="0" dirty="0">
                <a:solidFill>
                  <a:srgbClr val="0070C0"/>
                </a:solidFill>
                <a:effectLst/>
                <a:latin typeface="Lato" panose="020F0502020204030203" pitchFamily="34" charset="0"/>
              </a:rPr>
              <a:t>which was the format of choice years ago</a:t>
            </a:r>
            <a:r>
              <a:rPr lang="en-IN" dirty="0">
                <a:solidFill>
                  <a:srgbClr val="0070C0"/>
                </a:solidFill>
              </a:rPr>
              <a:t>. The light-weight approach can make significant improvements</a:t>
            </a:r>
            <a:r>
              <a:rPr lang="en-IN" dirty="0" smtClean="0">
                <a:solidFill>
                  <a:srgbClr val="0070C0"/>
                </a:solidFill>
              </a:rPr>
              <a:t>.</a:t>
            </a:r>
          </a:p>
          <a:p>
            <a:endParaRPr lang="en-IN" dirty="0"/>
          </a:p>
          <a:p>
            <a:pPr algn="just"/>
            <a:r>
              <a:rPr lang="en-IN" dirty="0">
                <a:solidFill>
                  <a:srgbClr val="7030A0"/>
                </a:solidFill>
              </a:rPr>
              <a:t>The XML software parsing process can take a long time. JSON uses less data overall, so you reduce the cost and increase the parsing speed</a:t>
            </a:r>
            <a:r>
              <a:rPr lang="en-IN" dirty="0" smtClean="0">
                <a:solidFill>
                  <a:srgbClr val="7030A0"/>
                </a:solidFill>
              </a:rPr>
              <a:t>.</a:t>
            </a:r>
          </a:p>
          <a:p>
            <a:endParaRPr lang="en-IN" dirty="0"/>
          </a:p>
          <a:p>
            <a:pPr algn="just"/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The JSON structure is straight forward and often more readable.</a:t>
            </a:r>
          </a:p>
        </p:txBody>
      </p:sp>
    </p:spTree>
    <p:extLst>
      <p:ext uri="{BB962C8B-B14F-4D97-AF65-F5344CB8AC3E}">
        <p14:creationId xmlns:p14="http://schemas.microsoft.com/office/powerpoint/2010/main" val="124614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05CF-3BB7-D2C7-9C67-5535D72BF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101"/>
            <a:ext cx="4267200" cy="977900"/>
          </a:xfrm>
          <a:solidFill>
            <a:srgbClr val="92D050"/>
          </a:solidFill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chemeClr val="accent1"/>
                </a:solidFill>
              </a:rPr>
              <a:t/>
            </a:r>
            <a:br>
              <a:rPr lang="en-IN" b="1" dirty="0" smtClean="0">
                <a:solidFill>
                  <a:schemeClr val="accent1"/>
                </a:solidFill>
              </a:rPr>
            </a:br>
            <a:r>
              <a:rPr lang="en-IN" b="1" dirty="0" smtClean="0">
                <a:solidFill>
                  <a:schemeClr val="bg1"/>
                </a:solidFill>
              </a:rPr>
              <a:t>Basic </a:t>
            </a:r>
            <a:r>
              <a:rPr lang="en-IN" b="1" dirty="0">
                <a:solidFill>
                  <a:schemeClr val="bg1"/>
                </a:solidFill>
              </a:rPr>
              <a:t>JSON syntax</a:t>
            </a:r>
            <a:br>
              <a:rPr lang="en-IN" b="1" dirty="0">
                <a:solidFill>
                  <a:schemeClr val="bg1"/>
                </a:solidFill>
              </a:rPr>
            </a:b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FCF23-9200-E961-285C-3023249FC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0" y="1144307"/>
            <a:ext cx="11046760" cy="5446994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In JSON, data is written in key-value pairs, like so:</a:t>
            </a:r>
          </a:p>
          <a:p>
            <a:pPr marL="0" indent="0">
              <a:buNone/>
            </a:pPr>
            <a:r>
              <a:rPr lang="en-US" dirty="0"/>
              <a:t>                    </a:t>
            </a:r>
            <a:r>
              <a:rPr lang="en-US" b="1" dirty="0">
                <a:solidFill>
                  <a:schemeClr val="accent2"/>
                </a:solidFill>
              </a:rPr>
              <a:t>"</a:t>
            </a:r>
            <a:r>
              <a:rPr lang="en-US" b="1" dirty="0" err="1">
                <a:solidFill>
                  <a:schemeClr val="accent2"/>
                </a:solidFill>
              </a:rPr>
              <a:t>first_name</a:t>
            </a:r>
            <a:r>
              <a:rPr lang="en-US" b="1" dirty="0">
                <a:solidFill>
                  <a:schemeClr val="accent2"/>
                </a:solidFill>
              </a:rPr>
              <a:t>": "Katie"</a:t>
            </a:r>
          </a:p>
          <a:p>
            <a:pPr algn="just"/>
            <a:r>
              <a:rPr lang="en-US" dirty="0">
                <a:solidFill>
                  <a:srgbClr val="C00000"/>
                </a:solidFill>
              </a:rPr>
              <a:t>Data is enclosed in double quotation marks and the key-value pair is separated by a colon.</a:t>
            </a:r>
          </a:p>
          <a:p>
            <a:pPr algn="just"/>
            <a:r>
              <a:rPr lang="en-US" dirty="0">
                <a:solidFill>
                  <a:srgbClr val="002060"/>
                </a:solidFill>
              </a:rPr>
              <a:t>There can be more than one key-value pair and each one is separated by a comma: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  <a:r>
              <a:rPr lang="en-US" b="1" dirty="0">
                <a:solidFill>
                  <a:schemeClr val="accent2"/>
                </a:solidFill>
              </a:rPr>
              <a:t>"</a:t>
            </a:r>
            <a:r>
              <a:rPr lang="en-US" b="1" dirty="0" err="1">
                <a:solidFill>
                  <a:schemeClr val="accent2"/>
                </a:solidFill>
              </a:rPr>
              <a:t>first_name</a:t>
            </a:r>
            <a:r>
              <a:rPr lang="en-US" b="1" dirty="0">
                <a:solidFill>
                  <a:schemeClr val="accent2"/>
                </a:solidFill>
              </a:rPr>
              <a:t>": "Katie", "</a:t>
            </a:r>
            <a:r>
              <a:rPr lang="en-US" b="1" dirty="0" err="1">
                <a:solidFill>
                  <a:schemeClr val="accent2"/>
                </a:solidFill>
              </a:rPr>
              <a:t>last_name</a:t>
            </a:r>
            <a:r>
              <a:rPr lang="en-US" b="1" dirty="0">
                <a:solidFill>
                  <a:schemeClr val="accent2"/>
                </a:solidFill>
              </a:rPr>
              <a:t>": "Rodgers“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The example above showed an </a:t>
            </a:r>
            <a:r>
              <a:rPr lang="en-US" b="1" dirty="0">
                <a:solidFill>
                  <a:srgbClr val="00B050"/>
                </a:solidFill>
              </a:rPr>
              <a:t>object</a:t>
            </a:r>
            <a:r>
              <a:rPr lang="en-US" dirty="0">
                <a:solidFill>
                  <a:srgbClr val="00B050"/>
                </a:solidFill>
              </a:rPr>
              <a:t>, a collection of multiple key-value pairs.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Objects are inside curly braces: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70C0"/>
                </a:solidFill>
              </a:rPr>
              <a:t>{</a:t>
            </a:r>
            <a:endParaRPr lang="en-US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   "</a:t>
            </a:r>
            <a:r>
              <a:rPr lang="en-US" b="1" dirty="0" err="1">
                <a:solidFill>
                  <a:schemeClr val="accent1"/>
                </a:solidFill>
              </a:rPr>
              <a:t>first_name</a:t>
            </a:r>
            <a:r>
              <a:rPr lang="en-US" b="1" dirty="0">
                <a:solidFill>
                  <a:schemeClr val="accent1"/>
                </a:solidFill>
              </a:rPr>
              <a:t>": "Katie",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    "</a:t>
            </a:r>
            <a:r>
              <a:rPr lang="en-US" b="1" dirty="0" err="1">
                <a:solidFill>
                  <a:schemeClr val="accent1"/>
                </a:solidFill>
              </a:rPr>
              <a:t>last_name</a:t>
            </a:r>
            <a:r>
              <a:rPr lang="en-US" b="1" dirty="0">
                <a:solidFill>
                  <a:schemeClr val="accent1"/>
                </a:solidFill>
              </a:rPr>
              <a:t>": "Rodgers"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}</a:t>
            </a:r>
            <a:endParaRPr lang="en-IN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903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6E0A-1972-798C-9E37-4F1FB3BB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55600"/>
            <a:ext cx="11582400" cy="1079500"/>
          </a:xfrm>
          <a:solidFill>
            <a:schemeClr val="tx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0" i="0" dirty="0" smtClean="0">
                <a:solidFill>
                  <a:schemeClr val="accent1"/>
                </a:solidFill>
                <a:effectLst/>
                <a:latin typeface="system-ui"/>
              </a:rPr>
              <a:t/>
            </a:r>
            <a:br>
              <a:rPr lang="en-US" b="0" i="0" dirty="0" smtClean="0">
                <a:solidFill>
                  <a:schemeClr val="accent1"/>
                </a:solidFill>
                <a:effectLst/>
                <a:latin typeface="system-ui"/>
              </a:rPr>
            </a:br>
            <a:r>
              <a:rPr lang="en-US" dirty="0" smtClean="0">
                <a:solidFill>
                  <a:schemeClr val="accent1"/>
                </a:solidFill>
                <a:latin typeface="system-ui"/>
              </a:rPr>
              <a:t/>
            </a:r>
            <a:br>
              <a:rPr lang="en-US" dirty="0" smtClean="0">
                <a:solidFill>
                  <a:schemeClr val="accent1"/>
                </a:solidFill>
                <a:latin typeface="system-ui"/>
              </a:rPr>
            </a:br>
            <a:r>
              <a:rPr lang="en-US" sz="4000" b="0" i="0" dirty="0" smtClean="0">
                <a:solidFill>
                  <a:schemeClr val="bg1"/>
                </a:solidFill>
                <a:effectLst/>
                <a:latin typeface="system-ui"/>
              </a:rPr>
              <a:t>Another </a:t>
            </a:r>
            <a:r>
              <a:rPr lang="en-US" sz="4000" b="0" i="0" dirty="0">
                <a:solidFill>
                  <a:schemeClr val="bg1"/>
                </a:solidFill>
                <a:effectLst/>
                <a:latin typeface="system-ui"/>
              </a:rPr>
              <a:t>example of JSON-formatted data is as follows:</a:t>
            </a:r>
            <a:r>
              <a:rPr lang="en-US" b="0" i="0" dirty="0">
                <a:solidFill>
                  <a:schemeClr val="bg1"/>
                </a:solidFill>
                <a:effectLst/>
                <a:latin typeface="system-ui"/>
              </a:rPr>
              <a:t/>
            </a:r>
            <a:br>
              <a:rPr lang="en-US" b="0" i="0" dirty="0">
                <a:solidFill>
                  <a:schemeClr val="bg1"/>
                </a:solidFill>
                <a:effectLst/>
                <a:latin typeface="system-ui"/>
              </a:rPr>
            </a:br>
            <a:r>
              <a:rPr lang="en-US" b="0" i="0" dirty="0">
                <a:solidFill>
                  <a:schemeClr val="accent1"/>
                </a:solidFill>
                <a:effectLst/>
                <a:latin typeface="system-ui"/>
              </a:rPr>
              <a:t/>
            </a:r>
            <a:br>
              <a:rPr lang="en-US" b="0" i="0" dirty="0">
                <a:solidFill>
                  <a:schemeClr val="accent1"/>
                </a:solidFill>
                <a:effectLst/>
                <a:latin typeface="system-ui"/>
              </a:rPr>
            </a:b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CF0B5-FD53-A367-B08F-17B457A21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0" y="2905125"/>
            <a:ext cx="5041900" cy="2517775"/>
          </a:xfrm>
          <a:solidFill>
            <a:srgbClr val="92D050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"name": "Frank",</a:t>
            </a:r>
          </a:p>
          <a:p>
            <a:pPr marL="0" indent="0">
              <a:buNone/>
            </a:pPr>
            <a:r>
              <a:rPr lang="en-US" dirty="0"/>
              <a:t>  "age": 39,</a:t>
            </a:r>
          </a:p>
          <a:p>
            <a:pPr marL="0" indent="0">
              <a:buNone/>
            </a:pPr>
            <a:r>
              <a:rPr lang="en-US" dirty="0"/>
              <a:t>  "isEmployed": true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390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05CA4-9320-4532-38CD-10DE7A117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6175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sz="2800" b="0" i="0" dirty="0">
                <a:solidFill>
                  <a:srgbClr val="002060"/>
                </a:solidFill>
                <a:effectLst/>
                <a:latin typeface="Lato" panose="020F0502020204030203" pitchFamily="34" charset="0"/>
              </a:rPr>
              <a:t>We can also create arrays, an ordered list of values, with JSON. In that case, arrays are contained inside square brackets: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6D507D-4114-803D-D20E-17371187D670}"/>
              </a:ext>
            </a:extLst>
          </p:cNvPr>
          <p:cNvSpPr txBox="1"/>
          <p:nvPr/>
        </p:nvSpPr>
        <p:spPr>
          <a:xfrm>
            <a:off x="3203388" y="1606176"/>
            <a:ext cx="5719482" cy="517064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/>
              <a:t>[</a:t>
            </a:r>
          </a:p>
          <a:p>
            <a:r>
              <a:rPr lang="en-US" sz="2400" dirty="0"/>
              <a:t>  { </a:t>
            </a:r>
          </a:p>
          <a:p>
            <a:r>
              <a:rPr lang="en-US" sz="2400" dirty="0"/>
              <a:t>      </a:t>
            </a:r>
          </a:p>
          <a:p>
            <a:r>
              <a:rPr lang="en-US" sz="2400" dirty="0"/>
              <a:t>    "</a:t>
            </a:r>
            <a:r>
              <a:rPr lang="en-US" sz="2400" dirty="0" err="1"/>
              <a:t>first_name</a:t>
            </a:r>
            <a:r>
              <a:rPr lang="en-US" sz="2400" dirty="0"/>
              <a:t>": "Katie",  </a:t>
            </a:r>
          </a:p>
          <a:p>
            <a:r>
              <a:rPr lang="en-US" sz="2400" dirty="0"/>
              <a:t>    "</a:t>
            </a:r>
            <a:r>
              <a:rPr lang="en-US" sz="2400" dirty="0" err="1"/>
              <a:t>last_name</a:t>
            </a:r>
            <a:r>
              <a:rPr lang="en-US" sz="2400" dirty="0"/>
              <a:t>": "Rodgers"</a:t>
            </a:r>
          </a:p>
          <a:p>
            <a:r>
              <a:rPr lang="en-US" sz="2400" dirty="0"/>
              <a:t>  },</a:t>
            </a:r>
          </a:p>
          <a:p>
            <a:r>
              <a:rPr lang="en-US" sz="2400" dirty="0"/>
              <a:t>  </a:t>
            </a:r>
          </a:p>
          <a:p>
            <a:r>
              <a:rPr lang="en-US" sz="2400" dirty="0"/>
              <a:t>  { </a:t>
            </a:r>
          </a:p>
          <a:p>
            <a:r>
              <a:rPr lang="en-US" sz="2400" dirty="0"/>
              <a:t>      </a:t>
            </a:r>
          </a:p>
          <a:p>
            <a:r>
              <a:rPr lang="en-US" sz="2400" dirty="0"/>
              <a:t>    "</a:t>
            </a:r>
            <a:r>
              <a:rPr lang="en-US" sz="2400" dirty="0" err="1"/>
              <a:t>first_name</a:t>
            </a:r>
            <a:r>
              <a:rPr lang="en-US" sz="2400" dirty="0"/>
              <a:t>": "Naomi",  </a:t>
            </a:r>
          </a:p>
          <a:p>
            <a:r>
              <a:rPr lang="en-US" sz="2400" dirty="0"/>
              <a:t>    "</a:t>
            </a:r>
            <a:r>
              <a:rPr lang="en-US" sz="2400" dirty="0" err="1"/>
              <a:t>last_name</a:t>
            </a:r>
            <a:r>
              <a:rPr lang="en-US" sz="2400" dirty="0"/>
              <a:t>": "Green"</a:t>
            </a:r>
          </a:p>
          <a:p>
            <a:r>
              <a:rPr lang="en-US" sz="2400" dirty="0"/>
              <a:t>  },</a:t>
            </a:r>
          </a:p>
          <a:p>
            <a:r>
              <a:rPr lang="en-US" sz="2400" dirty="0"/>
              <a:t>]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53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590B39-98E7-E664-FBD4-3260EBC39077}"/>
              </a:ext>
            </a:extLst>
          </p:cNvPr>
          <p:cNvSpPr txBox="1"/>
          <p:nvPr/>
        </p:nvSpPr>
        <p:spPr>
          <a:xfrm>
            <a:off x="2215029" y="192544"/>
            <a:ext cx="7602071" cy="64325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// or:</a:t>
            </a:r>
          </a:p>
          <a:p>
            <a:endParaRPr lang="en-US" sz="2000" dirty="0"/>
          </a:p>
          <a:p>
            <a:r>
              <a:rPr lang="en-US" sz="2400" dirty="0" smtClean="0"/>
              <a:t>{</a:t>
            </a:r>
            <a:endParaRPr lang="en-US" sz="2400" dirty="0"/>
          </a:p>
          <a:p>
            <a:r>
              <a:rPr lang="en-US" sz="2400" dirty="0"/>
              <a:t> "employee": [</a:t>
            </a:r>
          </a:p>
          <a:p>
            <a:r>
              <a:rPr lang="en-US" sz="2400" dirty="0"/>
              <a:t>     { </a:t>
            </a:r>
          </a:p>
          <a:p>
            <a:r>
              <a:rPr lang="en-US" sz="2400" dirty="0"/>
              <a:t>    "</a:t>
            </a:r>
            <a:r>
              <a:rPr lang="en-US" sz="2400" dirty="0" err="1"/>
              <a:t>first_name</a:t>
            </a:r>
            <a:r>
              <a:rPr lang="en-US" sz="2400" dirty="0"/>
              <a:t>": "Katie",  </a:t>
            </a:r>
          </a:p>
          <a:p>
            <a:r>
              <a:rPr lang="en-US" sz="2400" dirty="0"/>
              <a:t>    "</a:t>
            </a:r>
            <a:r>
              <a:rPr lang="en-US" sz="2400" dirty="0" err="1"/>
              <a:t>last_name</a:t>
            </a:r>
            <a:r>
              <a:rPr lang="en-US" sz="2400" dirty="0"/>
              <a:t>": "Rodgers"</a:t>
            </a:r>
          </a:p>
          <a:p>
            <a:r>
              <a:rPr lang="en-US" sz="2400" dirty="0"/>
              <a:t>  },</a:t>
            </a:r>
          </a:p>
          <a:p>
            <a:r>
              <a:rPr lang="en-US" sz="2400" dirty="0"/>
              <a:t>  </a:t>
            </a:r>
          </a:p>
          <a:p>
            <a:r>
              <a:rPr lang="en-US" sz="2400" dirty="0"/>
              <a:t>  { </a:t>
            </a:r>
          </a:p>
          <a:p>
            <a:r>
              <a:rPr lang="en-US" sz="2400" dirty="0"/>
              <a:t>    "</a:t>
            </a:r>
            <a:r>
              <a:rPr lang="en-US" sz="2400" dirty="0" err="1"/>
              <a:t>first_name</a:t>
            </a:r>
            <a:r>
              <a:rPr lang="en-US" sz="2400" dirty="0"/>
              <a:t>": "Naomi",  </a:t>
            </a:r>
          </a:p>
          <a:p>
            <a:r>
              <a:rPr lang="en-US" sz="2400" dirty="0"/>
              <a:t>    "</a:t>
            </a:r>
            <a:r>
              <a:rPr lang="en-US" sz="2400" dirty="0" err="1"/>
              <a:t>last_name</a:t>
            </a:r>
            <a:r>
              <a:rPr lang="en-US" sz="2400" dirty="0"/>
              <a:t>": "Green"</a:t>
            </a:r>
          </a:p>
          <a:p>
            <a:r>
              <a:rPr lang="en-US" sz="2400" dirty="0"/>
              <a:t>  },</a:t>
            </a:r>
          </a:p>
          <a:p>
            <a:r>
              <a:rPr lang="en-US" sz="2400" dirty="0"/>
              <a:t> ]</a:t>
            </a:r>
          </a:p>
          <a:p>
            <a:r>
              <a:rPr lang="en-US" sz="24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//this created an 'employee' object that has 2 records.</a:t>
            </a:r>
          </a:p>
          <a:p>
            <a:r>
              <a:rPr lang="en-US" sz="2000" dirty="0"/>
              <a:t>// It defines the first name and last name of an employee</a:t>
            </a:r>
          </a:p>
        </p:txBody>
      </p:sp>
    </p:spTree>
    <p:extLst>
      <p:ext uri="{BB962C8B-B14F-4D97-AF65-F5344CB8AC3E}">
        <p14:creationId xmlns:p14="http://schemas.microsoft.com/office/powerpoint/2010/main" val="407770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038C5CC-2A6B-5CFC-E3A6-B22AB62814B7}"/>
              </a:ext>
            </a:extLst>
          </p:cNvPr>
          <p:cNvSpPr txBox="1"/>
          <p:nvPr/>
        </p:nvSpPr>
        <p:spPr>
          <a:xfrm>
            <a:off x="591671" y="2507129"/>
            <a:ext cx="11134164" cy="206210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endParaRPr lang="en-US" dirty="0"/>
          </a:p>
          <a:p>
            <a:pPr algn="just"/>
            <a:r>
              <a:rPr lang="en-US" sz="2800" dirty="0">
                <a:solidFill>
                  <a:srgbClr val="C00000"/>
                </a:solidFill>
                <a:highlight>
                  <a:srgbClr val="FFFF00"/>
                </a:highlight>
              </a:rPr>
              <a:t>In Python, JSON exists as a string. For example:</a:t>
            </a:r>
          </a:p>
          <a:p>
            <a:pPr algn="just"/>
            <a:endParaRPr lang="en-US" dirty="0"/>
          </a:p>
          <a:p>
            <a:pPr algn="just"/>
            <a:r>
              <a:rPr lang="en-US" sz="3200" dirty="0">
                <a:solidFill>
                  <a:srgbClr val="7030A0"/>
                </a:solidFill>
              </a:rPr>
              <a:t>p = '{"name": "Bob", "languages": ["Python", "Java"]}'</a:t>
            </a:r>
          </a:p>
          <a:p>
            <a:pPr algn="just"/>
            <a:r>
              <a:rPr lang="en-US" sz="3200" dirty="0">
                <a:solidFill>
                  <a:srgbClr val="7030A0"/>
                </a:solidFill>
              </a:rPr>
              <a:t>It's also common to store a JSON object in a file.</a:t>
            </a:r>
            <a:endParaRPr lang="en-IN" sz="32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72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2829-4CE9-30D8-AE19-28DBFFBE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5130800" cy="81597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IN" b="1" i="0" dirty="0" smtClean="0">
                <a:solidFill>
                  <a:srgbClr val="3A3A3A"/>
                </a:solidFill>
                <a:effectLst/>
                <a:latin typeface="system-ui"/>
              </a:rPr>
              <a:t/>
            </a:r>
            <a:br>
              <a:rPr lang="en-IN" b="1" i="0" dirty="0" smtClean="0">
                <a:solidFill>
                  <a:srgbClr val="3A3A3A"/>
                </a:solidFill>
                <a:effectLst/>
                <a:latin typeface="system-ui"/>
              </a:rPr>
            </a:br>
            <a:r>
              <a:rPr lang="en-IN" b="1" i="0" dirty="0" smtClean="0">
                <a:solidFill>
                  <a:schemeClr val="bg1"/>
                </a:solidFill>
                <a:effectLst/>
                <a:latin typeface="system-ui"/>
              </a:rPr>
              <a:t>Python </a:t>
            </a:r>
            <a:r>
              <a:rPr lang="en-IN" b="1" i="0" dirty="0">
                <a:solidFill>
                  <a:schemeClr val="bg1"/>
                </a:solidFill>
                <a:effectLst/>
                <a:latin typeface="system-ui"/>
              </a:rPr>
              <a:t>and JSON</a:t>
            </a:r>
            <a:br>
              <a:rPr lang="en-IN" b="1" i="0" dirty="0">
                <a:solidFill>
                  <a:schemeClr val="bg1"/>
                </a:solidFill>
                <a:effectLst/>
                <a:latin typeface="system-ui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6F5BE-53FF-99C5-E7A3-A7B8B6750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931"/>
            <a:ext cx="10515600" cy="5706269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algn="just"/>
            <a:r>
              <a:rPr lang="en-US" sz="2000" b="1" i="0" dirty="0">
                <a:solidFill>
                  <a:srgbClr val="7030A0"/>
                </a:solidFill>
                <a:effectLst/>
                <a:latin typeface="system-ui"/>
              </a:rPr>
              <a:t>Python makes it simple to work with JSON files</a:t>
            </a:r>
            <a:r>
              <a:rPr lang="en-US" sz="2000" b="1" i="0" dirty="0" smtClean="0">
                <a:solidFill>
                  <a:srgbClr val="7030A0"/>
                </a:solidFill>
                <a:effectLst/>
                <a:latin typeface="system-ui"/>
              </a:rPr>
              <a:t>.</a:t>
            </a:r>
          </a:p>
          <a:p>
            <a:pPr algn="just"/>
            <a:endParaRPr lang="en-US" sz="1800" b="1" i="0" dirty="0">
              <a:solidFill>
                <a:srgbClr val="7030A0"/>
              </a:solidFill>
              <a:effectLst/>
              <a:latin typeface="system-ui"/>
            </a:endParaRPr>
          </a:p>
          <a:p>
            <a:pPr algn="just"/>
            <a:r>
              <a:rPr lang="en-US" sz="2000" b="1" i="0" dirty="0">
                <a:solidFill>
                  <a:srgbClr val="00B050"/>
                </a:solidFill>
                <a:effectLst/>
                <a:latin typeface="urw-din"/>
              </a:rPr>
              <a:t>Python supports JSON through a built-in package called </a:t>
            </a:r>
            <a:r>
              <a:rPr lang="en-US" sz="2000" b="1" i="0" u="sng" dirty="0">
                <a:solidFill>
                  <a:srgbClr val="00B050"/>
                </a:solidFill>
                <a:effectLst/>
                <a:latin typeface="urw-din"/>
              </a:rPr>
              <a:t>JSON</a:t>
            </a:r>
            <a:r>
              <a:rPr lang="en-US" sz="2000" b="1" i="0" dirty="0">
                <a:solidFill>
                  <a:srgbClr val="00B050"/>
                </a:solidFill>
                <a:effectLst/>
                <a:latin typeface="urw-din"/>
              </a:rPr>
              <a:t>. </a:t>
            </a:r>
            <a:endParaRPr lang="en-US" sz="1800" b="1" i="0" dirty="0" smtClean="0">
              <a:solidFill>
                <a:srgbClr val="00B050"/>
              </a:solidFill>
              <a:effectLst/>
              <a:latin typeface="urw-din"/>
            </a:endParaRPr>
          </a:p>
          <a:p>
            <a:pPr algn="just"/>
            <a:endParaRPr lang="en-US" sz="1800" b="1" i="0" dirty="0">
              <a:solidFill>
                <a:srgbClr val="7030A0"/>
              </a:solidFill>
              <a:effectLst/>
              <a:latin typeface="urw-din"/>
            </a:endParaRPr>
          </a:p>
          <a:p>
            <a:pPr algn="just"/>
            <a:r>
              <a:rPr lang="en-US" sz="2000" b="1" i="0" dirty="0">
                <a:solidFill>
                  <a:srgbClr val="7030A0"/>
                </a:solidFill>
                <a:effectLst/>
                <a:latin typeface="urw-din"/>
              </a:rPr>
              <a:t>To use this feature, we import the JSON package in Python script.</a:t>
            </a:r>
            <a:r>
              <a:rPr lang="en-US" sz="2000" b="1" dirty="0">
                <a:solidFill>
                  <a:srgbClr val="7030A0"/>
                </a:solidFill>
              </a:rPr>
              <a:t> in order to use this module is to import it: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7030A0"/>
                </a:solidFill>
              </a:rPr>
              <a:t>                        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  <a:highlight>
                  <a:srgbClr val="FFFF00"/>
                </a:highlight>
              </a:rPr>
              <a:t>import </a:t>
            </a:r>
            <a:r>
              <a:rPr lang="en-US" sz="2400" b="1" dirty="0" err="1" smtClean="0">
                <a:solidFill>
                  <a:srgbClr val="7030A0"/>
                </a:solidFill>
                <a:highlight>
                  <a:srgbClr val="FFFF00"/>
                </a:highlight>
              </a:rPr>
              <a:t>json</a:t>
            </a:r>
            <a:endParaRPr lang="en-US" sz="2000" b="1" dirty="0" smtClean="0">
              <a:solidFill>
                <a:srgbClr val="7030A0"/>
              </a:solidFill>
              <a:highlight>
                <a:srgbClr val="FFFF00"/>
              </a:highlight>
            </a:endParaRPr>
          </a:p>
          <a:p>
            <a:pPr marL="0" indent="0" algn="just">
              <a:buNone/>
            </a:pPr>
            <a:endParaRPr lang="en-US" sz="1800" b="1" dirty="0">
              <a:solidFill>
                <a:srgbClr val="7030A0"/>
              </a:solidFill>
              <a:highlight>
                <a:srgbClr val="FFFF00"/>
              </a:highlight>
            </a:endParaRPr>
          </a:p>
          <a:p>
            <a:pPr algn="just"/>
            <a:r>
              <a:rPr lang="en-US" sz="2000" b="1" i="0" dirty="0">
                <a:solidFill>
                  <a:srgbClr val="00B050"/>
                </a:solidFill>
                <a:effectLst/>
                <a:latin typeface="system-ui"/>
              </a:rPr>
              <a:t>This library mainly parses JSON from files or strings. </a:t>
            </a:r>
            <a:endParaRPr lang="en-US" sz="1800" b="1" i="0" dirty="0">
              <a:solidFill>
                <a:srgbClr val="7030A0"/>
              </a:solidFill>
              <a:effectLst/>
              <a:latin typeface="urw-din"/>
            </a:endParaRPr>
          </a:p>
          <a:p>
            <a:pPr algn="just"/>
            <a:r>
              <a:rPr lang="en-US" sz="2000" b="1" i="0" dirty="0">
                <a:solidFill>
                  <a:srgbClr val="7030A0"/>
                </a:solidFill>
                <a:effectLst/>
                <a:latin typeface="urw-din"/>
              </a:rPr>
              <a:t>The text in JSON is done through quoted-string which contains the value in </a:t>
            </a:r>
            <a:r>
              <a:rPr lang="en-US" sz="2000" b="1" i="0" u="sng" dirty="0">
                <a:solidFill>
                  <a:srgbClr val="7030A0"/>
                </a:solidFill>
                <a:effectLst/>
                <a:latin typeface="urw-din"/>
              </a:rPr>
              <a:t>key-value mapping</a:t>
            </a:r>
            <a:r>
              <a:rPr lang="en-US" sz="2000" b="1" i="0" dirty="0">
                <a:solidFill>
                  <a:srgbClr val="7030A0"/>
                </a:solidFill>
                <a:effectLst/>
                <a:latin typeface="urw-din"/>
              </a:rPr>
              <a:t> within { </a:t>
            </a:r>
            <a:r>
              <a:rPr lang="en-US" sz="2000" b="1" i="0" dirty="0" smtClean="0">
                <a:solidFill>
                  <a:srgbClr val="7030A0"/>
                </a:solidFill>
                <a:effectLst/>
                <a:latin typeface="urw-din"/>
              </a:rPr>
              <a:t>}.</a:t>
            </a:r>
          </a:p>
          <a:p>
            <a:pPr algn="just"/>
            <a:endParaRPr lang="en-US" sz="1800" b="1" i="0" dirty="0">
              <a:solidFill>
                <a:srgbClr val="7030A0"/>
              </a:solidFill>
              <a:effectLst/>
              <a:latin typeface="urw-din"/>
            </a:endParaRPr>
          </a:p>
          <a:p>
            <a:pPr algn="just"/>
            <a:r>
              <a:rPr lang="en-US" sz="2000" b="1" dirty="0">
                <a:solidFill>
                  <a:srgbClr val="00B050"/>
                </a:solidFill>
              </a:rPr>
              <a:t>It is similar to the dictionary in Python.</a:t>
            </a:r>
          </a:p>
        </p:txBody>
      </p:sp>
    </p:spTree>
    <p:extLst>
      <p:ext uri="{BB962C8B-B14F-4D97-AF65-F5344CB8AC3E}">
        <p14:creationId xmlns:p14="http://schemas.microsoft.com/office/powerpoint/2010/main" val="887360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4F75E7-B071-42A8-6D22-CEAB6590BEA0}"/>
              </a:ext>
            </a:extLst>
          </p:cNvPr>
          <p:cNvSpPr txBox="1"/>
          <p:nvPr/>
        </p:nvSpPr>
        <p:spPr>
          <a:xfrm>
            <a:off x="510987" y="277159"/>
            <a:ext cx="5623114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sz="3200" b="1" i="0" dirty="0" smtClean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JSON </a:t>
            </a:r>
            <a:r>
              <a:rPr lang="en-US" sz="3200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to Python (Decoding</a:t>
            </a:r>
            <a:r>
              <a:rPr lang="en-US" sz="3200" b="1" i="0" dirty="0" smtClean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)</a:t>
            </a:r>
            <a:endParaRPr lang="en-US" sz="3200" b="1" i="0" dirty="0">
              <a:solidFill>
                <a:schemeClr val="bg1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9AB3910-ECCE-D3D7-1232-6A7D48804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694" y="2370377"/>
            <a:ext cx="11672047" cy="256992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sz="2800" b="0" i="0" dirty="0">
                <a:solidFill>
                  <a:srgbClr val="002060"/>
                </a:solidFill>
                <a:effectLst/>
                <a:latin typeface="Source Sans Pro" panose="020B0503030403020204" pitchFamily="34" charset="0"/>
              </a:rPr>
              <a:t>JSON string decoding is done with the help of method </a:t>
            </a:r>
            <a:r>
              <a:rPr lang="en-US" sz="2800" b="1" i="0" dirty="0" err="1">
                <a:solidFill>
                  <a:srgbClr val="002060"/>
                </a:solidFill>
                <a:effectLst/>
                <a:latin typeface="Source Sans Pro" panose="020B0503030403020204" pitchFamily="34" charset="0"/>
              </a:rPr>
              <a:t>json.loads</a:t>
            </a:r>
            <a:r>
              <a:rPr lang="en-US" sz="2800" b="1" i="0" dirty="0">
                <a:solidFill>
                  <a:srgbClr val="002060"/>
                </a:solidFill>
                <a:effectLst/>
                <a:latin typeface="Source Sans Pro" panose="020B0503030403020204" pitchFamily="34" charset="0"/>
              </a:rPr>
              <a:t>() &amp; </a:t>
            </a:r>
            <a:r>
              <a:rPr lang="en-US" sz="2800" b="1" i="0" dirty="0" err="1">
                <a:solidFill>
                  <a:srgbClr val="002060"/>
                </a:solidFill>
                <a:effectLst/>
                <a:latin typeface="Source Sans Pro" panose="020B0503030403020204" pitchFamily="34" charset="0"/>
              </a:rPr>
              <a:t>json.load</a:t>
            </a:r>
            <a:r>
              <a:rPr lang="en-US" sz="2800" b="1" i="0" dirty="0">
                <a:solidFill>
                  <a:srgbClr val="002060"/>
                </a:solidFill>
                <a:effectLst/>
                <a:latin typeface="Source Sans Pro" panose="020B0503030403020204" pitchFamily="34" charset="0"/>
              </a:rPr>
              <a:t>() </a:t>
            </a:r>
            <a:r>
              <a:rPr lang="en-US" sz="2800" b="0" i="0" dirty="0">
                <a:solidFill>
                  <a:srgbClr val="002060"/>
                </a:solidFill>
                <a:effectLst/>
                <a:latin typeface="Source Sans Pro" panose="020B0503030403020204" pitchFamily="34" charset="0"/>
              </a:rPr>
              <a:t>of JSON library in Python</a:t>
            </a:r>
            <a:r>
              <a:rPr lang="en-US" sz="2800" b="0" i="0" dirty="0" smtClean="0">
                <a:solidFill>
                  <a:srgbClr val="002060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>
              <a:buNone/>
            </a:pPr>
            <a:endParaRPr lang="en-US" sz="2800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en-US" sz="2800" b="0" i="0" dirty="0">
                <a:solidFill>
                  <a:srgbClr val="7030A0"/>
                </a:solidFill>
                <a:effectLst/>
                <a:latin typeface="system-ui"/>
              </a:rPr>
              <a:t>Reading JSON means converting JSON into a Python value (object). T</a:t>
            </a:r>
            <a:r>
              <a:rPr lang="en-US" sz="2800" dirty="0">
                <a:solidFill>
                  <a:srgbClr val="7030A0"/>
                </a:solidFill>
              </a:rPr>
              <a:t>he </a:t>
            </a:r>
            <a:r>
              <a:rPr lang="en-US" sz="2800" dirty="0" err="1">
                <a:solidFill>
                  <a:srgbClr val="7030A0"/>
                </a:solidFill>
              </a:rPr>
              <a:t>json</a:t>
            </a:r>
            <a:r>
              <a:rPr lang="en-US" sz="2800" dirty="0">
                <a:solidFill>
                  <a:srgbClr val="7030A0"/>
                </a:solidFill>
              </a:rPr>
              <a:t> library parses JSON into a dictionary or list in Python. </a:t>
            </a:r>
            <a:endParaRPr lang="en-IN" sz="2800" dirty="0">
              <a:solidFill>
                <a:srgbClr val="7030A0"/>
              </a:solidFill>
            </a:endParaRPr>
          </a:p>
          <a:p>
            <a:endParaRPr lang="en-US" sz="2800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endParaRPr lang="en-US" sz="2800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3919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A92D-1D9D-0E86-0D25-8C4E0B457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10100" cy="800287"/>
          </a:xfrm>
          <a:solidFill>
            <a:srgbClr val="00B050"/>
          </a:solidFill>
        </p:spPr>
        <p:txBody>
          <a:bodyPr>
            <a:normAutofit fontScale="90000"/>
          </a:bodyPr>
          <a:lstStyle/>
          <a:p>
            <a:r>
              <a:rPr lang="en-IN" b="1" i="0" dirty="0">
                <a:solidFill>
                  <a:srgbClr val="3A3A3A"/>
                </a:solidFill>
                <a:effectLst/>
                <a:latin typeface="system-ui"/>
              </a:rPr>
              <a:t/>
            </a:r>
            <a:br>
              <a:rPr lang="en-IN" b="1" i="0" dirty="0">
                <a:solidFill>
                  <a:srgbClr val="3A3A3A"/>
                </a:solidFill>
                <a:effectLst/>
                <a:latin typeface="system-ui"/>
              </a:rPr>
            </a:br>
            <a:r>
              <a:rPr lang="en-IN" b="1" i="0" dirty="0">
                <a:solidFill>
                  <a:srgbClr val="FFFF00"/>
                </a:solidFill>
                <a:effectLst/>
                <a:latin typeface="system-ui"/>
              </a:rPr>
              <a:t>JSON to Python</a:t>
            </a:r>
            <a:br>
              <a:rPr lang="en-IN" b="1" i="0" dirty="0">
                <a:solidFill>
                  <a:srgbClr val="FFFF00"/>
                </a:solidFill>
                <a:effectLst/>
                <a:latin typeface="system-ui"/>
              </a:rPr>
            </a:b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A2F38-C23A-3427-81D3-9F0C3FC13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695" y="1253331"/>
            <a:ext cx="11537576" cy="192914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002060"/>
                </a:solidFill>
                <a:highlight>
                  <a:srgbClr val="00FFFF"/>
                </a:highlight>
              </a:rPr>
              <a:t>Example 1: Python JSON to </a:t>
            </a:r>
            <a:r>
              <a:rPr lang="en-US" dirty="0" err="1">
                <a:solidFill>
                  <a:srgbClr val="002060"/>
                </a:solidFill>
                <a:highlight>
                  <a:srgbClr val="00FFFF"/>
                </a:highlight>
              </a:rPr>
              <a:t>dict</a:t>
            </a:r>
            <a:endParaRPr lang="en-US" dirty="0">
              <a:solidFill>
                <a:srgbClr val="002060"/>
              </a:solidFill>
              <a:highlight>
                <a:srgbClr val="00FFFF"/>
              </a:highlight>
            </a:endParaRPr>
          </a:p>
          <a:p>
            <a:r>
              <a:rPr lang="en-US" dirty="0">
                <a:solidFill>
                  <a:srgbClr val="002060"/>
                </a:solidFill>
              </a:rPr>
              <a:t>we use the loads() function (load from a string) to parse a JSON string and the method returns a dictionary.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BBEC9-E94D-E055-10BA-E1A73857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06" y="3121457"/>
            <a:ext cx="8354878" cy="2657043"/>
          </a:xfrm>
          <a:prstGeom prst="rect">
            <a:avLst/>
          </a:prstGeom>
          <a:solidFill>
            <a:srgbClr val="92D050"/>
          </a:solidFill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ED6C5F-AF25-16C2-E723-600A79A64B95}"/>
              </a:ext>
            </a:extLst>
          </p:cNvPr>
          <p:cNvSpPr txBox="1"/>
          <p:nvPr/>
        </p:nvSpPr>
        <p:spPr>
          <a:xfrm>
            <a:off x="838200" y="6105570"/>
            <a:ext cx="72771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highlight>
                  <a:srgbClr val="00FFFF"/>
                </a:highlight>
                <a:latin typeface="euclid_circular_a"/>
              </a:rPr>
              <a:t>Here, </a:t>
            </a:r>
            <a:r>
              <a:rPr lang="en-US" b="1" i="0" dirty="0" err="1">
                <a:effectLst/>
                <a:highlight>
                  <a:srgbClr val="00FFFF"/>
                </a:highlight>
                <a:latin typeface="droid sans mono"/>
              </a:rPr>
              <a:t>jsonData</a:t>
            </a:r>
            <a:r>
              <a:rPr lang="en-US" b="0" i="0" dirty="0">
                <a:effectLst/>
                <a:highlight>
                  <a:srgbClr val="00FFFF"/>
                </a:highlight>
                <a:latin typeface="euclid_circular_a"/>
              </a:rPr>
              <a:t> is a JSON string, and </a:t>
            </a:r>
            <a:r>
              <a:rPr lang="en-US" b="1" dirty="0" err="1">
                <a:highlight>
                  <a:srgbClr val="00FFFF"/>
                </a:highlight>
                <a:latin typeface="droid sans mono"/>
              </a:rPr>
              <a:t>jsonToPython</a:t>
            </a:r>
            <a:r>
              <a:rPr lang="en-US" b="0" i="0" dirty="0">
                <a:effectLst/>
                <a:highlight>
                  <a:srgbClr val="00FFFF"/>
                </a:highlight>
                <a:latin typeface="euclid_circular_a"/>
              </a:rPr>
              <a:t> is a dictionary.</a:t>
            </a:r>
            <a:endParaRPr lang="en-IN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5198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51996-7162-679C-0BA7-468199ADE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8" y="546847"/>
            <a:ext cx="10363200" cy="3899647"/>
          </a:xfrm>
          <a:solidFill>
            <a:srgbClr val="92D050"/>
          </a:solidFill>
        </p:spPr>
        <p:txBody>
          <a:bodyPr/>
          <a:lstStyle/>
          <a:p>
            <a:pPr algn="just"/>
            <a:r>
              <a:rPr lang="en-US" b="0" i="0" dirty="0">
                <a:solidFill>
                  <a:schemeClr val="bg1"/>
                </a:solidFill>
                <a:effectLst/>
                <a:latin typeface="system-ui"/>
              </a:rPr>
              <a:t>That is, the data is returned as a Python dictionary (JSON object data structure). </a:t>
            </a:r>
          </a:p>
          <a:p>
            <a:r>
              <a:rPr lang="en-US" dirty="0">
                <a:solidFill>
                  <a:srgbClr val="002060"/>
                </a:solidFill>
              </a:rPr>
              <a:t>So, the statement 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</a:rPr>
              <a:t>print </a:t>
            </a:r>
            <a:r>
              <a:rPr lang="en-US" dirty="0" err="1">
                <a:solidFill>
                  <a:srgbClr val="002060"/>
                </a:solidFill>
                <a:highlight>
                  <a:srgbClr val="FFFF00"/>
                </a:highlight>
              </a:rPr>
              <a:t>jsonToPython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</a:rPr>
              <a:t>[‘name’] </a:t>
            </a:r>
            <a:r>
              <a:rPr lang="en-US" dirty="0">
                <a:solidFill>
                  <a:srgbClr val="002060"/>
                </a:solidFill>
              </a:rPr>
              <a:t>returns </a:t>
            </a:r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</a:rPr>
              <a:t>‘Frank’</a:t>
            </a:r>
          </a:p>
          <a:p>
            <a:pPr marL="0" indent="0">
              <a:buNone/>
            </a:pPr>
            <a:endParaRPr lang="en-IN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B8F64A-D668-58DD-9AEC-D9B7FF703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0670"/>
            <a:ext cx="5844246" cy="21978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859281-CDBA-5ABA-D03C-69630712BB15}"/>
              </a:ext>
            </a:extLst>
          </p:cNvPr>
          <p:cNvSpPr txBox="1"/>
          <p:nvPr/>
        </p:nvSpPr>
        <p:spPr>
          <a:xfrm>
            <a:off x="586445" y="4750404"/>
            <a:ext cx="11300755" cy="461665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Note:  In the above programs, the objects in JSON are converted to dictionaries in Python.</a:t>
            </a:r>
            <a:endParaRPr lang="en-I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46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4FBC6B-831D-CE03-A3B9-560C63A8B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22" y="1496748"/>
            <a:ext cx="11496355" cy="46799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C66F0F-5237-03FD-6991-B0EDA9F45B8E}"/>
              </a:ext>
            </a:extLst>
          </p:cNvPr>
          <p:cNvSpPr/>
          <p:nvPr/>
        </p:nvSpPr>
        <p:spPr>
          <a:xfrm>
            <a:off x="1174375" y="654424"/>
            <a:ext cx="1685365" cy="3406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Example 2:</a:t>
            </a:r>
          </a:p>
        </p:txBody>
      </p:sp>
    </p:spTree>
    <p:extLst>
      <p:ext uri="{BB962C8B-B14F-4D97-AF65-F5344CB8AC3E}">
        <p14:creationId xmlns:p14="http://schemas.microsoft.com/office/powerpoint/2010/main" val="323897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F57967-F5D3-90D7-E81D-D208F73B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1" y="1239188"/>
            <a:ext cx="10513359" cy="49993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CF8FDF1-E22E-70D0-8CEB-899B2CB12598}"/>
              </a:ext>
            </a:extLst>
          </p:cNvPr>
          <p:cNvSpPr/>
          <p:nvPr/>
        </p:nvSpPr>
        <p:spPr>
          <a:xfrm>
            <a:off x="1174375" y="654424"/>
            <a:ext cx="1685365" cy="34065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Example 3:</a:t>
            </a:r>
          </a:p>
        </p:txBody>
      </p:sp>
    </p:spTree>
    <p:extLst>
      <p:ext uri="{BB962C8B-B14F-4D97-AF65-F5344CB8AC3E}">
        <p14:creationId xmlns:p14="http://schemas.microsoft.com/office/powerpoint/2010/main" val="396354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21BBA-9C5A-8AAD-8990-5766CD403003}"/>
              </a:ext>
            </a:extLst>
          </p:cNvPr>
          <p:cNvSpPr txBox="1"/>
          <p:nvPr/>
        </p:nvSpPr>
        <p:spPr>
          <a:xfrm>
            <a:off x="394447" y="555812"/>
            <a:ext cx="11376212" cy="38779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US" sz="2800" b="1" i="0" dirty="0">
                <a:solidFill>
                  <a:srgbClr val="7030A0"/>
                </a:solidFill>
                <a:effectLst/>
                <a:latin typeface="Source Sans Pro" panose="020B0503030403020204" pitchFamily="34" charset="0"/>
              </a:rPr>
              <a:t>Decoding JSON File or Parsing JSON file in Python(</a:t>
            </a:r>
            <a:r>
              <a:rPr lang="en-US" sz="2800" b="1" i="0" u="sng" dirty="0">
                <a:solidFill>
                  <a:srgbClr val="7030A0"/>
                </a:solidFill>
                <a:effectLst/>
                <a:latin typeface="urw-din"/>
              </a:rPr>
              <a:t>Reading JSON</a:t>
            </a:r>
            <a:r>
              <a:rPr lang="en-US" sz="2800" b="1" i="0" dirty="0">
                <a:solidFill>
                  <a:srgbClr val="7030A0"/>
                </a:solidFill>
                <a:effectLst/>
                <a:latin typeface="urw-din"/>
              </a:rPr>
              <a:t> from a file using Python)</a:t>
            </a:r>
          </a:p>
          <a:p>
            <a:pPr algn="just"/>
            <a:endParaRPr lang="en-US" sz="2800" b="1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endParaRPr lang="en-US" b="1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en-US" sz="2400" b="1" i="0" dirty="0">
                <a:solidFill>
                  <a:srgbClr val="00B050"/>
                </a:solidFill>
                <a:effectLst/>
                <a:latin typeface="Source Sans Pro" panose="020B0503030403020204" pitchFamily="34" charset="0"/>
              </a:rPr>
              <a:t>Let us see how to read JSON file in Python with Python parse JSON example:</a:t>
            </a:r>
          </a:p>
          <a:p>
            <a:pPr algn="just"/>
            <a:endParaRPr lang="en-US" sz="2400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en-US" sz="2400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NOTE: </a:t>
            </a:r>
            <a:r>
              <a:rPr lang="en-US" sz="2400" b="0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Source Sans Pro" panose="020B0503030403020204" pitchFamily="34" charset="0"/>
              </a:rPr>
              <a:t>Decoding JSON file is File Input /Output (I/O) related operation. The JSON file must exist on your system at specified the location that you mention in your program.</a:t>
            </a:r>
            <a:endParaRPr lang="en-US" sz="2000" b="0" i="0" dirty="0">
              <a:solidFill>
                <a:srgbClr val="C00000"/>
              </a:solidFill>
              <a:effectLst/>
              <a:highlight>
                <a:srgbClr val="FFFF00"/>
              </a:highlight>
              <a:latin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93EBF-8170-3CCA-E425-39309966BD51}"/>
              </a:ext>
            </a:extLst>
          </p:cNvPr>
          <p:cNvSpPr txBox="1"/>
          <p:nvPr/>
        </p:nvSpPr>
        <p:spPr>
          <a:xfrm>
            <a:off x="484096" y="4599000"/>
            <a:ext cx="11474822" cy="193899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</a:rPr>
              <a:t>Deserialization 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is the </a:t>
            </a:r>
            <a:r>
              <a:rPr lang="en-US" sz="2400" b="0" i="0" dirty="0" smtClean="0">
                <a:solidFill>
                  <a:srgbClr val="273239"/>
                </a:solidFill>
                <a:effectLst/>
                <a:latin typeface="urw-din"/>
              </a:rPr>
              <a:t>conversion 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of JSON objects into their respective Python objects. The load() method is used for it.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 If you have used JSON data from another program or obtained it as a string format of JSON, then it can easily be deserialized with load(), which is usually used to load from a string, otherwise, the root object is in a list or </a:t>
            </a:r>
            <a:r>
              <a:rPr lang="en-US" sz="2400" b="0" i="0" dirty="0" err="1">
                <a:solidFill>
                  <a:srgbClr val="273239"/>
                </a:solidFill>
                <a:effectLst/>
                <a:latin typeface="urw-din"/>
              </a:rPr>
              <a:t>Dict</a:t>
            </a:r>
            <a:endParaRPr lang="en-US" sz="2400" b="0" i="0" dirty="0">
              <a:solidFill>
                <a:srgbClr val="273239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176302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FA34C-F156-8D4D-7EB4-3C9F556B18CD}"/>
              </a:ext>
            </a:extLst>
          </p:cNvPr>
          <p:cNvSpPr txBox="1"/>
          <p:nvPr/>
        </p:nvSpPr>
        <p:spPr>
          <a:xfrm>
            <a:off x="358588" y="79099"/>
            <a:ext cx="9511553" cy="29546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Example 1 : Python read JSON file</a:t>
            </a:r>
          </a:p>
          <a:p>
            <a:r>
              <a:rPr lang="en-US" sz="2400" dirty="0">
                <a:solidFill>
                  <a:srgbClr val="002060"/>
                </a:solidFill>
              </a:rPr>
              <a:t>You can use </a:t>
            </a:r>
            <a:r>
              <a:rPr lang="en-US" sz="2400" dirty="0" err="1">
                <a:solidFill>
                  <a:srgbClr val="002060"/>
                </a:solidFill>
              </a:rPr>
              <a:t>json.load</a:t>
            </a:r>
            <a:r>
              <a:rPr lang="en-US" sz="2400" dirty="0">
                <a:solidFill>
                  <a:srgbClr val="002060"/>
                </a:solidFill>
              </a:rPr>
              <a:t>() method to read a file containing JSON object.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Suppose, you have a file named </a:t>
            </a:r>
            <a:r>
              <a:rPr lang="en-US" sz="2400" dirty="0" err="1">
                <a:solidFill>
                  <a:srgbClr val="002060"/>
                </a:solidFill>
                <a:highlight>
                  <a:srgbClr val="00FF00"/>
                </a:highlight>
              </a:rPr>
              <a:t>person.json</a:t>
            </a:r>
            <a:r>
              <a:rPr lang="en-US" sz="2400" dirty="0">
                <a:solidFill>
                  <a:srgbClr val="002060"/>
                </a:solidFill>
                <a:highlight>
                  <a:srgbClr val="00FF00"/>
                </a:highlight>
              </a:rPr>
              <a:t> </a:t>
            </a:r>
            <a:r>
              <a:rPr lang="en-US" sz="2400" dirty="0">
                <a:solidFill>
                  <a:srgbClr val="002060"/>
                </a:solidFill>
              </a:rPr>
              <a:t>which contains a JSON object.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{"name": "Bob",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"languages": ["English", "French"]</a:t>
            </a: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434A6-EE55-2504-EEB9-97917E914718}"/>
              </a:ext>
            </a:extLst>
          </p:cNvPr>
          <p:cNvSpPr txBox="1"/>
          <p:nvPr/>
        </p:nvSpPr>
        <p:spPr>
          <a:xfrm>
            <a:off x="824753" y="2817854"/>
            <a:ext cx="11250706" cy="4001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highlight>
                  <a:srgbClr val="00FF00"/>
                </a:highlight>
              </a:rPr>
              <a:t>Here's how you can parse this file:</a:t>
            </a:r>
          </a:p>
          <a:p>
            <a:endParaRPr lang="en-US" sz="2000" dirty="0"/>
          </a:p>
          <a:p>
            <a:r>
              <a:rPr lang="en-US" sz="2400" b="1" dirty="0">
                <a:solidFill>
                  <a:schemeClr val="accent1"/>
                </a:solidFill>
              </a:rPr>
              <a:t>import </a:t>
            </a:r>
            <a:r>
              <a:rPr lang="en-US" sz="2400" b="1" dirty="0" err="1">
                <a:solidFill>
                  <a:schemeClr val="accent1"/>
                </a:solidFill>
              </a:rPr>
              <a:t>json</a:t>
            </a:r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with open('</a:t>
            </a:r>
            <a:r>
              <a:rPr lang="en-US" sz="2400" b="1" dirty="0" err="1">
                <a:solidFill>
                  <a:schemeClr val="accent1"/>
                </a:solidFill>
              </a:rPr>
              <a:t>path_to_file</a:t>
            </a:r>
            <a:r>
              <a:rPr lang="en-US" sz="2400" b="1" dirty="0">
                <a:solidFill>
                  <a:schemeClr val="accent1"/>
                </a:solidFill>
              </a:rPr>
              <a:t>/</a:t>
            </a:r>
            <a:r>
              <a:rPr lang="en-US" sz="2400" b="1" dirty="0" err="1">
                <a:solidFill>
                  <a:schemeClr val="accent1"/>
                </a:solidFill>
              </a:rPr>
              <a:t>person.json</a:t>
            </a:r>
            <a:r>
              <a:rPr lang="en-US" sz="2400" b="1" dirty="0">
                <a:solidFill>
                  <a:schemeClr val="accent1"/>
                </a:solidFill>
              </a:rPr>
              <a:t>', 'r') as f: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data = </a:t>
            </a:r>
            <a:r>
              <a:rPr lang="en-US" sz="2400" b="1" dirty="0" err="1">
                <a:solidFill>
                  <a:schemeClr val="accent1"/>
                </a:solidFill>
              </a:rPr>
              <a:t>json.load</a:t>
            </a:r>
            <a:r>
              <a:rPr lang="en-US" sz="2400" b="1" dirty="0">
                <a:solidFill>
                  <a:schemeClr val="accent1"/>
                </a:solidFill>
              </a:rPr>
              <a:t>(f)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print(data)</a:t>
            </a:r>
          </a:p>
          <a:p>
            <a:endParaRPr lang="en-US" sz="2000" dirty="0"/>
          </a:p>
          <a:p>
            <a:r>
              <a:rPr lang="en-US" sz="2000" dirty="0">
                <a:highlight>
                  <a:srgbClr val="00FF00"/>
                </a:highlight>
              </a:rPr>
              <a:t># Output:   </a:t>
            </a:r>
            <a:r>
              <a:rPr lang="en-US" sz="2000" b="1" dirty="0">
                <a:solidFill>
                  <a:srgbClr val="002060"/>
                </a:solidFill>
              </a:rPr>
              <a:t>{'name': 'Bob', 'languages': ['English', 'French’]}</a:t>
            </a:r>
          </a:p>
          <a:p>
            <a:endParaRPr lang="en-US" sz="2000" b="1" dirty="0"/>
          </a:p>
          <a:p>
            <a:r>
              <a:rPr lang="en-US" sz="2000" dirty="0">
                <a:solidFill>
                  <a:srgbClr val="7030A0"/>
                </a:solidFill>
              </a:rPr>
              <a:t>Here, we have used the open() function to read the </a:t>
            </a:r>
            <a:r>
              <a:rPr lang="en-US" sz="2000" dirty="0" err="1">
                <a:solidFill>
                  <a:srgbClr val="7030A0"/>
                </a:solidFill>
              </a:rPr>
              <a:t>json</a:t>
            </a:r>
            <a:r>
              <a:rPr lang="en-US" sz="2000" dirty="0">
                <a:solidFill>
                  <a:srgbClr val="7030A0"/>
                </a:solidFill>
              </a:rPr>
              <a:t> file. Then, the file is parsed using </a:t>
            </a:r>
            <a:r>
              <a:rPr lang="en-US" sz="2000" dirty="0" err="1">
                <a:solidFill>
                  <a:srgbClr val="7030A0"/>
                </a:solidFill>
              </a:rPr>
              <a:t>json.load</a:t>
            </a:r>
            <a:r>
              <a:rPr lang="en-US" sz="2000" dirty="0">
                <a:solidFill>
                  <a:srgbClr val="7030A0"/>
                </a:solidFill>
              </a:rPr>
              <a:t>() method which gives us a dictionary named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74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AF72C-CD3E-6216-F345-04B8F0DDD91E}"/>
              </a:ext>
            </a:extLst>
          </p:cNvPr>
          <p:cNvSpPr txBox="1"/>
          <p:nvPr/>
        </p:nvSpPr>
        <p:spPr>
          <a:xfrm>
            <a:off x="995082" y="474240"/>
            <a:ext cx="38690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highlight>
                  <a:srgbClr val="00FFFF"/>
                </a:highlight>
              </a:rPr>
              <a:t>Example 1 : Python read JSON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EC700-62B7-63A7-FB6C-643C3E81F01F}"/>
              </a:ext>
            </a:extLst>
          </p:cNvPr>
          <p:cNvSpPr txBox="1"/>
          <p:nvPr/>
        </p:nvSpPr>
        <p:spPr>
          <a:xfrm>
            <a:off x="995081" y="1081625"/>
            <a:ext cx="8588189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import </a:t>
            </a:r>
            <a:r>
              <a:rPr lang="en-US" sz="2400" b="1" dirty="0" err="1">
                <a:solidFill>
                  <a:srgbClr val="002060"/>
                </a:solidFill>
              </a:rPr>
              <a:t>json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#File I/O Open function for read data from JSON File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with open('X:/</a:t>
            </a:r>
            <a:r>
              <a:rPr lang="en-US" sz="2400" b="1" dirty="0" err="1">
                <a:solidFill>
                  <a:srgbClr val="002060"/>
                </a:solidFill>
              </a:rPr>
              <a:t>json_file.json</a:t>
            </a:r>
            <a:r>
              <a:rPr lang="en-US" sz="2400" b="1" dirty="0">
                <a:solidFill>
                  <a:srgbClr val="002060"/>
                </a:solidFill>
              </a:rPr>
              <a:t>') as </a:t>
            </a:r>
            <a:r>
              <a:rPr lang="en-US" sz="2400" b="1" dirty="0" err="1">
                <a:solidFill>
                  <a:srgbClr val="002060"/>
                </a:solidFill>
              </a:rPr>
              <a:t>file_object</a:t>
            </a:r>
            <a:r>
              <a:rPr lang="en-US" sz="2400" b="1" dirty="0">
                <a:solidFill>
                  <a:srgbClr val="002060"/>
                </a:solidFill>
              </a:rPr>
              <a:t>: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        # store file data in object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        data = </a:t>
            </a:r>
            <a:r>
              <a:rPr lang="en-US" sz="2400" b="1" dirty="0" err="1">
                <a:solidFill>
                  <a:srgbClr val="002060"/>
                </a:solidFill>
              </a:rPr>
              <a:t>json.load</a:t>
            </a:r>
            <a:r>
              <a:rPr lang="en-US" sz="2400" b="1" dirty="0">
                <a:solidFill>
                  <a:srgbClr val="002060"/>
                </a:solidFill>
              </a:rPr>
              <a:t>(</a:t>
            </a:r>
            <a:r>
              <a:rPr lang="en-US" sz="2400" b="1" dirty="0" err="1">
                <a:solidFill>
                  <a:srgbClr val="002060"/>
                </a:solidFill>
              </a:rPr>
              <a:t>file_object</a:t>
            </a:r>
            <a:r>
              <a:rPr lang="en-US" sz="2400" b="1" dirty="0">
                <a:solidFill>
                  <a:srgbClr val="002060"/>
                </a:solidFill>
              </a:rPr>
              <a:t>)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print(data)</a:t>
            </a:r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951DB5-E903-6208-D507-5853079B0664}"/>
              </a:ext>
            </a:extLst>
          </p:cNvPr>
          <p:cNvSpPr txBox="1"/>
          <p:nvPr/>
        </p:nvSpPr>
        <p:spPr>
          <a:xfrm>
            <a:off x="905434" y="4173070"/>
            <a:ext cx="9986683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Here data is a dictionary object of Python as shown in the above read JSON file Python example.</a:t>
            </a:r>
          </a:p>
          <a:p>
            <a:endParaRPr lang="en-US" sz="2400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7030A0"/>
                </a:solidFill>
              </a:rPr>
              <a:t>Output:</a:t>
            </a:r>
          </a:p>
          <a:p>
            <a:endParaRPr lang="en-US" sz="2400" dirty="0">
              <a:solidFill>
                <a:srgbClr val="7030A0"/>
              </a:solidFill>
            </a:endParaRPr>
          </a:p>
          <a:p>
            <a:r>
              <a:rPr lang="en-US" sz="2400" dirty="0">
                <a:solidFill>
                  <a:srgbClr val="7030A0"/>
                </a:solidFill>
              </a:rPr>
              <a:t>{'person': {'name': 'Kenn', 'sex': 'male', 'age': 28}}</a:t>
            </a:r>
            <a:endParaRPr lang="en-IN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32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EF4CA-A3EC-EBB2-F43E-7DB28664D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76" y="293407"/>
            <a:ext cx="10515600" cy="132556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just"/>
            <a:r>
              <a:rPr lang="en-US" b="0" i="0" dirty="0">
                <a:solidFill>
                  <a:srgbClr val="7030A0"/>
                </a:solidFill>
                <a:effectLst/>
                <a:latin typeface="system-ui"/>
              </a:rPr>
              <a:t>The conversion of JSON data to Python is based on the following conversion table</a:t>
            </a:r>
            <a:endParaRPr lang="en-IN" dirty="0">
              <a:solidFill>
                <a:srgbClr val="7030A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C117DA-F433-7076-3D3D-2DABDEE0B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831074"/>
              </p:ext>
            </p:extLst>
          </p:nvPr>
        </p:nvGraphicFramePr>
        <p:xfrm>
          <a:off x="475130" y="3208950"/>
          <a:ext cx="3254188" cy="3154680"/>
        </p:xfrm>
        <a:graphic>
          <a:graphicData uri="http://schemas.openxmlformats.org/drawingml/2006/table">
            <a:tbl>
              <a:tblPr/>
              <a:tblGrid>
                <a:gridCol w="1541929">
                  <a:extLst>
                    <a:ext uri="{9D8B030D-6E8A-4147-A177-3AD203B41FA5}">
                      <a16:colId xmlns:a16="http://schemas.microsoft.com/office/drawing/2014/main" val="3208850489"/>
                    </a:ext>
                  </a:extLst>
                </a:gridCol>
                <a:gridCol w="1712259">
                  <a:extLst>
                    <a:ext uri="{9D8B030D-6E8A-4147-A177-3AD203B41FA5}">
                      <a16:colId xmlns:a16="http://schemas.microsoft.com/office/drawing/2014/main" val="238727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</a:rPr>
                        <a:t>JSON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</a:rPr>
                        <a:t>Python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624408"/>
                  </a:ext>
                </a:extLst>
              </a:tr>
              <a:tr h="10230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object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dict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857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array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list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550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string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str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227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number (int)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int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709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number (real)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float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749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21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095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null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None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322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9C5C3B-4ABE-EF5B-8F6A-53D5D7FC022B}"/>
              </a:ext>
            </a:extLst>
          </p:cNvPr>
          <p:cNvSpPr txBox="1"/>
          <p:nvPr/>
        </p:nvSpPr>
        <p:spPr>
          <a:xfrm>
            <a:off x="242047" y="1796599"/>
            <a:ext cx="11519647" cy="10772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3A3A3A"/>
                </a:solidFill>
                <a:effectLst/>
                <a:uLnTx/>
                <a:uFillTx/>
                <a:latin typeface="system-ui"/>
                <a:ea typeface="+mj-ea"/>
                <a:cs typeface="+mj-cs"/>
              </a:rPr>
              <a:t>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+mj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Source Sans Pro" panose="020B0503030403020204" pitchFamily="34" charset="0"/>
                <a:ea typeface="+mj-ea"/>
                <a:cs typeface="+mj-cs"/>
              </a:rPr>
              <a:t>Here translation table show example of JSON objects to Python objects which are helpful to perform decoding in Python of JSON string</a:t>
            </a:r>
            <a:endParaRPr lang="en-IN" sz="2000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FBD5B6-057E-3753-C806-2225DC58B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965" y="3287539"/>
            <a:ext cx="7703988" cy="2501448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BACFEE-33B3-DAF5-3752-299760FEEECD}"/>
              </a:ext>
            </a:extLst>
          </p:cNvPr>
          <p:cNvCxnSpPr>
            <a:cxnSpLocks/>
          </p:cNvCxnSpPr>
          <p:nvPr/>
        </p:nvCxnSpPr>
        <p:spPr>
          <a:xfrm>
            <a:off x="3244476" y="4214011"/>
            <a:ext cx="1162424" cy="8786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EB3AE8-C292-90A8-AECC-79E5FB71587D}"/>
              </a:ext>
            </a:extLst>
          </p:cNvPr>
          <p:cNvCxnSpPr>
            <a:cxnSpLocks/>
          </p:cNvCxnSpPr>
          <p:nvPr/>
        </p:nvCxnSpPr>
        <p:spPr>
          <a:xfrm flipV="1">
            <a:off x="1604682" y="3848100"/>
            <a:ext cx="2649818" cy="2540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7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C34793-716F-A1B7-E062-0B68EC9B6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85000" cy="81597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IN" b="1" i="0" dirty="0" smtClean="0">
                <a:solidFill>
                  <a:srgbClr val="3A3A3A"/>
                </a:solidFill>
                <a:effectLst/>
                <a:latin typeface="system-ui"/>
              </a:rPr>
              <a:t/>
            </a:r>
            <a:br>
              <a:rPr lang="en-IN" b="1" i="0" dirty="0" smtClean="0">
                <a:solidFill>
                  <a:srgbClr val="3A3A3A"/>
                </a:solidFill>
                <a:effectLst/>
                <a:latin typeface="system-ui"/>
              </a:rPr>
            </a:br>
            <a:r>
              <a:rPr lang="en-IN" b="1" i="0" dirty="0" smtClean="0">
                <a:solidFill>
                  <a:schemeClr val="bg1"/>
                </a:solidFill>
                <a:effectLst/>
                <a:latin typeface="system-ui"/>
              </a:rPr>
              <a:t>Python </a:t>
            </a:r>
            <a:r>
              <a:rPr lang="en-IN" b="1" i="0" dirty="0">
                <a:solidFill>
                  <a:schemeClr val="bg1"/>
                </a:solidFill>
                <a:effectLst/>
                <a:latin typeface="system-ui"/>
              </a:rPr>
              <a:t>to JSON  (Encoding)</a:t>
            </a:r>
            <a:r>
              <a:rPr lang="en-IN" b="1" i="0" dirty="0">
                <a:solidFill>
                  <a:srgbClr val="3A3A3A"/>
                </a:solidFill>
                <a:effectLst/>
                <a:latin typeface="system-ui"/>
              </a:rPr>
              <a:t/>
            </a:r>
            <a:br>
              <a:rPr lang="en-IN" b="1" i="0" dirty="0">
                <a:solidFill>
                  <a:srgbClr val="3A3A3A"/>
                </a:solidFill>
                <a:effectLst/>
                <a:latin typeface="system-ui"/>
              </a:rPr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EB1F92-E9A9-0CC5-2890-392EEEFBF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7" y="1210235"/>
            <a:ext cx="11170023" cy="5282640"/>
          </a:xfrm>
        </p:spPr>
        <p:txBody>
          <a:bodyPr>
            <a:normAutofit fontScale="92500"/>
          </a:bodyPr>
          <a:lstStyle/>
          <a:p>
            <a:pPr algn="just"/>
            <a:r>
              <a:rPr lang="en-US" b="0" i="0" dirty="0">
                <a:solidFill>
                  <a:srgbClr val="7030A0"/>
                </a:solidFill>
                <a:effectLst/>
                <a:latin typeface="system-ui"/>
              </a:rPr>
              <a:t>we saw how to convert JSON into a Python value (i.e. Dictionary</a:t>
            </a:r>
            <a:r>
              <a:rPr lang="en-US" b="0" i="0" dirty="0" smtClean="0">
                <a:solidFill>
                  <a:srgbClr val="7030A0"/>
                </a:solidFill>
                <a:effectLst/>
                <a:latin typeface="system-ui"/>
              </a:rPr>
              <a:t>).</a:t>
            </a:r>
          </a:p>
          <a:p>
            <a:pPr algn="just"/>
            <a:endParaRPr lang="en-US" b="0" i="0" dirty="0">
              <a:solidFill>
                <a:srgbClr val="7030A0"/>
              </a:solidFill>
              <a:effectLst/>
              <a:latin typeface="system-ui"/>
            </a:endParaRPr>
          </a:p>
          <a:p>
            <a:pPr algn="just"/>
            <a:r>
              <a:rPr lang="en-US" dirty="0">
                <a:solidFill>
                  <a:srgbClr val="0070C0"/>
                </a:solidFill>
                <a:latin typeface="system-ui"/>
              </a:rPr>
              <a:t>Now, </a:t>
            </a:r>
            <a:r>
              <a:rPr lang="en-US" b="0" i="0" dirty="0">
                <a:solidFill>
                  <a:srgbClr val="0070C0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0070C0"/>
                </a:solidFill>
                <a:effectLst/>
                <a:highlight>
                  <a:srgbClr val="FFFF00"/>
                </a:highlight>
                <a:latin typeface="system-ui"/>
              </a:rPr>
              <a:t>how we can convert (encode) a Python value to JSON?</a:t>
            </a:r>
            <a:r>
              <a:rPr lang="en-US" b="0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 Converting Python data to JSON is called an Encoding operation. Encoding is done with the help of JSON library method – </a:t>
            </a:r>
            <a:r>
              <a:rPr lang="en-US" b="1" i="0" dirty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dumps</a:t>
            </a:r>
            <a:r>
              <a:rPr lang="en-US" b="1" i="0" dirty="0" smtClean="0">
                <a:solidFill>
                  <a:srgbClr val="0070C0"/>
                </a:solidFill>
                <a:effectLst/>
                <a:latin typeface="Source Sans Pro" panose="020B0503030403020204" pitchFamily="34" charset="0"/>
              </a:rPr>
              <a:t>()</a:t>
            </a:r>
          </a:p>
          <a:p>
            <a:pPr algn="just"/>
            <a:endParaRPr lang="en-US" b="1" i="0" dirty="0">
              <a:solidFill>
                <a:srgbClr val="7030A0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en-US" b="0" i="0" u="sng" dirty="0">
                <a:solidFill>
                  <a:srgbClr val="7030A0"/>
                </a:solidFill>
                <a:effectLst/>
                <a:latin typeface="urw-din"/>
              </a:rPr>
              <a:t>Serializing JSON</a:t>
            </a:r>
            <a:r>
              <a:rPr lang="en-US" b="0" i="0" dirty="0">
                <a:solidFill>
                  <a:srgbClr val="7030A0"/>
                </a:solidFill>
                <a:effectLst/>
                <a:latin typeface="urw-din"/>
              </a:rPr>
              <a:t> refers to the transformation of data into a series of bytes (hence serial) to be stored or transmitted across a network. </a:t>
            </a:r>
            <a:endParaRPr lang="en-US" b="0" i="0" dirty="0" smtClean="0">
              <a:solidFill>
                <a:srgbClr val="7030A0"/>
              </a:solidFill>
              <a:effectLst/>
              <a:latin typeface="urw-din"/>
            </a:endParaRPr>
          </a:p>
          <a:p>
            <a:pPr algn="just"/>
            <a:endParaRPr lang="en-US" b="0" i="0" dirty="0">
              <a:solidFill>
                <a:srgbClr val="7030A0"/>
              </a:solidFill>
              <a:effectLst/>
              <a:latin typeface="urw-din"/>
            </a:endParaRPr>
          </a:p>
          <a:p>
            <a:pPr algn="just"/>
            <a:r>
              <a:rPr lang="en-US" b="0" i="0" dirty="0">
                <a:solidFill>
                  <a:srgbClr val="0070C0"/>
                </a:solidFill>
                <a:effectLst/>
                <a:latin typeface="urw-din"/>
              </a:rPr>
              <a:t>To handle the data flow in a file, the JSON library in Python uses </a:t>
            </a:r>
            <a:r>
              <a:rPr lang="en-US" b="0" i="0" u="sng" dirty="0">
                <a:solidFill>
                  <a:srgbClr val="0070C0"/>
                </a:solidFill>
                <a:effectLst/>
                <a:latin typeface="urw-din"/>
              </a:rPr>
              <a:t>dump</a:t>
            </a:r>
            <a:r>
              <a:rPr lang="en-US" b="0" i="0" dirty="0">
                <a:solidFill>
                  <a:srgbClr val="0070C0"/>
                </a:solidFill>
                <a:effectLst/>
                <a:latin typeface="urw-din"/>
              </a:rPr>
              <a:t>() or </a:t>
            </a:r>
            <a:r>
              <a:rPr lang="en-US" b="0" i="0" u="sng" dirty="0">
                <a:solidFill>
                  <a:srgbClr val="0070C0"/>
                </a:solidFill>
                <a:effectLst/>
                <a:latin typeface="urw-din"/>
              </a:rPr>
              <a:t>dumps</a:t>
            </a:r>
            <a:r>
              <a:rPr lang="en-US" b="0" i="0" dirty="0">
                <a:solidFill>
                  <a:srgbClr val="0070C0"/>
                </a:solidFill>
                <a:effectLst/>
                <a:latin typeface="urw-din"/>
              </a:rPr>
              <a:t>() function to convert the Python objects into their respective JSON object, so it makes it easy to write data to files.</a:t>
            </a:r>
            <a:endParaRPr lang="en-IN" dirty="0">
              <a:solidFill>
                <a:srgbClr val="0070C0"/>
              </a:solidFill>
            </a:endParaRPr>
          </a:p>
          <a:p>
            <a:endParaRPr lang="en-US" sz="2800" b="0" i="0" dirty="0">
              <a:solidFill>
                <a:srgbClr val="273239"/>
              </a:solidFill>
              <a:effectLst/>
              <a:latin typeface="urw-din"/>
            </a:endParaRPr>
          </a:p>
          <a:p>
            <a:pPr algn="l"/>
            <a:endParaRPr lang="en-US" b="0" i="0" dirty="0">
              <a:solidFill>
                <a:srgbClr val="3A3A3A"/>
              </a:solidFill>
              <a:effectLst/>
              <a:highlight>
                <a:srgbClr val="FFFF00"/>
              </a:highlight>
              <a:latin typeface="system-ui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806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4AD542-A04D-9C84-E1BE-CF9AA6930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00" y="2120152"/>
            <a:ext cx="8292613" cy="19949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D0544B-B539-307E-54CA-71AB5169392A}"/>
              </a:ext>
            </a:extLst>
          </p:cNvPr>
          <p:cNvSpPr txBox="1"/>
          <p:nvPr/>
        </p:nvSpPr>
        <p:spPr>
          <a:xfrm>
            <a:off x="782170" y="4572273"/>
            <a:ext cx="10627659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So this output is considered the data representation of the object (Dictionary). The method dumps() was the key to such an operation.</a:t>
            </a:r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64B1D-FBB0-4458-86B6-E045F4E647D6}"/>
              </a:ext>
            </a:extLst>
          </p:cNvPr>
          <p:cNvSpPr txBox="1"/>
          <p:nvPr/>
        </p:nvSpPr>
        <p:spPr>
          <a:xfrm>
            <a:off x="1072864" y="1496217"/>
            <a:ext cx="6966235" cy="400110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chemeClr val="bg1"/>
                </a:solidFill>
                <a:effectLst/>
                <a:latin typeface="system-ui"/>
              </a:rPr>
              <a:t>Say that we have the following Dictionary in Python:</a:t>
            </a:r>
          </a:p>
        </p:txBody>
      </p:sp>
    </p:spTree>
    <p:extLst>
      <p:ext uri="{BB962C8B-B14F-4D97-AF65-F5344CB8AC3E}">
        <p14:creationId xmlns:p14="http://schemas.microsoft.com/office/powerpoint/2010/main" val="314974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45FB-931B-993F-2FFC-4F3E54B86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5" y="105148"/>
            <a:ext cx="11752729" cy="1126752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200" b="1" i="0" dirty="0">
                <a:solidFill>
                  <a:srgbClr val="3A3A3A"/>
                </a:solidFill>
                <a:effectLst/>
                <a:latin typeface="system-ui"/>
              </a:rPr>
              <a:t>The conversion of Python objects to JSON data is based on the following conversion table.</a:t>
            </a:r>
            <a:endParaRPr lang="en-IN" sz="3200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D3D283-1F1B-7782-05C3-065B05B85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181460"/>
              </p:ext>
            </p:extLst>
          </p:nvPr>
        </p:nvGraphicFramePr>
        <p:xfrm>
          <a:off x="531906" y="2236395"/>
          <a:ext cx="3263153" cy="3154680"/>
        </p:xfrm>
        <a:graphic>
          <a:graphicData uri="http://schemas.openxmlformats.org/drawingml/2006/table">
            <a:tbl>
              <a:tblPr/>
              <a:tblGrid>
                <a:gridCol w="1600030">
                  <a:extLst>
                    <a:ext uri="{9D8B030D-6E8A-4147-A177-3AD203B41FA5}">
                      <a16:colId xmlns:a16="http://schemas.microsoft.com/office/drawing/2014/main" val="2050691281"/>
                    </a:ext>
                  </a:extLst>
                </a:gridCol>
                <a:gridCol w="1663123">
                  <a:extLst>
                    <a:ext uri="{9D8B030D-6E8A-4147-A177-3AD203B41FA5}">
                      <a16:colId xmlns:a16="http://schemas.microsoft.com/office/drawing/2014/main" val="762042219"/>
                    </a:ext>
                  </a:extLst>
                </a:gridCol>
              </a:tblGrid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Python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 dirty="0">
                          <a:effectLst/>
                        </a:rPr>
                        <a:t>JSON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939466"/>
                  </a:ext>
                </a:extLst>
              </a:tr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dict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object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967438"/>
                  </a:ext>
                </a:extLst>
              </a:tr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List, tuple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array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998578"/>
                  </a:ext>
                </a:extLst>
              </a:tr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str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string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51071"/>
                  </a:ext>
                </a:extLst>
              </a:tr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int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number (int)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148488"/>
                  </a:ext>
                </a:extLst>
              </a:tr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float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number (real)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367566"/>
                  </a:ext>
                </a:extLst>
              </a:tr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false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476070"/>
                  </a:ext>
                </a:extLst>
              </a:tr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true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483478"/>
                  </a:ext>
                </a:extLst>
              </a:tr>
              <a:tr h="305796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effectLst/>
                        </a:rPr>
                        <a:t>None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effectLst/>
                        </a:rPr>
                        <a:t>null</a:t>
                      </a:r>
                    </a:p>
                  </a:txBody>
                  <a:tcPr marL="76200" marR="76200" marT="38100" marB="38100" anchor="ctr">
                    <a:lnL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8E8E8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64631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905992A-FFA8-B996-E205-CDCFABE8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001" y="1447800"/>
            <a:ext cx="5333246" cy="530505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68020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E72154-5AFC-0EE5-912F-C05571916445}"/>
              </a:ext>
            </a:extLst>
          </p:cNvPr>
          <p:cNvSpPr txBox="1"/>
          <p:nvPr/>
        </p:nvSpPr>
        <p:spPr>
          <a:xfrm>
            <a:off x="428813" y="181535"/>
            <a:ext cx="11232776" cy="6555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2060"/>
                </a:solidFill>
                <a:effectLst/>
                <a:latin typeface="urw-din"/>
              </a:rPr>
              <a:t>Method 1: Writing JSON to a file in Python using </a:t>
            </a:r>
            <a:r>
              <a:rPr lang="en-US" sz="2800" b="1" i="0" dirty="0" err="1">
                <a:solidFill>
                  <a:srgbClr val="002060"/>
                </a:solidFill>
                <a:effectLst/>
                <a:latin typeface="urw-din"/>
              </a:rPr>
              <a:t>json.dumps</a:t>
            </a:r>
            <a:r>
              <a:rPr lang="en-US" sz="2800" b="1" i="0" dirty="0">
                <a:solidFill>
                  <a:srgbClr val="002060"/>
                </a:solidFill>
                <a:effectLst/>
                <a:latin typeface="urw-din"/>
              </a:rPr>
              <a:t>() </a:t>
            </a:r>
          </a:p>
          <a:p>
            <a:pPr algn="l"/>
            <a:endParaRPr lang="en-US" sz="2800" b="0" i="0" dirty="0">
              <a:solidFill>
                <a:srgbClr val="333333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2800" b="0" i="0" dirty="0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 can convert any Python object to a JSON string and write JSON to File using </a:t>
            </a:r>
            <a:r>
              <a:rPr lang="en-US" sz="2800" b="0" i="0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json.dumps</a:t>
            </a:r>
            <a:r>
              <a:rPr lang="en-US" sz="2800" b="0" i="0" dirty="0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() function and </a:t>
            </a:r>
            <a:r>
              <a:rPr lang="en-US" sz="2800" b="0" i="0" dirty="0" err="1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file.write</a:t>
            </a:r>
            <a:r>
              <a:rPr lang="en-US" sz="2800" b="0" i="0" dirty="0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() function respectively.</a:t>
            </a:r>
          </a:p>
          <a:p>
            <a:pPr algn="l"/>
            <a:r>
              <a:rPr lang="en-US" sz="2800" b="0" i="0" dirty="0">
                <a:solidFill>
                  <a:srgbClr val="7030A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Following is a step by step process to write JSON to file.</a:t>
            </a:r>
          </a:p>
          <a:p>
            <a:pPr algn="l"/>
            <a:endParaRPr lang="en-US" sz="2800" b="0" i="0" dirty="0">
              <a:solidFill>
                <a:srgbClr val="7030A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Prepare JSON string by converting a Python Object to JSON string using </a:t>
            </a:r>
            <a:r>
              <a:rPr lang="en-US" sz="2800" b="0" i="0" dirty="0" err="1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json.dumps</a:t>
            </a:r>
            <a:r>
              <a:rPr lang="en-US" sz="28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() function</a:t>
            </a:r>
            <a:r>
              <a:rPr lang="en-US" sz="2800" b="0" i="0" dirty="0" smtClean="0">
                <a:solidFill>
                  <a:srgbClr val="0070C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sz="2800" b="0" i="0" dirty="0">
              <a:solidFill>
                <a:srgbClr val="0070C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Create a JSON file using open(filename, ‘w’) function. We are opening file in write mode</a:t>
            </a:r>
            <a:r>
              <a:rPr lang="en-US" sz="2800" b="0" i="0" dirty="0" smtClean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US" sz="2800" b="0" i="0" dirty="0">
              <a:solidFill>
                <a:srgbClr val="00206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 algn="l">
              <a:buAutoNum type="arabicPeriod" startAt="3"/>
            </a:pPr>
            <a:r>
              <a:rPr lang="en-US" sz="2800" b="0" i="0" dirty="0">
                <a:solidFill>
                  <a:srgbClr val="00B050"/>
                </a:solidFill>
                <a:effectLst/>
                <a:latin typeface="urw-din"/>
              </a:rPr>
              <a:t>simply write JSON string  to a file using the “write” function</a:t>
            </a:r>
            <a:r>
              <a:rPr lang="en-US" sz="2800" b="0" i="0" dirty="0" smtClean="0">
                <a:solidFill>
                  <a:srgbClr val="00B050"/>
                </a:solidFill>
                <a:effectLst/>
                <a:latin typeface="urw-din"/>
              </a:rPr>
              <a:t>.</a:t>
            </a:r>
          </a:p>
          <a:p>
            <a:pPr marL="514350" indent="-514350" algn="l">
              <a:buAutoNum type="arabicPeriod" startAt="3"/>
            </a:pPr>
            <a:endParaRPr lang="en-US" sz="2800" b="0" i="0" dirty="0">
              <a:solidFill>
                <a:srgbClr val="00B050"/>
              </a:solidFill>
              <a:effectLst/>
              <a:latin typeface="urw-din"/>
            </a:endParaRPr>
          </a:p>
          <a:p>
            <a:pPr marL="514350" indent="-514350" algn="l">
              <a:buAutoNum type="arabicPeriod" startAt="3"/>
            </a:pPr>
            <a:r>
              <a:rPr lang="en-US" sz="2800" b="0" i="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Close the JSON file.</a:t>
            </a:r>
          </a:p>
        </p:txBody>
      </p:sp>
    </p:spTree>
    <p:extLst>
      <p:ext uri="{BB962C8B-B14F-4D97-AF65-F5344CB8AC3E}">
        <p14:creationId xmlns:p14="http://schemas.microsoft.com/office/powerpoint/2010/main" val="697066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1DB1B-8808-44EF-2EFB-9DAE1AC26EDB}"/>
              </a:ext>
            </a:extLst>
          </p:cNvPr>
          <p:cNvSpPr txBox="1"/>
          <p:nvPr/>
        </p:nvSpPr>
        <p:spPr>
          <a:xfrm>
            <a:off x="286870" y="198148"/>
            <a:ext cx="11008658" cy="14773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257CFF"/>
                </a:solidFill>
                <a:effectLst/>
                <a:latin typeface="-apple-system"/>
              </a:rPr>
              <a:t>Example 1: Write JSON (Object) to File</a:t>
            </a:r>
          </a:p>
          <a:p>
            <a:pPr algn="l"/>
            <a:r>
              <a:rPr lang="en-US" b="0" i="0" dirty="0">
                <a:solidFill>
                  <a:srgbClr val="002060"/>
                </a:solidFill>
                <a:effectLst/>
              </a:rPr>
              <a:t>In this example, we will convert or dump a Python </a:t>
            </a:r>
            <a:r>
              <a:rPr lang="en-US" b="0" i="0" u="none" strike="noStrike" dirty="0">
                <a:solidFill>
                  <a:srgbClr val="002060"/>
                </a:solidFill>
                <a:effectLst/>
              </a:rPr>
              <a:t>Dictionary to JSON</a:t>
            </a:r>
            <a:r>
              <a:rPr lang="en-US" b="0" i="0" dirty="0">
                <a:solidFill>
                  <a:srgbClr val="002060"/>
                </a:solidFill>
                <a:effectLst/>
              </a:rPr>
              <a:t> String, and write this JSON string to a file named </a:t>
            </a:r>
            <a:r>
              <a:rPr lang="en-US" b="1" i="0" dirty="0" err="1">
                <a:solidFill>
                  <a:srgbClr val="002060"/>
                </a:solidFill>
                <a:effectLst/>
              </a:rPr>
              <a:t>data.json</a:t>
            </a:r>
            <a:r>
              <a:rPr lang="en-US" b="0" i="0" dirty="0">
                <a:solidFill>
                  <a:srgbClr val="002060"/>
                </a:solidFill>
                <a:effectLst/>
                <a:latin typeface="Verdana" panose="020B0604030504040204" pitchFamily="34" charset="0"/>
              </a:rPr>
              <a:t>.</a:t>
            </a:r>
          </a:p>
          <a:p>
            <a:pPr algn="l"/>
            <a:endParaRPr lang="en-US" b="0" i="0" dirty="0">
              <a:solidFill>
                <a:srgbClr val="00206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1" i="0" dirty="0">
                <a:solidFill>
                  <a:srgbClr val="002060"/>
                </a:solidFill>
                <a:effectLst/>
                <a:latin typeface="Verdana" panose="020B0604030504040204" pitchFamily="34" charset="0"/>
              </a:rPr>
              <a:t>Python Program</a:t>
            </a:r>
            <a:endParaRPr lang="en-US" b="0" i="0" dirty="0">
              <a:solidFill>
                <a:srgbClr val="002060"/>
              </a:solidFill>
              <a:effectLst/>
              <a:latin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3B48B5-AFF4-30C5-767F-B280FABA2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8" y="1612989"/>
            <a:ext cx="4542759" cy="218866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C7F81F-A515-DDDF-43F1-56207EAB7A02}"/>
              </a:ext>
            </a:extLst>
          </p:cNvPr>
          <p:cNvSpPr txBox="1"/>
          <p:nvPr/>
        </p:nvSpPr>
        <p:spPr>
          <a:xfrm>
            <a:off x="286870" y="3729335"/>
            <a:ext cx="109157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C00000"/>
                </a:solidFill>
                <a:effectLst/>
                <a:latin typeface="Verdana" panose="020B0604030504040204" pitchFamily="34" charset="0"/>
              </a:rPr>
              <a:t>Output</a:t>
            </a:r>
            <a:endParaRPr lang="en-US" b="0" i="0" dirty="0">
              <a:solidFill>
                <a:srgbClr val="C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C00000"/>
                </a:solidFill>
                <a:effectLst/>
                <a:latin typeface="Verdana" panose="020B0604030504040204" pitchFamily="34" charset="0"/>
              </a:rPr>
              <a:t>Run the above program, and </a:t>
            </a:r>
            <a:r>
              <a:rPr lang="en-US" b="0" i="0" dirty="0" err="1">
                <a:solidFill>
                  <a:srgbClr val="C00000"/>
                </a:solidFill>
                <a:effectLst/>
                <a:latin typeface="Verdana" panose="020B0604030504040204" pitchFamily="34" charset="0"/>
              </a:rPr>
              <a:t>data.json</a:t>
            </a:r>
            <a:r>
              <a:rPr lang="en-US" b="0" i="0" dirty="0">
                <a:solidFill>
                  <a:srgbClr val="C00000"/>
                </a:solidFill>
                <a:effectLst/>
                <a:latin typeface="Verdana" panose="020B0604030504040204" pitchFamily="34" charset="0"/>
              </a:rPr>
              <a:t> will be created in the working directory.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B89916-6CBF-214A-456B-9F20B5B59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43" y="4456348"/>
            <a:ext cx="3817951" cy="21185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71085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462B94-F374-17ED-DAC5-5ADA50B61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8" y="946781"/>
            <a:ext cx="6217412" cy="44410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0B3CA3-F46A-8A94-E937-586623A210A2}"/>
              </a:ext>
            </a:extLst>
          </p:cNvPr>
          <p:cNvSpPr/>
          <p:nvPr/>
        </p:nvSpPr>
        <p:spPr>
          <a:xfrm>
            <a:off x="466165" y="322729"/>
            <a:ext cx="3012142" cy="4123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accent1"/>
                </a:solidFill>
              </a:rPr>
              <a:t>Example2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2456D4-E670-3C10-606A-3CD62F9EE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147" y="1827578"/>
            <a:ext cx="3345470" cy="23243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0828DEA-51C4-EBC2-DF8E-1560B990BB7C}"/>
              </a:ext>
            </a:extLst>
          </p:cNvPr>
          <p:cNvSpPr/>
          <p:nvPr/>
        </p:nvSpPr>
        <p:spPr>
          <a:xfrm>
            <a:off x="7507124" y="1165411"/>
            <a:ext cx="2106707" cy="448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789939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E7DDD2-4C54-F2AA-40C9-2DBC17246C9C}"/>
              </a:ext>
            </a:extLst>
          </p:cNvPr>
          <p:cNvSpPr txBox="1"/>
          <p:nvPr/>
        </p:nvSpPr>
        <p:spPr>
          <a:xfrm>
            <a:off x="358588" y="341583"/>
            <a:ext cx="1129553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2060"/>
                </a:solidFill>
                <a:effectLst/>
                <a:latin typeface="-apple-system"/>
              </a:rPr>
              <a:t>Example 3: Write JSON (List of Object) to File</a:t>
            </a:r>
          </a:p>
          <a:p>
            <a:pPr algn="l"/>
            <a:r>
              <a:rPr lang="en-US" b="0" i="0" dirty="0">
                <a:solidFill>
                  <a:srgbClr val="7030A0"/>
                </a:solidFill>
                <a:effectLst/>
              </a:rPr>
              <a:t>In this example, we will convert or dump Python </a:t>
            </a:r>
            <a:r>
              <a:rPr lang="en-US" b="0" i="0" u="none" strike="noStrike" dirty="0">
                <a:solidFill>
                  <a:srgbClr val="7030A0"/>
                </a:solidFill>
                <a:effectLst/>
              </a:rPr>
              <a:t>List of Dictionaries</a:t>
            </a:r>
            <a:r>
              <a:rPr lang="en-US" b="0" i="0" dirty="0">
                <a:solidFill>
                  <a:srgbClr val="7030A0"/>
                </a:solidFill>
                <a:effectLst/>
              </a:rPr>
              <a:t> to JSON string, and write this JSON string to file named </a:t>
            </a:r>
            <a:r>
              <a:rPr lang="en-US" b="0" i="0" dirty="0" err="1">
                <a:solidFill>
                  <a:srgbClr val="7030A0"/>
                </a:solidFill>
                <a:effectLst/>
              </a:rPr>
              <a:t>data.json</a:t>
            </a:r>
            <a:r>
              <a:rPr lang="en-US" b="0" i="0" dirty="0">
                <a:solidFill>
                  <a:srgbClr val="7030A0"/>
                </a:solidFill>
                <a:effectLst/>
              </a:rPr>
              <a:t>.</a:t>
            </a:r>
          </a:p>
          <a:p>
            <a:pPr algn="l"/>
            <a:r>
              <a:rPr lang="en-US" sz="1600" b="1" i="0" dirty="0">
                <a:solidFill>
                  <a:srgbClr val="002060"/>
                </a:solidFill>
                <a:effectLst/>
                <a:latin typeface="Verdana" panose="020B0604030504040204" pitchFamily="34" charset="0"/>
              </a:rPr>
              <a:t>Python Program</a:t>
            </a:r>
            <a:endParaRPr lang="en-US" sz="1600" b="0" i="0" dirty="0">
              <a:solidFill>
                <a:srgbClr val="002060"/>
              </a:solidFill>
              <a:effectLst/>
              <a:latin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37CA5-6D2D-6420-703A-52CD71024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40" y="1541912"/>
            <a:ext cx="7071419" cy="18972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36F179-45E2-FB76-0A69-72774965BA7D}"/>
              </a:ext>
            </a:extLst>
          </p:cNvPr>
          <p:cNvSpPr txBox="1"/>
          <p:nvPr/>
        </p:nvSpPr>
        <p:spPr>
          <a:xfrm>
            <a:off x="358588" y="3429000"/>
            <a:ext cx="1122381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Output</a:t>
            </a:r>
            <a:endParaRPr lang="en-US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Run the above program, and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data.json</a:t>
            </a:r>
            <a:r>
              <a:rPr lang="en-US" b="0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will be created in the working directory.</a:t>
            </a:r>
          </a:p>
          <a:p>
            <a:pPr algn="l"/>
            <a:r>
              <a:rPr lang="en-US" b="1" i="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data.json</a:t>
            </a:r>
            <a:endParaRPr lang="en-US" b="0" i="0" dirty="0">
              <a:solidFill>
                <a:srgbClr val="333333"/>
              </a:solidFill>
              <a:effectLst/>
              <a:latin typeface="Verdan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66FF2-22A2-C1C1-3EA9-725482276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40" y="4410652"/>
            <a:ext cx="6933384" cy="220783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32272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0356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1056</Words>
  <Application>Microsoft Office PowerPoint</Application>
  <PresentationFormat>Widescreen</PresentationFormat>
  <Paragraphs>207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-apple-system</vt:lpstr>
      <vt:lpstr>Arial</vt:lpstr>
      <vt:lpstr>Calibri</vt:lpstr>
      <vt:lpstr>Calibri Light</vt:lpstr>
      <vt:lpstr>droid sans mono</vt:lpstr>
      <vt:lpstr>euclid_circular_a</vt:lpstr>
      <vt:lpstr>Lato</vt:lpstr>
      <vt:lpstr>Source Sans Pro</vt:lpstr>
      <vt:lpstr>system-ui</vt:lpstr>
      <vt:lpstr>urw-din</vt:lpstr>
      <vt:lpstr>Verdana</vt:lpstr>
      <vt:lpstr>Office Theme</vt:lpstr>
      <vt:lpstr>PowerPoint Presentation</vt:lpstr>
      <vt:lpstr>What is JSON ?</vt:lpstr>
      <vt:lpstr>Why do we use JSON ?</vt:lpstr>
      <vt:lpstr> Basic JSON syntax </vt:lpstr>
      <vt:lpstr>  Another example of JSON-formatted data is as follows:  </vt:lpstr>
      <vt:lpstr>We can also create arrays, an ordered list of values, with JSON. In that case, arrays are contained inside square brackets:</vt:lpstr>
      <vt:lpstr>PowerPoint Presentation</vt:lpstr>
      <vt:lpstr>PowerPoint Presentation</vt:lpstr>
      <vt:lpstr> Python and JSON </vt:lpstr>
      <vt:lpstr>PowerPoint Presentation</vt:lpstr>
      <vt:lpstr> JSON to Python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conversion of JSON data to Python is based on the following conversion table</vt:lpstr>
      <vt:lpstr> Python to JSON  (Encoding) </vt:lpstr>
      <vt:lpstr>PowerPoint Presentation</vt:lpstr>
      <vt:lpstr>The conversion of Python objects to JSON data is based on the following conversion table.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Aabhitesh-Student-CBSE-Oxford Grammar School</dc:creator>
  <cp:lastModifiedBy>PalikaC</cp:lastModifiedBy>
  <cp:revision>27</cp:revision>
  <dcterms:created xsi:type="dcterms:W3CDTF">2022-07-31T17:24:55Z</dcterms:created>
  <dcterms:modified xsi:type="dcterms:W3CDTF">2026-05-01T06:04:52Z</dcterms:modified>
</cp:coreProperties>
</file>