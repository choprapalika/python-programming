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73" r:id="rId9"/>
    <p:sldId id="274" r:id="rId10"/>
    <p:sldId id="275" r:id="rId11"/>
    <p:sldId id="276" r:id="rId12"/>
    <p:sldId id="279" r:id="rId13"/>
    <p:sldId id="280" r:id="rId14"/>
    <p:sldId id="281" r:id="rId15"/>
    <p:sldId id="282" r:id="rId16"/>
    <p:sldId id="284" r:id="rId17"/>
    <p:sldId id="285" r:id="rId18"/>
    <p:sldId id="286" r:id="rId19"/>
    <p:sldId id="283" r:id="rId20"/>
    <p:sldId id="289" r:id="rId21"/>
    <p:sldId id="290" r:id="rId22"/>
    <p:sldId id="291" r:id="rId23"/>
    <p:sldId id="292" r:id="rId24"/>
    <p:sldId id="287" r:id="rId25"/>
    <p:sldId id="288" r:id="rId26"/>
    <p:sldId id="29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2F27B-4CB0-4567-B9D4-52E003154DBE}" type="datetimeFigureOut">
              <a:rPr lang="en-IN" smtClean="0"/>
              <a:t>25-02-2026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4C6767-4C50-4D77-9769-DEFCACB19A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9277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5BB9B-701B-4D63-985D-794A42B00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AA086-4A08-477B-A24A-B93F8223EE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CB4291-77C3-4D6E-BB08-1B95ADFB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E46CE-CA62-46AB-85C6-5CED84914168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601BC-E20C-4A4C-A4B8-04D9D97D5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22011-A498-4E89-848C-2C49C7174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8981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1D2B-0CD8-4CD3-A107-70D1D17AE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F5586-AC2F-4987-8E41-E2E148ECC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83B7-F734-4089-B176-8DD8A612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8194B-3401-4087-95CA-0215DE31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FC3CE-DDDE-4D84-ACCB-BFB78B0B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416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02D59-8B45-4029-BCF5-311A688D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F10F9-35B3-4E2A-8883-7C617BD90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5CCAF-AF60-4AA2-A0DA-D058FBD13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C64D1-34B5-4915-AD9A-C0FCF716B45D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8D8A-F157-48EF-A1B5-F935A1528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ED289-A9A0-46FA-BBA5-5AD320C67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7914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61D6F-992C-44A1-B85F-FC24D222C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29503-9F03-4448-8362-5EC802483D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47086F-0CE4-42FC-B984-0C9617C67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7D26A-28AD-4BF7-A719-2BC90C156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F921A-F859-4884-9490-9606E3708CBC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AFFB71-2803-4B38-B39A-10D6CBCEA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796D0C-9066-4BF1-A1F6-2B8EA240D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5171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6C85D-17B4-43DE-B776-3CEDD42BE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80CA9-B308-499A-8B3F-3BBE95FB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575EB-1217-4E2F-A273-5E5ABAF360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6990E2-F244-4041-9D0A-6884B0B088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300FE1-33E9-4B26-8563-FB360FD5C0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F81DD8-925A-4A9B-BBC7-96A231464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675A0-D70C-4840-92E9-E75661BCF300}" type="datetime1">
              <a:rPr lang="en-IN" smtClean="0"/>
              <a:t>25-02-2026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2A362-CDB7-41FF-A308-BEF57171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C5E5D3-F85C-4134-9474-F58B150EA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6844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6A4DC-4082-4C70-A758-51C85683B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F2D80F-E986-4CB1-991C-AC9E4EF77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C1F7-D569-44FA-9DF8-6899DFEC076A}" type="datetime1">
              <a:rPr lang="en-IN" smtClean="0"/>
              <a:t>25-02-2026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D2F957-5005-4DB1-BF45-683CD3566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70357-A2DD-4BE7-9B9C-8E348D3D8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752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AE51BE-6C29-40C8-B00D-64B488973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5212F-9CA7-4E7E-9066-990284B497B8}" type="datetime1">
              <a:rPr lang="en-IN" smtClean="0"/>
              <a:t>25-02-2026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384B45-1D0D-4543-91E5-3B896E91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A3207-8449-4FF4-9803-008B790E1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2360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693D0-FB38-49DC-9061-A5B76D0AC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FDBE-FD07-426B-9CAF-CA01DA42A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9E740E-7B86-404F-98C5-C0E52C8DA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FAF6DD-A142-4674-B7C6-85CE516F5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ECAA9-4B29-4463-8592-6CB0CDC60B6C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A54C2-B1CE-4CDD-9451-96DD23B5C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3844A7-1F9B-492A-AC20-3E1526DAD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9061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5E6DE-0820-4954-BB17-EA63643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9E6B9-4858-4F06-809B-5C5594F70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68EBC1-002C-4733-9E62-9AE93B9C65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E4DBC0-7C3B-464F-A8E7-A29E4B77D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69A35-254D-426C-A996-6733100500D9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1AD011-2ECD-409E-A651-DE5D74B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E5FA6-310B-464B-A274-39EDA5396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6300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EE26D-29EB-412A-AA7A-FCA9EA7D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3F006-0B26-418C-A99D-0798EDD10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902E8-F62E-4334-9A13-A48E82C38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83D56-5D4D-41FE-B3DA-829AE369FA2B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01ECA-CC18-43AB-8AF7-DD3BDC302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0419-2D38-4788-AF03-BCB5A0B6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62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EB2876-9724-4723-B2CA-535A1E120F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E3AF14-34C5-4C90-824C-037E44ED7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E0357-F7EC-4177-833D-19FF9A4A1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659EE-05DE-436A-AC90-D1B89158E71B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0A3B0-62E8-41E8-8FBA-FD0A5FA5D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4C54D-6E76-4B60-A1CA-3C80326B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60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8B89EB-4632-4E84-A67C-EBB3FAB7A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E7908C-AFBF-4C18-8782-716AF3CA8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F8F5A-7485-49E0-AB6D-16FB50801C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C36CF-9A31-425D-A274-E45C30B9A1B7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C57BCC-CAC5-4EC1-AC7F-21957287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52FE4-37AE-4BCC-ABD2-45249A3C8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477663-2762-46B5-B6F1-644FC9B64B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7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19D27-3262-411D-8962-61D9C149C2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 smtClean="0"/>
              <a:t>Python </a:t>
            </a:r>
            <a:r>
              <a:rPr lang="en-IN" b="1" dirty="0"/>
              <a:t>Exception handling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5DA67-547C-43F5-9A1A-CBCF5A957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142A9-8BBF-4437-8DED-3716CA8CBF73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6765C-C137-4C51-AB5A-0B278980D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9658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BD0EE-057C-4D7F-AAF4-DFFE6F51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008000"/>
                </a:solidFill>
                <a:effectLst/>
                <a:latin typeface="Times New Roman" panose="02020603050405020304" pitchFamily="18" charset="0"/>
              </a:rPr>
              <a:t>Python Errors and Exceptions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B154-F616-47BC-8036-637EA259E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Encountering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errors and exceptions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can be very frustrating at times, and can make coding feel like a hopeless endeavor. 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However, understanding what the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different types of errors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are and when you are likely to encounter them can help a lot.</a:t>
            </a:r>
          </a:p>
          <a:p>
            <a:pPr algn="l"/>
            <a:r>
              <a:rPr lang="en-US" b="1" i="0" dirty="0">
                <a:solidFill>
                  <a:srgbClr val="008000"/>
                </a:solidFill>
                <a:effectLst/>
                <a:latin typeface="Times New Roman" panose="02020603050405020304" pitchFamily="18" charset="0"/>
              </a:rPr>
              <a:t>Python Errors can be of three types:</a:t>
            </a:r>
          </a:p>
          <a:p>
            <a:pPr marL="720725" algn="l">
              <a:buFont typeface="+mj-lt"/>
              <a:buAutoNum type="arabicPeriod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Compile time errors (Syntax errors)</a:t>
            </a:r>
          </a:p>
          <a:p>
            <a:pPr marL="720725" algn="l">
              <a:buFont typeface="+mj-lt"/>
              <a:buAutoNum type="arabicPeriod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Runtime errors (Exceptions)</a:t>
            </a:r>
          </a:p>
          <a:p>
            <a:pPr marL="720725" algn="l">
              <a:buFont typeface="+mj-lt"/>
              <a:buAutoNum type="arabicPeriod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Logical errors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1FFA-6731-4B6E-AFEB-CC5BE8622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87C9-C832-4A25-B1CA-8999B54D876E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96D94-BDDB-4534-B282-E85D8A3AC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042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8435F-7B55-4413-8245-D656C5CF5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938" y="996199"/>
            <a:ext cx="10515600" cy="5439699"/>
          </a:xfrm>
        </p:spPr>
        <p:txBody>
          <a:bodyPr>
            <a:normAutofit/>
          </a:bodyPr>
          <a:lstStyle/>
          <a:p>
            <a:pPr algn="just"/>
            <a:r>
              <a:rPr lang="en-US" b="1" i="0" dirty="0">
                <a:solidFill>
                  <a:srgbClr val="008000"/>
                </a:solidFill>
                <a:effectLst/>
                <a:latin typeface="Times New Roman" panose="02020603050405020304" pitchFamily="18" charset="0"/>
              </a:rPr>
              <a:t>Compile time errors (Syntax errors)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Errors caused by not following the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proper structure (syntax)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of the language are called syntax or parsing errors.</a:t>
            </a:r>
          </a:p>
          <a:p>
            <a:pPr marL="0" indent="0" algn="just">
              <a:buNone/>
            </a:pP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algn="l"/>
            <a:r>
              <a:rPr lang="en-US" b="1" i="0" dirty="0">
                <a:solidFill>
                  <a:srgbClr val="008000"/>
                </a:solidFill>
                <a:effectLst/>
                <a:latin typeface="Times New Roman" panose="02020603050405020304" pitchFamily="18" charset="0"/>
              </a:rPr>
              <a:t>Runtime errors (Exceptions)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Exceptions occur during run-time.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Your code may be syntactically correct but it may happen that during run-time Python encounters something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which it can't handle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, then it raises an exception.</a:t>
            </a:r>
          </a:p>
          <a:p>
            <a:endParaRPr lang="en-IN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F47B4F-9C8A-4CB9-9CFE-86310224C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5CCE-BC85-4D69-8B8C-3AEF0B74FFC4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0A4C5-8D70-4909-AEE0-EB826C84C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6140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3CFDF-8AE3-4218-8A9A-8192EA9D9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8934"/>
            <a:ext cx="10515600" cy="4351338"/>
          </a:xfrm>
        </p:spPr>
        <p:txBody>
          <a:bodyPr/>
          <a:lstStyle/>
          <a:p>
            <a:pPr algn="l"/>
            <a:r>
              <a:rPr lang="en-US" b="1" i="0" dirty="0">
                <a:solidFill>
                  <a:srgbClr val="008000"/>
                </a:solidFill>
                <a:effectLst/>
                <a:latin typeface="Times New Roman" panose="02020603050405020304" pitchFamily="18" charset="0"/>
              </a:rPr>
              <a:t>Logical errors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Logical errors are the most difficult to fix. 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They occur when the program runs without crashing, but produces an incorrect result. 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 error is caused by a mistake in the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program's logic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. 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You won't get an error message, because no syntax or runtime error has occurred.</a:t>
            </a:r>
          </a:p>
          <a:p>
            <a:pPr algn="just"/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03D456-E44C-4503-AC98-2DFE6C576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0375-16B6-4A23-9B4C-8F5AD5D2053A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B556-B5B8-4513-8D78-574A70050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520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E3D6-8F69-4422-8ABD-4C7DAE0A4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Python Exception Handling</a:t>
            </a:r>
            <a:endParaRPr lang="en-IN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FE55-D6C9-4C54-9BC8-9F328B977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try block lets you test a block of code for errors.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except block lets you handle the error.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finally block lets you execute code, regardless of the result of the try- and except blocks.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an error occurs, or exception as we call it, Python will normally stop and generate an error message.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90923-72C2-4B8B-9A6E-47FF57293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14A9-296B-4DBF-8C30-6581B325067A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2F29-FF17-4B84-A57D-FF18DBC05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9710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4E239-87A5-451B-902C-229A92DB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Python Exception Handling</a:t>
            </a:r>
            <a:endParaRPr lang="en-IN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A374-6374-4435-AD16-C455D72AC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16224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These exceptions can be handled using the try statement:</a:t>
            </a:r>
          </a:p>
          <a:p>
            <a:r>
              <a:rPr lang="en-US" dirty="0"/>
              <a:t>Example</a:t>
            </a:r>
          </a:p>
          <a:p>
            <a:r>
              <a:rPr lang="en-US" dirty="0"/>
              <a:t>The try block will generate an exception, because x is not defined:</a:t>
            </a:r>
          </a:p>
          <a:p>
            <a:pPr marL="1163638" indent="0">
              <a:buNone/>
            </a:pPr>
            <a:r>
              <a:rPr lang="en-US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(x)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"An exception occurred"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387D3-9440-4DE8-A1EB-F27040393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7113B-E1DC-4843-B7C3-ED2391C8B90B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A9812-4F7A-4C2D-AAC9-F05973B50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9843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F1734-9F92-4F2D-9012-BE0690813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746" y="1114425"/>
            <a:ext cx="10515600" cy="4351338"/>
          </a:xfrm>
        </p:spPr>
        <p:txBody>
          <a:bodyPr>
            <a:normAutofit/>
          </a:bodyPr>
          <a:lstStyle/>
          <a:p>
            <a:pPr algn="l"/>
            <a:r>
              <a:rPr lang="en-US" sz="3200" b="0" i="0" dirty="0">
                <a:solidFill>
                  <a:srgbClr val="000000"/>
                </a:solidFill>
                <a:effectLst/>
              </a:rPr>
              <a:t>Since the try block raises an error, the except block will be executed.</a:t>
            </a:r>
          </a:p>
          <a:p>
            <a:pPr algn="l"/>
            <a:r>
              <a:rPr lang="en-US" sz="3200" b="0" i="0" dirty="0">
                <a:solidFill>
                  <a:srgbClr val="000000"/>
                </a:solidFill>
                <a:effectLst/>
              </a:rPr>
              <a:t>Without the try block, the program will crash and raise an error: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C00000"/>
                </a:solidFill>
              </a:rPr>
              <a:t>Example</a:t>
            </a:r>
          </a:p>
          <a:p>
            <a:r>
              <a:rPr lang="en-US" sz="3200" dirty="0"/>
              <a:t>This statement will raise an error, because x is not defined:</a:t>
            </a:r>
          </a:p>
          <a:p>
            <a:pPr marL="0" indent="0">
              <a:buNone/>
            </a:pPr>
            <a:r>
              <a:rPr lang="en-IN" sz="3200" b="0" i="0" dirty="0">
                <a:solidFill>
                  <a:srgbClr val="0000CD"/>
                </a:solidFill>
                <a:effectLst/>
              </a:rPr>
              <a:t>	print</a:t>
            </a:r>
            <a:r>
              <a:rPr lang="en-IN" sz="3200" b="0" i="0" dirty="0">
                <a:solidFill>
                  <a:srgbClr val="000000"/>
                </a:solidFill>
                <a:effectLst/>
              </a:rPr>
              <a:t>(x)</a:t>
            </a:r>
            <a:endParaRPr lang="en-IN" sz="320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C3A289-CF75-4F1B-9BD0-E124C7A54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D955-B230-42B8-8AF7-F304572FC90A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1587C-212E-4E33-9774-B273FC4B7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233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9E4E-0083-4274-ACC2-C12F08BC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02141"/>
          </a:xfrm>
        </p:spPr>
        <p:txBody>
          <a:bodyPr>
            <a:normAutofit/>
          </a:bodyPr>
          <a:lstStyle/>
          <a:p>
            <a:r>
              <a:rPr lang="en-IN" sz="2800" b="1" dirty="0">
                <a:solidFill>
                  <a:srgbClr val="C00000"/>
                </a:solidFill>
              </a:rPr>
              <a:t>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23FBE-CDCF-4398-8993-F1CA043F8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109" y="867266"/>
            <a:ext cx="10515600" cy="558066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smtClean="0"/>
              <a:t>try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a = </a:t>
            </a:r>
            <a:r>
              <a:rPr lang="en-US" dirty="0" err="1"/>
              <a:t>int</a:t>
            </a:r>
            <a:r>
              <a:rPr lang="en-US" dirty="0"/>
              <a:t>(input("First number: "))</a:t>
            </a:r>
          </a:p>
          <a:p>
            <a:pPr marL="0" indent="0">
              <a:buNone/>
            </a:pPr>
            <a:r>
              <a:rPr lang="en-US" dirty="0"/>
              <a:t>    b = </a:t>
            </a:r>
            <a:r>
              <a:rPr lang="en-US" dirty="0" err="1"/>
              <a:t>int</a:t>
            </a:r>
            <a:r>
              <a:rPr lang="en-US" dirty="0"/>
              <a:t>(input("Second number: "))</a:t>
            </a:r>
          </a:p>
          <a:p>
            <a:pPr marL="0" indent="0">
              <a:buNone/>
            </a:pPr>
            <a:r>
              <a:rPr lang="en-US" dirty="0"/>
              <a:t>    result = a / b</a:t>
            </a:r>
          </a:p>
          <a:p>
            <a:pPr marL="0" indent="0">
              <a:buNone/>
            </a:pPr>
            <a:r>
              <a:rPr lang="en-US" dirty="0"/>
              <a:t>    print("Result =", result</a:t>
            </a:r>
            <a:r>
              <a:rPr lang="en-US" dirty="0" smtClean="0"/>
              <a:t>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except </a:t>
            </a:r>
            <a:r>
              <a:rPr lang="en-US" dirty="0" err="1"/>
              <a:t>ZeroDivisionError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print("Division by zero is not allowed</a:t>
            </a:r>
            <a:r>
              <a:rPr lang="en-US" dirty="0" smtClean="0"/>
              <a:t>")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else:</a:t>
            </a:r>
          </a:p>
          <a:p>
            <a:pPr marL="0" indent="0">
              <a:buNone/>
            </a:pPr>
            <a:r>
              <a:rPr lang="en-US" dirty="0"/>
              <a:t>    print("Successful division</a:t>
            </a:r>
            <a:r>
              <a:rPr lang="en-US" dirty="0" smtClean="0"/>
              <a:t>")</a:t>
            </a:r>
          </a:p>
          <a:p>
            <a:pPr marL="0" indent="0">
              <a:buNone/>
            </a:pPr>
            <a:r>
              <a:rPr lang="en-IN" dirty="0" smtClean="0">
                <a:solidFill>
                  <a:srgbClr val="C00000"/>
                </a:solidFill>
              </a:rPr>
              <a:t>Output</a:t>
            </a:r>
            <a:endParaRPr lang="en-IN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IN" dirty="0"/>
              <a:t>First Number:10</a:t>
            </a:r>
          </a:p>
          <a:p>
            <a:pPr marL="0" indent="0">
              <a:buNone/>
            </a:pPr>
            <a:r>
              <a:rPr lang="en-IN" dirty="0"/>
              <a:t>Second number:0</a:t>
            </a:r>
          </a:p>
          <a:p>
            <a:pPr marL="0" indent="0">
              <a:buNone/>
            </a:pPr>
            <a:r>
              <a:rPr lang="en-IN" dirty="0"/>
              <a:t>Division by zero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A30C9-5424-4440-990B-87F90533B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B710B-3F83-49A9-9A2D-1556D762221B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8216D9-7AFB-4B8D-836E-0479E1F2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8946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8162-70FA-4AFA-934C-ABD9C2524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87" y="365126"/>
            <a:ext cx="11409313" cy="586982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rgbClr val="00B050"/>
                </a:solidFill>
                <a:latin typeface="Adobe Garamond Pro Bold" panose="02020702060506020403" pitchFamily="18" charset="0"/>
              </a:rPr>
              <a:t>Except clause with multiple 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DBFDF-FC9B-4507-A2A4-AF37C311D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584" y="1036948"/>
            <a:ext cx="11164216" cy="568452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500" dirty="0" smtClean="0"/>
              <a:t>try</a:t>
            </a:r>
            <a:r>
              <a:rPr lang="en-US" sz="4500" dirty="0"/>
              <a:t>:</a:t>
            </a:r>
          </a:p>
          <a:p>
            <a:pPr marL="0" indent="0">
              <a:buNone/>
            </a:pPr>
            <a:r>
              <a:rPr lang="en-US" sz="4500" dirty="0"/>
              <a:t>    a = </a:t>
            </a:r>
            <a:r>
              <a:rPr lang="en-US" sz="4500" dirty="0" err="1"/>
              <a:t>int</a:t>
            </a:r>
            <a:r>
              <a:rPr lang="en-US" sz="4500" dirty="0"/>
              <a:t>(input("First Number: "))</a:t>
            </a:r>
          </a:p>
          <a:p>
            <a:pPr marL="0" indent="0">
              <a:buNone/>
            </a:pPr>
            <a:r>
              <a:rPr lang="en-US" sz="4500" dirty="0"/>
              <a:t>    b = </a:t>
            </a:r>
            <a:r>
              <a:rPr lang="en-US" sz="4500" dirty="0" err="1"/>
              <a:t>int</a:t>
            </a:r>
            <a:r>
              <a:rPr lang="en-US" sz="4500" dirty="0"/>
              <a:t>(input("Second Number: "))</a:t>
            </a:r>
          </a:p>
          <a:p>
            <a:pPr marL="0" indent="0">
              <a:buNone/>
            </a:pPr>
            <a:r>
              <a:rPr lang="en-US" sz="4500" dirty="0"/>
              <a:t>    a="10"</a:t>
            </a:r>
          </a:p>
          <a:p>
            <a:pPr marL="0" indent="0">
              <a:buNone/>
            </a:pPr>
            <a:r>
              <a:rPr lang="en-US" sz="4500" dirty="0"/>
              <a:t>    result = a / b</a:t>
            </a:r>
          </a:p>
          <a:p>
            <a:pPr marL="0" indent="0">
              <a:buNone/>
            </a:pPr>
            <a:r>
              <a:rPr lang="en-US" sz="4500" dirty="0"/>
              <a:t>    print("Result =", result</a:t>
            </a:r>
            <a:r>
              <a:rPr lang="en-US" sz="4500" dirty="0" smtClean="0"/>
              <a:t>)</a:t>
            </a:r>
            <a:endParaRPr lang="en-US" sz="4500" dirty="0"/>
          </a:p>
          <a:p>
            <a:pPr marL="0" indent="0">
              <a:buNone/>
            </a:pPr>
            <a:r>
              <a:rPr lang="en-US" sz="4500" dirty="0"/>
              <a:t>except (</a:t>
            </a:r>
            <a:r>
              <a:rPr lang="en-US" sz="4500" dirty="0" err="1"/>
              <a:t>ZeroDivisionError</a:t>
            </a:r>
            <a:r>
              <a:rPr lang="en-US" sz="4500" dirty="0"/>
              <a:t>, </a:t>
            </a:r>
            <a:r>
              <a:rPr lang="en-US" sz="4500" dirty="0" err="1" smtClean="0"/>
              <a:t>TypeError</a:t>
            </a:r>
            <a:r>
              <a:rPr lang="en-US" sz="4500" dirty="0" smtClean="0"/>
              <a:t>, </a:t>
            </a:r>
            <a:r>
              <a:rPr lang="en-US" sz="4500" dirty="0" err="1" smtClean="0"/>
              <a:t>ValueError</a:t>
            </a:r>
            <a:r>
              <a:rPr lang="en-US" sz="4500" dirty="0" smtClean="0"/>
              <a:t>):</a:t>
            </a:r>
            <a:endParaRPr lang="en-US" sz="4500" dirty="0"/>
          </a:p>
          <a:p>
            <a:pPr marL="0" indent="0">
              <a:buNone/>
            </a:pPr>
            <a:r>
              <a:rPr lang="en-US" sz="4500" dirty="0"/>
              <a:t>    print("Error occurred</a:t>
            </a:r>
            <a:r>
              <a:rPr lang="en-US" sz="4500" dirty="0" smtClean="0"/>
              <a:t>")</a:t>
            </a:r>
            <a:endParaRPr lang="en-US" sz="4500" dirty="0"/>
          </a:p>
          <a:p>
            <a:pPr marL="0" indent="0">
              <a:buNone/>
            </a:pPr>
            <a:r>
              <a:rPr lang="en-US" sz="4500" dirty="0"/>
              <a:t>else:</a:t>
            </a:r>
          </a:p>
          <a:p>
            <a:pPr marL="0" indent="0">
              <a:buNone/>
            </a:pPr>
            <a:r>
              <a:rPr lang="en-US" sz="4500" dirty="0"/>
              <a:t>    print("Successful Division")</a:t>
            </a:r>
            <a:r>
              <a:rPr lang="en-IN" sz="4500" b="1" dirty="0" smtClean="0">
                <a:solidFill>
                  <a:srgbClr val="C00000"/>
                </a:solidFill>
              </a:rPr>
              <a:t>Output</a:t>
            </a:r>
            <a:endParaRPr lang="en-IN" sz="45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IN" sz="4500" dirty="0"/>
              <a:t>First Number:10</a:t>
            </a:r>
          </a:p>
          <a:p>
            <a:pPr marL="0" indent="0">
              <a:buNone/>
            </a:pPr>
            <a:r>
              <a:rPr lang="en-IN" sz="4500" dirty="0"/>
              <a:t>Second Number:0</a:t>
            </a:r>
          </a:p>
          <a:p>
            <a:pPr marL="0" indent="0">
              <a:buNone/>
            </a:pPr>
            <a:r>
              <a:rPr lang="en-IN" sz="4500" dirty="0"/>
              <a:t>Error </a:t>
            </a:r>
            <a:r>
              <a:rPr lang="en-IN" sz="4500" dirty="0" err="1"/>
              <a:t>occured</a:t>
            </a:r>
            <a:endParaRPr lang="en-IN" sz="4500" dirty="0"/>
          </a:p>
          <a:p>
            <a:pPr marL="0" indent="0">
              <a:buNone/>
            </a:pPr>
            <a:r>
              <a:rPr lang="en-IN" dirty="0"/>
              <a:t>	        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A7905-B285-455C-9B19-D81722A75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632E3-8D0E-435F-86D7-C019A8AA90D4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89D49-74C0-4834-86FC-B71FF6F4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1325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6B386-DC84-46A4-AC98-040AAFA83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b="1" dirty="0">
                <a:solidFill>
                  <a:srgbClr val="00B050"/>
                </a:solidFill>
                <a:latin typeface="Adobe Garamond Pro Bold" panose="02020702060506020403" pitchFamily="18" charset="0"/>
              </a:rPr>
              <a:t>try......finally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0D886-4D96-4C3B-9981-73E60749D9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A finally block can be used with a try block</a:t>
            </a:r>
          </a:p>
          <a:p>
            <a:r>
              <a:rPr lang="en-IN" dirty="0"/>
              <a:t>The code placed in the finally block is executed no matter Exception is caused or caught</a:t>
            </a:r>
          </a:p>
          <a:p>
            <a:r>
              <a:rPr lang="en-IN" dirty="0"/>
              <a:t>We cannot use except clause and finally clause together with a try block</a:t>
            </a:r>
          </a:p>
          <a:p>
            <a:r>
              <a:rPr lang="en-IN" dirty="0"/>
              <a:t>It is also not possible to use else clause and finally together with try block.</a:t>
            </a:r>
          </a:p>
          <a:p>
            <a:pPr marL="0" indent="0">
              <a:buNone/>
            </a:pPr>
            <a:r>
              <a:rPr lang="en-IN" dirty="0"/>
              <a:t>Syntax:</a:t>
            </a:r>
          </a:p>
          <a:p>
            <a:pPr marL="0" indent="0">
              <a:buNone/>
            </a:pPr>
            <a:r>
              <a:rPr lang="en-IN" dirty="0"/>
              <a:t>	try:</a:t>
            </a:r>
          </a:p>
          <a:p>
            <a:pPr marL="0" indent="0">
              <a:buNone/>
            </a:pPr>
            <a:r>
              <a:rPr lang="en-IN" dirty="0"/>
              <a:t>	       suite;</a:t>
            </a:r>
          </a:p>
          <a:p>
            <a:pPr marL="0" indent="0">
              <a:buNone/>
            </a:pPr>
            <a:r>
              <a:rPr lang="en-IN" dirty="0"/>
              <a:t>	finally:</a:t>
            </a:r>
          </a:p>
          <a:p>
            <a:pPr marL="0" indent="0">
              <a:buNone/>
            </a:pPr>
            <a:r>
              <a:rPr lang="en-IN" dirty="0"/>
              <a:t>	        </a:t>
            </a:r>
            <a:r>
              <a:rPr lang="en-IN" dirty="0" err="1"/>
              <a:t>finally_suite</a:t>
            </a:r>
            <a:r>
              <a:rPr lang="en-IN" dirty="0"/>
              <a:t> # Executed always after the try block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7745F-57AC-44D0-B0BB-18E66ACA2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8694BD-F508-4FAF-B56C-7BAA1C621ED3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57512-63FE-408A-8EA5-7346623F3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4732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89E59-D100-458D-AB57-AB161C99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41885"/>
          </a:xfrm>
        </p:spPr>
        <p:txBody>
          <a:bodyPr>
            <a:normAutofit fontScale="90000"/>
          </a:bodyPr>
          <a:lstStyle/>
          <a:p>
            <a:r>
              <a:rPr lang="en-IN" sz="2800" b="1" dirty="0">
                <a:solidFill>
                  <a:srgbClr val="C00000"/>
                </a:solidFill>
              </a:rPr>
              <a:t>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6BE4A-AFEB-4C71-8A58-6858F8F75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023" y="914399"/>
            <a:ext cx="11091468" cy="537327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 smtClean="0"/>
              <a:t>try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a = </a:t>
            </a:r>
            <a:r>
              <a:rPr lang="en-US" dirty="0" err="1"/>
              <a:t>int</a:t>
            </a:r>
            <a:r>
              <a:rPr lang="en-US" dirty="0"/>
              <a:t>(input("First Number: "))</a:t>
            </a:r>
          </a:p>
          <a:p>
            <a:pPr marL="0" indent="0">
              <a:buNone/>
            </a:pPr>
            <a:r>
              <a:rPr lang="en-US" dirty="0"/>
              <a:t>    b = </a:t>
            </a:r>
            <a:r>
              <a:rPr lang="en-US" dirty="0" err="1"/>
              <a:t>int</a:t>
            </a:r>
            <a:r>
              <a:rPr lang="en-US" dirty="0"/>
              <a:t>(input("Second number: "))</a:t>
            </a:r>
          </a:p>
          <a:p>
            <a:pPr marL="0" indent="0">
              <a:buNone/>
            </a:pPr>
            <a:r>
              <a:rPr lang="en-US" dirty="0"/>
              <a:t>    result = a / b</a:t>
            </a:r>
          </a:p>
          <a:p>
            <a:pPr marL="0" indent="0">
              <a:buNone/>
            </a:pPr>
            <a:r>
              <a:rPr lang="en-US" dirty="0"/>
              <a:t>    print("Result =", result</a:t>
            </a:r>
            <a:r>
              <a:rPr lang="en-US" dirty="0" smtClean="0"/>
              <a:t>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finally:</a:t>
            </a:r>
          </a:p>
          <a:p>
            <a:pPr marL="0" indent="0">
              <a:buNone/>
            </a:pPr>
            <a:r>
              <a:rPr lang="en-US" dirty="0"/>
              <a:t>    print("Executed always</a:t>
            </a:r>
            <a:r>
              <a:rPr lang="en-US" dirty="0" smtClean="0"/>
              <a:t>")</a:t>
            </a:r>
          </a:p>
          <a:p>
            <a:pPr marL="0" indent="0">
              <a:buNone/>
            </a:pPr>
            <a:r>
              <a:rPr lang="en-IN" b="1" dirty="0" smtClean="0">
                <a:solidFill>
                  <a:srgbClr val="C00000"/>
                </a:solidFill>
              </a:rPr>
              <a:t>Output</a:t>
            </a:r>
            <a:endParaRPr lang="en-IN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IN" b="1" dirty="0"/>
              <a:t>First Number:20</a:t>
            </a:r>
          </a:p>
          <a:p>
            <a:pPr marL="0" indent="0">
              <a:buNone/>
            </a:pPr>
            <a:r>
              <a:rPr lang="en-IN" b="1" dirty="0"/>
              <a:t>Second number:0</a:t>
            </a:r>
          </a:p>
          <a:p>
            <a:pPr marL="0" indent="0">
              <a:buNone/>
            </a:pPr>
            <a:r>
              <a:rPr lang="en-IN" b="1" dirty="0"/>
              <a:t>Executed always</a:t>
            </a:r>
          </a:p>
          <a:p>
            <a:pPr marL="0" indent="0">
              <a:buNone/>
            </a:pPr>
            <a:r>
              <a:rPr lang="en-IN" dirty="0"/>
              <a:t>Traceback (most recent call last):</a:t>
            </a:r>
          </a:p>
          <a:p>
            <a:pPr marL="0" indent="0">
              <a:buNone/>
            </a:pPr>
            <a:r>
              <a:rPr lang="en-IN" dirty="0"/>
              <a:t>	File “main.py”, line 5, in &lt;module&gt;</a:t>
            </a:r>
          </a:p>
          <a:p>
            <a:pPr marL="0" indent="0">
              <a:buNone/>
            </a:pPr>
            <a:r>
              <a:rPr lang="en-IN" dirty="0"/>
              <a:t>	       result=a/b</a:t>
            </a:r>
          </a:p>
          <a:p>
            <a:pPr marL="0" indent="0">
              <a:buNone/>
            </a:pPr>
            <a:r>
              <a:rPr lang="en-IN" dirty="0" err="1"/>
              <a:t>ZeroDivisionError</a:t>
            </a:r>
            <a:r>
              <a:rPr lang="en-IN" dirty="0"/>
              <a:t>: integer division or modulo by zero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D9E57-E64E-4C12-88BE-B326CA8F8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DB9B4-43FD-4371-A983-432690A84AAA}" type="datetime1">
              <a:rPr lang="en-IN" smtClean="0"/>
              <a:t>25-02-2026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B10F1-62ED-4ED2-8FDC-5596C68EB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93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12</a:t>
            </a:fld>
            <a:endParaRPr lang="en-IN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99619"/>
            <a:ext cx="8221072" cy="458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029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FF0000"/>
                </a:solidFill>
              </a:rPr>
              <a:t>except </a:t>
            </a:r>
            <a:r>
              <a:rPr lang="en-IN" dirty="0" err="1">
                <a:solidFill>
                  <a:srgbClr val="FF0000"/>
                </a:solidFill>
              </a:rPr>
              <a:t>NameError</a:t>
            </a:r>
            <a:r>
              <a:rPr lang="en-IN" dirty="0" smtClean="0">
                <a:solidFill>
                  <a:srgbClr val="FF0000"/>
                </a:solidFill>
              </a:rPr>
              <a:t>: Example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13</a:t>
            </a:fld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1046375" y="1744754"/>
            <a:ext cx="809762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3200" dirty="0"/>
              <a:t>try:</a:t>
            </a:r>
          </a:p>
          <a:p>
            <a:r>
              <a:rPr lang="en-IN" sz="3200" dirty="0"/>
              <a:t>    print(x)   # x is not defined</a:t>
            </a:r>
          </a:p>
          <a:p>
            <a:r>
              <a:rPr lang="en-IN" sz="3200" dirty="0"/>
              <a:t>except </a:t>
            </a:r>
            <a:r>
              <a:rPr lang="en-IN" sz="3200" dirty="0" err="1"/>
              <a:t>NameError</a:t>
            </a:r>
            <a:r>
              <a:rPr lang="en-IN" sz="3200" dirty="0"/>
              <a:t>:</a:t>
            </a:r>
          </a:p>
          <a:p>
            <a:r>
              <a:rPr lang="en-IN" sz="3200" dirty="0"/>
              <a:t>    print("Caught: Variable name is not defined")</a:t>
            </a:r>
          </a:p>
        </p:txBody>
      </p:sp>
    </p:spTree>
    <p:extLst>
      <p:ext uri="{BB962C8B-B14F-4D97-AF65-F5344CB8AC3E}">
        <p14:creationId xmlns:p14="http://schemas.microsoft.com/office/powerpoint/2010/main" val="3362742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FF0000"/>
                </a:solidFill>
              </a:rPr>
              <a:t>except </a:t>
            </a:r>
            <a:r>
              <a:rPr lang="en-IN" dirty="0" err="1">
                <a:solidFill>
                  <a:srgbClr val="FF0000"/>
                </a:solidFill>
              </a:rPr>
              <a:t>FileNotFoundError</a:t>
            </a:r>
            <a:r>
              <a:rPr lang="en-IN" dirty="0" smtClean="0">
                <a:solidFill>
                  <a:srgbClr val="FF0000"/>
                </a:solidFill>
              </a:rPr>
              <a:t>: Example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14</a:t>
            </a:fld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838200" y="1690688"/>
            <a:ext cx="810705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3200" dirty="0"/>
              <a:t>try:</a:t>
            </a:r>
          </a:p>
          <a:p>
            <a:r>
              <a:rPr lang="en-IN" sz="3200" dirty="0"/>
              <a:t>    f = open("no_such_file.txt", "r")</a:t>
            </a:r>
          </a:p>
          <a:p>
            <a:r>
              <a:rPr lang="en-IN" sz="3200" dirty="0"/>
              <a:t>    print(</a:t>
            </a:r>
            <a:r>
              <a:rPr lang="en-IN" sz="3200" dirty="0" err="1"/>
              <a:t>f.read</a:t>
            </a:r>
            <a:r>
              <a:rPr lang="en-IN" sz="3200" dirty="0"/>
              <a:t>())</a:t>
            </a:r>
          </a:p>
          <a:p>
            <a:r>
              <a:rPr lang="en-IN" sz="3200" dirty="0"/>
              <a:t>except </a:t>
            </a:r>
            <a:r>
              <a:rPr lang="en-IN" sz="3200" dirty="0" err="1"/>
              <a:t>FileNotFoundError</a:t>
            </a:r>
            <a:r>
              <a:rPr lang="en-IN" sz="3200" dirty="0"/>
              <a:t>:</a:t>
            </a:r>
          </a:p>
          <a:p>
            <a:r>
              <a:rPr lang="en-IN" sz="3200" dirty="0"/>
              <a:t>    print("Caught: File does not exist")</a:t>
            </a:r>
          </a:p>
        </p:txBody>
      </p:sp>
    </p:spTree>
    <p:extLst>
      <p:ext uri="{BB962C8B-B14F-4D97-AF65-F5344CB8AC3E}">
        <p14:creationId xmlns:p14="http://schemas.microsoft.com/office/powerpoint/2010/main" val="2533105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6872152"/>
              </p:ext>
            </p:extLst>
          </p:nvPr>
        </p:nvGraphicFramePr>
        <p:xfrm>
          <a:off x="838200" y="1168924"/>
          <a:ext cx="10515600" cy="5018013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74027101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9430329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44643889"/>
                    </a:ext>
                  </a:extLst>
                </a:gridCol>
              </a:tblGrid>
              <a:tr h="466117">
                <a:tc>
                  <a:txBody>
                    <a:bodyPr/>
                    <a:lstStyle/>
                    <a:p>
                      <a:r>
                        <a:rPr lang="en-IN" sz="2400" dirty="0">
                          <a:solidFill>
                            <a:srgbClr val="FF0000"/>
                          </a:solidFill>
                        </a:rPr>
                        <a:t>Point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if–else (Check Before)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try–except (Handle After)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4597987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 dirty="0">
                          <a:solidFill>
                            <a:srgbClr val="FF0000"/>
                          </a:solidFill>
                        </a:rPr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Check condition first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Handle error after it occurs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4234188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>
                          <a:solidFill>
                            <a:srgbClr val="FF0000"/>
                          </a:solidFill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Problem is predictable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Problem is unpredictable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7948773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 dirty="0">
                          <a:solidFill>
                            <a:srgbClr val="FF0000"/>
                          </a:solidFill>
                        </a:rPr>
                        <a:t>Program crash?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❌ No (if handled)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2425066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 dirty="0">
                          <a:solidFill>
                            <a:srgbClr val="FF0000"/>
                          </a:solidFill>
                        </a:rPr>
                        <a:t>User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⚠️ Simple checks 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✅ Safe for wrong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257379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>
                          <a:solidFill>
                            <a:srgbClr val="FF0000"/>
                          </a:solidFill>
                        </a:rPr>
                        <a:t>Runtime errors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9569019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>
                          <a:solidFill>
                            <a:srgbClr val="FF0000"/>
                          </a:solidFill>
                        </a:rPr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Check if zero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Non-numeric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787665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>
                          <a:solidFill>
                            <a:srgbClr val="FF0000"/>
                          </a:solidFill>
                        </a:rPr>
                        <a:t>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if x == 0: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try: x = </a:t>
                      </a:r>
                      <a:r>
                        <a:rPr lang="en-IN" sz="2400" dirty="0" err="1"/>
                        <a:t>int</a:t>
                      </a:r>
                      <a:r>
                        <a:rPr lang="en-IN" sz="2400" dirty="0"/>
                        <a:t>(input())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01814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>
                          <a:solidFill>
                            <a:srgbClr val="FF0000"/>
                          </a:solidFill>
                        </a:rPr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Prevent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Recover from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7171092"/>
                  </a:ext>
                </a:extLst>
              </a:tr>
              <a:tr h="466117">
                <a:tc>
                  <a:txBody>
                    <a:bodyPr/>
                    <a:lstStyle/>
                    <a:p>
                      <a:r>
                        <a:rPr lang="en-IN" sz="2400" dirty="0">
                          <a:solidFill>
                            <a:srgbClr val="FF0000"/>
                          </a:solidFill>
                        </a:rPr>
                        <a:t>Beginner tip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Use for rules/ranges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Use for input/files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108263"/>
                  </a:ext>
                </a:extLst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15</a:t>
            </a:fld>
            <a:endParaRPr lang="en-IN"/>
          </a:p>
        </p:txBody>
      </p:sp>
      <p:sp>
        <p:nvSpPr>
          <p:cNvPr id="7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245810"/>
            <a:ext cx="6537111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if–else</a:t>
            </a:r>
            <a:r>
              <a:rPr kumimoji="0" lang="en-US" altLang="en-US" sz="5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vs </a:t>
            </a:r>
            <a:r>
              <a:rPr kumimoji="0" lang="en-US" altLang="en-US" sz="5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try–except</a:t>
            </a:r>
            <a:r>
              <a:rPr kumimoji="0" lang="en-US" altLang="en-US" sz="5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55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290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676D746-07AC-455E-9B45-CDD55F1351E3}"/>
              </a:ext>
            </a:extLst>
          </p:cNvPr>
          <p:cNvSpPr/>
          <p:nvPr/>
        </p:nvSpPr>
        <p:spPr>
          <a:xfrm>
            <a:off x="329938" y="251970"/>
            <a:ext cx="5289038" cy="50937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data = 50</a:t>
            </a:r>
          </a:p>
          <a:p>
            <a:r>
              <a:rPr lang="en-US" sz="2500" dirty="0"/>
              <a:t>try:</a:t>
            </a:r>
          </a:p>
          <a:p>
            <a:r>
              <a:rPr lang="en-US" sz="2500" dirty="0"/>
              <a:t>    data = data/0</a:t>
            </a:r>
          </a:p>
          <a:p>
            <a:r>
              <a:rPr lang="en-US" sz="2500" dirty="0"/>
              <a:t>except </a:t>
            </a:r>
            <a:r>
              <a:rPr lang="en-US" sz="2500" dirty="0" err="1"/>
              <a:t>ZeroDivisionError</a:t>
            </a:r>
            <a:r>
              <a:rPr lang="en-US" sz="2500" dirty="0"/>
              <a:t>:</a:t>
            </a:r>
          </a:p>
          <a:p>
            <a:r>
              <a:rPr lang="en-US" sz="2500" dirty="0"/>
              <a:t>    print('Cannot divide by 0 ', end = '') </a:t>
            </a:r>
          </a:p>
          <a:p>
            <a:r>
              <a:rPr lang="en-US" sz="2500" dirty="0"/>
              <a:t>else:</a:t>
            </a:r>
          </a:p>
          <a:p>
            <a:r>
              <a:rPr lang="en-US" sz="2500" dirty="0"/>
              <a:t>    print('Division successful ', end = '') </a:t>
            </a:r>
          </a:p>
          <a:p>
            <a:r>
              <a:rPr lang="en-US" sz="2500" dirty="0"/>
              <a:t>try:</a:t>
            </a:r>
          </a:p>
          <a:p>
            <a:r>
              <a:rPr lang="en-US" sz="2500" dirty="0"/>
              <a:t>    data = data/5</a:t>
            </a:r>
          </a:p>
          <a:p>
            <a:r>
              <a:rPr lang="en-US" sz="2500" dirty="0"/>
              <a:t>except:</a:t>
            </a:r>
          </a:p>
          <a:p>
            <a:r>
              <a:rPr lang="en-US" sz="2500" dirty="0"/>
              <a:t>    print('Inside except block ', end = '') </a:t>
            </a:r>
          </a:p>
          <a:p>
            <a:r>
              <a:rPr lang="en-US" sz="2500" dirty="0"/>
              <a:t>else:</a:t>
            </a:r>
          </a:p>
          <a:p>
            <a:r>
              <a:rPr lang="en-US" sz="2500" dirty="0"/>
              <a:t>    print</a:t>
            </a:r>
            <a:r>
              <a:rPr lang="en-US" sz="2500" dirty="0" smtClean="0"/>
              <a:t>(‘Terminate', </a:t>
            </a:r>
            <a:r>
              <a:rPr lang="en-US" sz="2500" dirty="0"/>
              <a:t>end = '')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0B909B-2FE4-4675-B081-ACECBAAFD642}"/>
              </a:ext>
            </a:extLst>
          </p:cNvPr>
          <p:cNvSpPr/>
          <p:nvPr/>
        </p:nvSpPr>
        <p:spPr>
          <a:xfrm>
            <a:off x="5618976" y="65632"/>
            <a:ext cx="6437906" cy="1200329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fontAlgn="base"/>
            <a:r>
              <a:rPr lang="en-US" b="1" dirty="0">
                <a:latin typeface="Roboto"/>
              </a:rPr>
              <a:t>a) Cannot divide by </a:t>
            </a:r>
            <a:r>
              <a:rPr lang="en-US" b="1" dirty="0" smtClean="0">
                <a:latin typeface="Roboto"/>
              </a:rPr>
              <a:t>0 Terminate</a:t>
            </a:r>
            <a:r>
              <a:rPr lang="en-US" b="1" dirty="0">
                <a:latin typeface="Roboto"/>
              </a:rPr>
              <a:t/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b) Cannot divide by 0</a:t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c) Cannot divide by 0 Inside except block </a:t>
            </a:r>
            <a:r>
              <a:rPr lang="en-US" b="1" dirty="0" smtClean="0">
                <a:latin typeface="Roboto"/>
              </a:rPr>
              <a:t>Terminate</a:t>
            </a:r>
            <a:r>
              <a:rPr lang="en-US" b="1" dirty="0">
                <a:latin typeface="Roboto"/>
              </a:rPr>
              <a:t/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d) Cannot divide by 0 Inside except block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19780-800D-4F73-BCDC-D31D89CE0DCF}"/>
              </a:ext>
            </a:extLst>
          </p:cNvPr>
          <p:cNvSpPr/>
          <p:nvPr/>
        </p:nvSpPr>
        <p:spPr>
          <a:xfrm>
            <a:off x="5524106" y="3692338"/>
            <a:ext cx="6393155" cy="92333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pPr fontAlgn="base"/>
            <a:r>
              <a:rPr lang="en-US" b="1" dirty="0">
                <a:solidFill>
                  <a:schemeClr val="bg1"/>
                </a:solidFill>
                <a:latin typeface="Roboto"/>
              </a:rPr>
              <a:t>Ans. (a)</a:t>
            </a:r>
            <a:br>
              <a:rPr lang="en-US" b="1" dirty="0">
                <a:solidFill>
                  <a:schemeClr val="bg1"/>
                </a:solidFill>
                <a:latin typeface="Roboto"/>
              </a:rPr>
            </a:br>
            <a:r>
              <a:rPr lang="en-US" b="1" dirty="0">
                <a:solidFill>
                  <a:schemeClr val="bg1"/>
                </a:solidFill>
                <a:latin typeface="Roboto"/>
              </a:rPr>
              <a:t>Explanation: The else block of code is executed only when there occurs no exception in try block.</a:t>
            </a:r>
          </a:p>
        </p:txBody>
      </p:sp>
    </p:spTree>
    <p:extLst>
      <p:ext uri="{BB962C8B-B14F-4D97-AF65-F5344CB8AC3E}">
        <p14:creationId xmlns:p14="http://schemas.microsoft.com/office/powerpoint/2010/main" val="403802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2C74EE-6234-4AD1-A89D-CBA38718742B}"/>
              </a:ext>
            </a:extLst>
          </p:cNvPr>
          <p:cNvSpPr/>
          <p:nvPr/>
        </p:nvSpPr>
        <p:spPr>
          <a:xfrm>
            <a:off x="471340" y="493106"/>
            <a:ext cx="799393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/>
              <a:t>data = 50</a:t>
            </a:r>
          </a:p>
          <a:p>
            <a:r>
              <a:rPr lang="en-US" sz="2600" b="1" dirty="0"/>
              <a:t>try: </a:t>
            </a:r>
          </a:p>
          <a:p>
            <a:r>
              <a:rPr lang="en-US" sz="2600" b="1" dirty="0"/>
              <a:t>	data = data/10</a:t>
            </a:r>
          </a:p>
          <a:p>
            <a:r>
              <a:rPr lang="en-US" sz="2600" b="1" dirty="0"/>
              <a:t>except </a:t>
            </a:r>
            <a:r>
              <a:rPr lang="en-US" sz="2600" b="1" dirty="0" err="1"/>
              <a:t>ZeroDivisionError</a:t>
            </a:r>
            <a:r>
              <a:rPr lang="en-US" sz="2600" b="1" dirty="0"/>
              <a:t>: </a:t>
            </a:r>
          </a:p>
          <a:p>
            <a:r>
              <a:rPr lang="en-US" sz="2600" b="1" dirty="0"/>
              <a:t>	print('Cannot divide by 0 ', end = '') </a:t>
            </a:r>
          </a:p>
          <a:p>
            <a:r>
              <a:rPr lang="en-US" sz="2600" b="1" dirty="0"/>
              <a:t>finally: </a:t>
            </a:r>
          </a:p>
          <a:p>
            <a:r>
              <a:rPr lang="en-US" sz="2600" b="1" dirty="0"/>
              <a:t>	print</a:t>
            </a:r>
            <a:r>
              <a:rPr lang="en-US" sz="2600" b="1" dirty="0" smtClean="0"/>
              <a:t>(‘Learning </a:t>
            </a:r>
            <a:r>
              <a:rPr lang="en-US" sz="2600" b="1" dirty="0"/>
              <a:t>', end = '') </a:t>
            </a:r>
          </a:p>
          <a:p>
            <a:r>
              <a:rPr lang="en-US" sz="2600" b="1" dirty="0"/>
              <a:t>else: </a:t>
            </a:r>
          </a:p>
          <a:p>
            <a:r>
              <a:rPr lang="en-US" sz="2600" b="1" dirty="0"/>
              <a:t>	print('Division successful ', end = '')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7073FB-B491-4634-87AD-B00D655A239E}"/>
              </a:ext>
            </a:extLst>
          </p:cNvPr>
          <p:cNvSpPr/>
          <p:nvPr/>
        </p:nvSpPr>
        <p:spPr>
          <a:xfrm>
            <a:off x="2186505" y="4419600"/>
            <a:ext cx="8162366" cy="1292662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sz="1500" b="1" dirty="0"/>
              <a:t>a) Runtime error</a:t>
            </a:r>
          </a:p>
          <a:p>
            <a:r>
              <a:rPr lang="en-US" sz="1500" b="1" dirty="0"/>
              <a:t>b) Cannot divide by 0 </a:t>
            </a:r>
            <a:r>
              <a:rPr lang="en-US" sz="1500" b="1" dirty="0" smtClean="0"/>
              <a:t>Learning</a:t>
            </a:r>
            <a:endParaRPr lang="en-US" sz="1500" b="1" dirty="0"/>
          </a:p>
          <a:p>
            <a:r>
              <a:rPr lang="en-US" sz="1500" b="1" dirty="0"/>
              <a:t>c) </a:t>
            </a:r>
            <a:r>
              <a:rPr lang="en-US" sz="1500" b="1" dirty="0" smtClean="0"/>
              <a:t> Learning </a:t>
            </a:r>
            <a:r>
              <a:rPr lang="en-US" sz="1500" b="1" dirty="0"/>
              <a:t>Division successful</a:t>
            </a:r>
          </a:p>
          <a:p>
            <a:r>
              <a:rPr lang="en-US" sz="1500" b="1" dirty="0"/>
              <a:t>d) </a:t>
            </a:r>
            <a:r>
              <a:rPr lang="en-US" sz="1500" b="1" dirty="0" smtClean="0"/>
              <a:t>Learning</a:t>
            </a:r>
            <a:endParaRPr lang="en-US" sz="1500" b="1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159C88-D8A2-45B9-A61F-02B6F0006CB9}"/>
              </a:ext>
            </a:extLst>
          </p:cNvPr>
          <p:cNvSpPr/>
          <p:nvPr/>
        </p:nvSpPr>
        <p:spPr>
          <a:xfrm>
            <a:off x="2186505" y="5867400"/>
            <a:ext cx="8061512" cy="78483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Ans. (a)</a:t>
            </a:r>
          </a:p>
          <a:p>
            <a:r>
              <a:rPr lang="en-US" sz="1500" b="1" dirty="0">
                <a:solidFill>
                  <a:schemeClr val="bg1"/>
                </a:solidFill>
              </a:rPr>
              <a:t>Explanation: else block following a finally block is not allowed in python. Python throws syntax error when such format is used.</a:t>
            </a:r>
          </a:p>
        </p:txBody>
      </p:sp>
    </p:spTree>
    <p:extLst>
      <p:ext uri="{BB962C8B-B14F-4D97-AF65-F5344CB8AC3E}">
        <p14:creationId xmlns:p14="http://schemas.microsoft.com/office/powerpoint/2010/main" val="45807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B9019A-C83F-4BC0-ABE9-56A46531643C}"/>
              </a:ext>
            </a:extLst>
          </p:cNvPr>
          <p:cNvSpPr/>
          <p:nvPr/>
        </p:nvSpPr>
        <p:spPr>
          <a:xfrm>
            <a:off x="1109635" y="465707"/>
            <a:ext cx="6761745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value = [1, 2, 3, 4] </a:t>
            </a:r>
          </a:p>
          <a:p>
            <a:r>
              <a:rPr lang="en-US" sz="2600" dirty="0"/>
              <a:t>data = 0</a:t>
            </a:r>
          </a:p>
          <a:p>
            <a:r>
              <a:rPr lang="en-US" sz="2600" dirty="0"/>
              <a:t>try: </a:t>
            </a:r>
          </a:p>
          <a:p>
            <a:r>
              <a:rPr lang="en-US" sz="2600" dirty="0"/>
              <a:t>    data = value[4] </a:t>
            </a:r>
          </a:p>
          <a:p>
            <a:r>
              <a:rPr lang="en-US" sz="2600" dirty="0"/>
              <a:t>except </a:t>
            </a:r>
            <a:r>
              <a:rPr lang="en-US" sz="2600" dirty="0" err="1"/>
              <a:t>IndexError</a:t>
            </a:r>
            <a:r>
              <a:rPr lang="en-US" sz="2600" dirty="0"/>
              <a:t>: </a:t>
            </a:r>
          </a:p>
          <a:p>
            <a:r>
              <a:rPr lang="en-US" sz="2600" dirty="0"/>
              <a:t>    print</a:t>
            </a:r>
            <a:r>
              <a:rPr lang="en-US" sz="2600" dirty="0" smtClean="0"/>
              <a:t>(‘Hello', </a:t>
            </a:r>
            <a:r>
              <a:rPr lang="en-US" sz="2600" dirty="0"/>
              <a:t>end = '') </a:t>
            </a:r>
          </a:p>
          <a:p>
            <a:r>
              <a:rPr lang="en-US" sz="2600" dirty="0"/>
              <a:t>except: </a:t>
            </a:r>
          </a:p>
          <a:p>
            <a:r>
              <a:rPr lang="en-US" sz="2600" dirty="0"/>
              <a:t>    print</a:t>
            </a:r>
            <a:r>
              <a:rPr lang="en-US" sz="2600" dirty="0" smtClean="0"/>
              <a:t>(‘Let’s start Learning Together', </a:t>
            </a:r>
            <a:r>
              <a:rPr lang="en-US" sz="2600" dirty="0"/>
              <a:t>end = '')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7CCE60-0F4E-4F3F-9180-37DA21799261}"/>
              </a:ext>
            </a:extLst>
          </p:cNvPr>
          <p:cNvSpPr/>
          <p:nvPr/>
        </p:nvSpPr>
        <p:spPr>
          <a:xfrm>
            <a:off x="1109635" y="4260915"/>
            <a:ext cx="9113357" cy="1200329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pPr fontAlgn="base"/>
            <a:r>
              <a:rPr lang="en-US" b="1" dirty="0">
                <a:latin typeface="Roboto"/>
              </a:rPr>
              <a:t>a) </a:t>
            </a:r>
            <a:r>
              <a:rPr lang="en-US" b="1" dirty="0"/>
              <a:t>Let’s start Learning Together</a:t>
            </a:r>
            <a:r>
              <a:rPr lang="en-US" b="1" dirty="0">
                <a:latin typeface="Roboto"/>
              </a:rPr>
              <a:t/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b) </a:t>
            </a:r>
            <a:r>
              <a:rPr lang="en-US" b="1" dirty="0" smtClean="0">
                <a:latin typeface="Roboto"/>
              </a:rPr>
              <a:t>Hello</a:t>
            </a:r>
            <a:r>
              <a:rPr lang="en-US" b="1" dirty="0">
                <a:latin typeface="Roboto"/>
              </a:rPr>
              <a:t/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c) </a:t>
            </a:r>
            <a:r>
              <a:rPr lang="en-US" b="1" dirty="0" smtClean="0">
                <a:latin typeface="Roboto"/>
              </a:rPr>
              <a:t>Hello </a:t>
            </a:r>
            <a:r>
              <a:rPr lang="en-US" b="1" dirty="0"/>
              <a:t>Let’s start Learning Together</a:t>
            </a:r>
            <a:r>
              <a:rPr lang="en-US" b="1" dirty="0">
                <a:latin typeface="Roboto"/>
              </a:rPr>
              <a:t/>
            </a:r>
            <a:br>
              <a:rPr lang="en-US" b="1" dirty="0">
                <a:latin typeface="Roboto"/>
              </a:rPr>
            </a:br>
            <a:r>
              <a:rPr lang="en-US" b="1" dirty="0">
                <a:latin typeface="Roboto"/>
              </a:rPr>
              <a:t>d) Compilation error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3AB599-021D-48E5-A982-3A867AEB6BB1}"/>
              </a:ext>
            </a:extLst>
          </p:cNvPr>
          <p:cNvSpPr/>
          <p:nvPr/>
        </p:nvSpPr>
        <p:spPr>
          <a:xfrm>
            <a:off x="942684" y="5693791"/>
            <a:ext cx="9504054" cy="830997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pPr fontAlgn="base"/>
            <a:r>
              <a:rPr lang="en-US" sz="1500" b="1" dirty="0">
                <a:solidFill>
                  <a:schemeClr val="bg1"/>
                </a:solidFill>
                <a:latin typeface="Roboto"/>
              </a:rPr>
              <a:t>Ans. (b)</a:t>
            </a:r>
            <a:br>
              <a:rPr lang="en-US" sz="1500" b="1" dirty="0">
                <a:solidFill>
                  <a:schemeClr val="bg1"/>
                </a:solidFill>
                <a:latin typeface="Roboto"/>
              </a:rPr>
            </a:br>
            <a:r>
              <a:rPr lang="en-US" sz="1500" b="1" dirty="0">
                <a:solidFill>
                  <a:schemeClr val="bg1"/>
                </a:solidFill>
                <a:latin typeface="Roboto"/>
              </a:rPr>
              <a:t>Explanation: At a time only one exception is caught, even though the throw exception in the try block is likely to belong to multiple exception type</a:t>
            </a:r>
            <a:r>
              <a:rPr lang="en-US" dirty="0">
                <a:latin typeface="Roboto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3898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2561" y="360619"/>
            <a:ext cx="10515600" cy="1920465"/>
          </a:xfrm>
        </p:spPr>
        <p:txBody>
          <a:bodyPr>
            <a:normAutofit fontScale="925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5000" b="1" dirty="0">
                <a:latin typeface="Arial Unicode MS"/>
              </a:rPr>
              <a:t>raise</a:t>
            </a:r>
            <a:r>
              <a:rPr lang="en-US" altLang="en-US" sz="4400" b="1" dirty="0"/>
              <a:t> keyword (raise an exception manually)</a:t>
            </a:r>
            <a:endParaRPr lang="en-US" altLang="en-US" sz="4400" b="1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b="1" dirty="0">
                <a:latin typeface="Arial" panose="020B0604020202020204" pitchFamily="34" charset="0"/>
              </a:rPr>
              <a:t>Use</a:t>
            </a:r>
            <a:r>
              <a:rPr lang="en-US" altLang="en-US" b="1" dirty="0">
                <a:latin typeface="Arial" panose="020B0604020202020204" pitchFamily="34" charset="0"/>
              </a:rPr>
              <a:t>:</a:t>
            </a:r>
            <a:r>
              <a:rPr lang="en-US" altLang="en-US" dirty="0">
                <a:latin typeface="Arial" panose="020B0604020202020204" pitchFamily="34" charset="0"/>
              </a:rPr>
              <a:t> When you want to </a:t>
            </a:r>
            <a:r>
              <a:rPr lang="en-US" altLang="en-US" b="1" dirty="0">
                <a:latin typeface="Arial" panose="020B0604020202020204" pitchFamily="34" charset="0"/>
              </a:rPr>
              <a:t>stop the program with a clear message</a:t>
            </a:r>
            <a:r>
              <a:rPr lang="en-US" altLang="en-US" dirty="0">
                <a:latin typeface="Arial" panose="020B0604020202020204" pitchFamily="34" charset="0"/>
              </a:rPr>
              <a:t> if an invalid condition happens.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19</a:t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81084"/>
            <a:ext cx="7794755" cy="3460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52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39886"/>
          </a:xfrm>
        </p:spPr>
        <p:txBody>
          <a:bodyPr>
            <a:normAutofit fontScale="90000"/>
          </a:bodyPr>
          <a:lstStyle/>
          <a:p>
            <a:r>
              <a:rPr lang="en-US" sz="3900" b="1" dirty="0"/>
              <a:t>User-defined (Custom) Exceptions</a:t>
            </a:r>
            <a:br>
              <a:rPr lang="en-US" sz="3900" b="1" dirty="0"/>
            </a:br>
            <a:r>
              <a:rPr lang="en-US" sz="3900" b="1" dirty="0"/>
              <a:t>Use:</a:t>
            </a:r>
            <a:r>
              <a:rPr lang="en-US" sz="3900" dirty="0"/>
              <a:t> When built-in errors aren’t expressive enough for your rule.</a:t>
            </a:r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8757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class </a:t>
            </a:r>
            <a:r>
              <a:rPr lang="en-US" dirty="0" err="1"/>
              <a:t>AgeTooSmallError</a:t>
            </a:r>
            <a:r>
              <a:rPr lang="en-US" dirty="0"/>
              <a:t>(Exception):</a:t>
            </a:r>
          </a:p>
          <a:p>
            <a:pPr marL="0" indent="0">
              <a:buNone/>
            </a:pPr>
            <a:r>
              <a:rPr lang="en-US" dirty="0"/>
              <a:t>    pass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age = </a:t>
            </a:r>
            <a:r>
              <a:rPr lang="en-US" dirty="0" err="1"/>
              <a:t>int</a:t>
            </a:r>
            <a:r>
              <a:rPr lang="en-US" dirty="0"/>
              <a:t>(input("Enter age: "))</a:t>
            </a:r>
          </a:p>
          <a:p>
            <a:pPr marL="0" indent="0">
              <a:buNone/>
            </a:pPr>
            <a:r>
              <a:rPr lang="en-US" dirty="0"/>
              <a:t>if age &lt; 18:</a:t>
            </a:r>
          </a:p>
          <a:p>
            <a:pPr marL="0" indent="0">
              <a:buNone/>
            </a:pPr>
            <a:r>
              <a:rPr lang="en-US" dirty="0"/>
              <a:t>    raise </a:t>
            </a:r>
            <a:r>
              <a:rPr lang="en-US" dirty="0" err="1"/>
              <a:t>AgeTooSmallError</a:t>
            </a:r>
            <a:r>
              <a:rPr lang="en-US" dirty="0"/>
              <a:t>("Not eligible for registration")</a:t>
            </a:r>
          </a:p>
          <a:p>
            <a:pPr marL="0" indent="0">
              <a:buNone/>
            </a:pPr>
            <a:r>
              <a:rPr lang="en-US" dirty="0"/>
              <a:t>print("Registered")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9896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try:</a:t>
            </a:r>
          </a:p>
          <a:p>
            <a:r>
              <a:rPr lang="en-US" dirty="0"/>
              <a:t>    x = </a:t>
            </a:r>
            <a:r>
              <a:rPr lang="en-US" dirty="0" err="1"/>
              <a:t>int</a:t>
            </a:r>
            <a:r>
              <a:rPr lang="en-US" dirty="0"/>
              <a:t>("Be loud to your thought")</a:t>
            </a:r>
          </a:p>
          <a:p>
            <a:r>
              <a:rPr lang="en-US" dirty="0"/>
              <a:t>except </a:t>
            </a:r>
            <a:r>
              <a:rPr lang="en-US" dirty="0" err="1"/>
              <a:t>ValueError</a:t>
            </a:r>
            <a:r>
              <a:rPr lang="en-US" dirty="0"/>
              <a:t> as e:</a:t>
            </a:r>
          </a:p>
          <a:p>
            <a:r>
              <a:rPr lang="en-US" dirty="0"/>
              <a:t>    print("Error message:", e)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21</a:t>
            </a:fld>
            <a:endParaRPr lang="en-IN"/>
          </a:p>
        </p:txBody>
      </p:sp>
      <p:sp>
        <p:nvSpPr>
          <p:cNvPr id="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520075"/>
            <a:ext cx="1004486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Catching the exception message (</a:t>
            </a:r>
            <a:r>
              <a:rPr kumimoji="0" lang="en-US" altLang="en-US" sz="3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as e</a:t>
            </a:r>
            <a:r>
              <a:rPr kumimoji="0" lang="en-US" altLang="en-US" sz="3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en-US" altLang="en-US" sz="3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Use: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</a:t>
            </a:r>
            <a:r>
              <a:rPr kumimoji="0" lang="en-US" altLang="en-US" sz="3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see/log the exact error message</a:t>
            </a:r>
            <a:r>
              <a:rPr kumimoji="0" lang="en-US" altLang="en-US" sz="3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debugging.</a:t>
            </a:r>
          </a:p>
        </p:txBody>
      </p:sp>
    </p:spTree>
    <p:extLst>
      <p:ext uri="{BB962C8B-B14F-4D97-AF65-F5344CB8AC3E}">
        <p14:creationId xmlns:p14="http://schemas.microsoft.com/office/powerpoint/2010/main" val="635798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if data.txt not found?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try:</a:t>
            </a:r>
          </a:p>
          <a:p>
            <a:pPr marL="0" indent="0">
              <a:buNone/>
            </a:pPr>
            <a:r>
              <a:rPr lang="en-US" sz="3200" dirty="0"/>
              <a:t>    f = open("data.txt", "r")</a:t>
            </a:r>
          </a:p>
          <a:p>
            <a:pPr marL="0" indent="0">
              <a:buNone/>
            </a:pPr>
            <a:r>
              <a:rPr lang="en-US" sz="3200" dirty="0"/>
              <a:t>    print(</a:t>
            </a:r>
            <a:r>
              <a:rPr lang="en-US" sz="3200" dirty="0" err="1"/>
              <a:t>f.read</a:t>
            </a:r>
            <a:r>
              <a:rPr lang="en-US" sz="3200" dirty="0"/>
              <a:t>())</a:t>
            </a:r>
          </a:p>
          <a:p>
            <a:pPr marL="0" indent="0">
              <a:buNone/>
            </a:pPr>
            <a:r>
              <a:rPr lang="en-US" sz="3200" dirty="0"/>
              <a:t>except </a:t>
            </a:r>
            <a:r>
              <a:rPr lang="en-US" sz="3200" dirty="0" err="1"/>
              <a:t>FileNotFoundError</a:t>
            </a:r>
            <a:r>
              <a:rPr lang="en-US" sz="3200" dirty="0"/>
              <a:t>:</a:t>
            </a:r>
          </a:p>
          <a:p>
            <a:pPr marL="0" indent="0">
              <a:buNone/>
            </a:pPr>
            <a:r>
              <a:rPr lang="en-US" sz="3200" dirty="0"/>
              <a:t>    print("File not found")</a:t>
            </a:r>
          </a:p>
          <a:p>
            <a:pPr marL="0" indent="0">
              <a:buNone/>
            </a:pPr>
            <a:r>
              <a:rPr lang="en-US" sz="3200" dirty="0"/>
              <a:t>finally:</a:t>
            </a:r>
          </a:p>
          <a:p>
            <a:pPr marL="0" indent="0">
              <a:buNone/>
            </a:pPr>
            <a:r>
              <a:rPr lang="en-US" sz="3200" dirty="0"/>
              <a:t>    </a:t>
            </a:r>
            <a:r>
              <a:rPr lang="en-US" sz="3200" dirty="0" err="1"/>
              <a:t>f.close</a:t>
            </a:r>
            <a:r>
              <a:rPr lang="en-US" sz="3200" dirty="0"/>
              <a:t>()</a:t>
            </a:r>
            <a:endParaRPr lang="en-IN" sz="3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5317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What goes wrong?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23</a:t>
            </a:fld>
            <a:endParaRPr lang="en-IN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985357"/>
            <a:ext cx="8515473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open("data.txt", "r")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raises </a:t>
            </a:r>
            <a:r>
              <a:rPr kumimoji="0" lang="en-US" altLang="en-US" sz="3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FileNotFoundError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except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runs → prints </a:t>
            </a: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"File not found"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finally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still runs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 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was </a:t>
            </a: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never created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 </a:t>
            </a:r>
            <a:r>
              <a:rPr kumimoji="0" lang="en-US" altLang="en-US" sz="3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f.close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()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causes </a:t>
            </a:r>
            <a:r>
              <a:rPr kumimoji="0" lang="en-US" alt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another error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b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👉 </a:t>
            </a:r>
            <a:r>
              <a:rPr kumimoji="0" lang="en-US" altLang="en-US" sz="3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UnboundLocalError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local variable 'f' referenced before assignment</a:t>
            </a: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147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038F-0D1A-1770-8890-71D3962A6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05038B-D890-AF44-18A0-3E3EA97BF0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1534" y="776758"/>
            <a:ext cx="9973559" cy="5671175"/>
          </a:xfr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16028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5070-9203-4655-4ABD-D4AA35AD9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A01469-7076-FFBE-8137-32A62927FF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659876"/>
            <a:ext cx="10515600" cy="5517087"/>
          </a:xfr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22414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Aaj</a:t>
            </a:r>
            <a:r>
              <a:rPr lang="en-US" dirty="0" smtClean="0"/>
              <a:t> </a:t>
            </a:r>
            <a:r>
              <a:rPr lang="en-US" dirty="0" err="1" smtClean="0"/>
              <a:t>ka</a:t>
            </a:r>
            <a:r>
              <a:rPr lang="en-US" dirty="0" smtClean="0"/>
              <a:t> </a:t>
            </a:r>
            <a:r>
              <a:rPr lang="en-US" dirty="0" err="1" smtClean="0"/>
              <a:t>Gyan</a:t>
            </a:r>
            <a:r>
              <a:rPr lang="en-US" dirty="0" smtClean="0"/>
              <a:t>: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6FE-5F40-4928-A1C6-4FB224CE72C6}" type="datetime1">
              <a:rPr lang="en-IN" smtClean="0"/>
              <a:t>25-02-2026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77663-2762-46B5-B6F1-644FC9B64B3D}" type="slidenum">
              <a:rPr lang="en-IN" smtClean="0"/>
              <a:t>26</a:t>
            </a:fld>
            <a:endParaRPr lang="en-IN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53738" y="2591391"/>
            <a:ext cx="11683904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“Don’t fear errors; design for them.”</a:t>
            </a:r>
            <a:endParaRPr kumimoji="0" lang="en-US" altLang="en-US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“Great programmers don’t avoid errors — they handle them gracefully.”</a:t>
            </a:r>
            <a:endParaRPr kumimoji="0" lang="en-US" altLang="en-US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“Bugs test your patience. Exceptions test your design.”</a:t>
            </a:r>
            <a:endParaRPr kumimoji="0" lang="en-US" altLang="en-US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5116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3130</TotalTime>
  <Words>1020</Words>
  <Application>Microsoft Office PowerPoint</Application>
  <PresentationFormat>Widescreen</PresentationFormat>
  <Paragraphs>248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Adobe Garamond Pro Bold</vt:lpstr>
      <vt:lpstr>Arial</vt:lpstr>
      <vt:lpstr>Arial Unicode MS</vt:lpstr>
      <vt:lpstr>Calibri</vt:lpstr>
      <vt:lpstr>Calibri Light</vt:lpstr>
      <vt:lpstr>Consolas</vt:lpstr>
      <vt:lpstr>Roboto</vt:lpstr>
      <vt:lpstr>Times New Roman</vt:lpstr>
      <vt:lpstr>Office Theme</vt:lpstr>
      <vt:lpstr>Python Exception handling</vt:lpstr>
      <vt:lpstr>Python Errors and Exceptions</vt:lpstr>
      <vt:lpstr>PowerPoint Presentation</vt:lpstr>
      <vt:lpstr>PowerPoint Presentation</vt:lpstr>
      <vt:lpstr>Python Exception Handling</vt:lpstr>
      <vt:lpstr>Python Exception Handling</vt:lpstr>
      <vt:lpstr>PowerPoint Presentation</vt:lpstr>
      <vt:lpstr>Example:</vt:lpstr>
      <vt:lpstr>Except clause with multiple exceptions</vt:lpstr>
      <vt:lpstr>try......finally </vt:lpstr>
      <vt:lpstr>Example:</vt:lpstr>
      <vt:lpstr>PowerPoint Presentation</vt:lpstr>
      <vt:lpstr>except NameError: Example </vt:lpstr>
      <vt:lpstr>except FileNotFoundError: Example </vt:lpstr>
      <vt:lpstr>if–else vs try–except </vt:lpstr>
      <vt:lpstr>PowerPoint Presentation</vt:lpstr>
      <vt:lpstr>PowerPoint Presentation</vt:lpstr>
      <vt:lpstr>PowerPoint Presentation</vt:lpstr>
      <vt:lpstr>PowerPoint Presentation</vt:lpstr>
      <vt:lpstr>User-defined (Custom) Exceptions Use: When built-in errors aren’t expressive enough for your rule. </vt:lpstr>
      <vt:lpstr>Catching the exception message (as e) Use: To see/log the exact error message for debugging.</vt:lpstr>
      <vt:lpstr>What if data.txt not found?</vt:lpstr>
      <vt:lpstr>What goes wrong?</vt:lpstr>
      <vt:lpstr>PowerPoint Presentation</vt:lpstr>
      <vt:lpstr>PowerPoint Presentation</vt:lpstr>
      <vt:lpstr>Aaj ka Gyan: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Exception handling</dc:title>
  <dc:creator>meghavayalapra@gmail.com</dc:creator>
  <cp:lastModifiedBy>PalikaC</cp:lastModifiedBy>
  <cp:revision>33</cp:revision>
  <dcterms:created xsi:type="dcterms:W3CDTF">2022-01-02T09:55:32Z</dcterms:created>
  <dcterms:modified xsi:type="dcterms:W3CDTF">2026-02-25T05:10:34Z</dcterms:modified>
</cp:coreProperties>
</file>