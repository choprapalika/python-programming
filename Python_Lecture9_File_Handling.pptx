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2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311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5" r:id="rId36"/>
    <p:sldId id="313" r:id="rId37"/>
    <p:sldId id="314" r:id="rId38"/>
    <p:sldId id="315" r:id="rId39"/>
    <p:sldId id="296" r:id="rId40"/>
    <p:sldId id="297" r:id="rId41"/>
    <p:sldId id="298" r:id="rId42"/>
    <p:sldId id="300" r:id="rId43"/>
    <p:sldId id="301" r:id="rId44"/>
    <p:sldId id="304" r:id="rId45"/>
    <p:sldId id="316" r:id="rId46"/>
    <p:sldId id="305" r:id="rId47"/>
    <p:sldId id="306" r:id="rId48"/>
    <p:sldId id="307" r:id="rId49"/>
    <p:sldId id="310" r:id="rId5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78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 u="heavy">
                <a:solidFill>
                  <a:srgbClr val="0B539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339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Nunito"/>
                <a:cs typeface="Nunito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 u="heavy">
                <a:solidFill>
                  <a:srgbClr val="0B539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339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Nunito"/>
                <a:cs typeface="Nunito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 u="heavy">
                <a:solidFill>
                  <a:srgbClr val="0B539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Nunito"/>
                <a:cs typeface="Nunito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 u="heavy">
                <a:solidFill>
                  <a:srgbClr val="0B539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Nunito"/>
                <a:cs typeface="Nunito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33944"/>
                </a:solidFill>
                <a:latin typeface="Nunito"/>
                <a:cs typeface="Nunito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33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82599" y="1550700"/>
            <a:ext cx="5561965" cy="3592829"/>
          </a:xfrm>
          <a:custGeom>
            <a:avLst/>
            <a:gdLst/>
            <a:ahLst/>
            <a:cxnLst/>
            <a:rect l="l" t="t" r="r" b="b"/>
            <a:pathLst>
              <a:path w="5561965" h="3592829">
                <a:moveTo>
                  <a:pt x="5561399" y="3592799"/>
                </a:moveTo>
                <a:lnTo>
                  <a:pt x="0" y="3592799"/>
                </a:lnTo>
                <a:lnTo>
                  <a:pt x="5561399" y="0"/>
                </a:lnTo>
                <a:lnTo>
                  <a:pt x="5561399" y="35927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" y="2824500"/>
            <a:ext cx="7370445" cy="2319020"/>
          </a:xfrm>
          <a:custGeom>
            <a:avLst/>
            <a:gdLst/>
            <a:ahLst/>
            <a:cxnLst/>
            <a:rect l="l" t="t" r="r" b="b"/>
            <a:pathLst>
              <a:path w="7370445" h="2319020">
                <a:moveTo>
                  <a:pt x="7370400" y="2318999"/>
                </a:moveTo>
                <a:lnTo>
                  <a:pt x="0" y="2318999"/>
                </a:lnTo>
                <a:lnTo>
                  <a:pt x="0" y="0"/>
                </a:lnTo>
                <a:lnTo>
                  <a:pt x="7370400" y="2318999"/>
                </a:lnTo>
                <a:close/>
              </a:path>
            </a:pathLst>
          </a:custGeom>
          <a:solidFill>
            <a:srgbClr val="C4A15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03224" y="206250"/>
            <a:ext cx="8737600" cy="4731385"/>
          </a:xfrm>
          <a:custGeom>
            <a:avLst/>
            <a:gdLst/>
            <a:ahLst/>
            <a:cxnLst/>
            <a:rect l="l" t="t" r="r" b="b"/>
            <a:pathLst>
              <a:path w="8737600" h="4731385">
                <a:moveTo>
                  <a:pt x="8737499" y="4730999"/>
                </a:moveTo>
                <a:lnTo>
                  <a:pt x="0" y="4730999"/>
                </a:lnTo>
                <a:lnTo>
                  <a:pt x="0" y="0"/>
                </a:lnTo>
                <a:lnTo>
                  <a:pt x="8737499" y="0"/>
                </a:lnTo>
                <a:lnTo>
                  <a:pt x="8737499" y="473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7600" y="305334"/>
            <a:ext cx="820879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 u="heavy">
                <a:solidFill>
                  <a:srgbClr val="0B539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2606" y="1220456"/>
            <a:ext cx="8027670" cy="3321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339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3268" y="4645090"/>
            <a:ext cx="241300" cy="198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33944"/>
                </a:solidFill>
                <a:latin typeface="Nunito"/>
                <a:cs typeface="Nunito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4484"/>
            <a:ext cx="7772400" cy="923330"/>
          </a:xfrm>
        </p:spPr>
        <p:txBody>
          <a:bodyPr/>
          <a:lstStyle/>
          <a:p>
            <a:r>
              <a:rPr lang="en-US" sz="6000" dirty="0" smtClean="0">
                <a:latin typeface="Brush Script MT" panose="03060802040406070304" pitchFamily="66" charset="0"/>
              </a:rPr>
              <a:t>File Handling</a:t>
            </a:r>
            <a:endParaRPr lang="en-IN" sz="6000" dirty="0">
              <a:latin typeface="Brush Script MT" panose="03060802040406070304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2971800" y="2880360"/>
            <a:ext cx="5562600" cy="1231106"/>
          </a:xfrm>
        </p:spPr>
        <p:txBody>
          <a:bodyPr/>
          <a:lstStyle/>
          <a:p>
            <a:pPr algn="r"/>
            <a:r>
              <a:rPr lang="en-US" sz="4000" dirty="0"/>
              <a:t>Let’s </a:t>
            </a:r>
            <a:r>
              <a:rPr lang="en-US" sz="4000" dirty="0" smtClean="0"/>
              <a:t>handle a file now. </a:t>
            </a:r>
            <a:r>
              <a:rPr lang="en-US" sz="4000" dirty="0" smtClean="0">
                <a:sym typeface="Wingdings" panose="05000000000000000000" pitchFamily="2" charset="2"/>
              </a:rPr>
              <a:t>  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52275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225" y="593659"/>
            <a:ext cx="33610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spc="-10" dirty="0">
                <a:solidFill>
                  <a:srgbClr val="1B4587"/>
                </a:solidFill>
              </a:rPr>
              <a:t>INTRODUCTION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2980" y="1191526"/>
            <a:ext cx="8010525" cy="242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</a:tabLst>
            </a:pP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itself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233944"/>
                </a:solidFill>
                <a:latin typeface="Georgia"/>
                <a:cs typeface="Georgia"/>
              </a:rPr>
              <a:t>sequence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bytes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stored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some</a:t>
            </a:r>
            <a:r>
              <a:rPr sz="17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storage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device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like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20" dirty="0">
                <a:solidFill>
                  <a:srgbClr val="233944"/>
                </a:solidFill>
                <a:latin typeface="Georgia"/>
                <a:cs typeface="Georgia"/>
              </a:rPr>
              <a:t>hard-</a:t>
            </a:r>
            <a:r>
              <a:rPr sz="1700" spc="-10" dirty="0">
                <a:solidFill>
                  <a:srgbClr val="233944"/>
                </a:solidFill>
                <a:latin typeface="Georgia"/>
                <a:cs typeface="Georgia"/>
              </a:rPr>
              <a:t>disk, </a:t>
            </a:r>
            <a:r>
              <a:rPr sz="1700" spc="-20" dirty="0">
                <a:solidFill>
                  <a:srgbClr val="233944"/>
                </a:solidFill>
                <a:latin typeface="Georgia"/>
                <a:cs typeface="Georgia"/>
              </a:rPr>
              <a:t>pen-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drive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20" dirty="0">
                <a:solidFill>
                  <a:srgbClr val="233944"/>
                </a:solidFill>
                <a:latin typeface="Georgia"/>
                <a:cs typeface="Georgia"/>
              </a:rPr>
              <a:t>etc.</a:t>
            </a:r>
            <a:endParaRPr sz="1700">
              <a:latin typeface="Georgia"/>
              <a:cs typeface="Georgia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371475" algn="l"/>
              </a:tabLst>
            </a:pP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Python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allow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us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create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and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manage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three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types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files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endParaRPr sz="1700">
              <a:latin typeface="Georgia"/>
              <a:cs typeface="Georgia"/>
            </a:endParaRPr>
          </a:p>
          <a:p>
            <a:pPr marL="1031240" lvl="1" indent="-202565">
              <a:lnSpc>
                <a:spcPct val="100000"/>
              </a:lnSpc>
              <a:spcBef>
                <a:spcPts val="1905"/>
              </a:spcBef>
              <a:buFont typeface="Georgia"/>
              <a:buAutoNum type="arabicPeriod"/>
              <a:tabLst>
                <a:tab pos="1031240" algn="l"/>
              </a:tabLst>
            </a:pPr>
            <a:r>
              <a:rPr sz="1700" b="1" dirty="0">
                <a:solidFill>
                  <a:srgbClr val="BE9000"/>
                </a:solidFill>
                <a:latin typeface="Georgia"/>
                <a:cs typeface="Georgia"/>
              </a:rPr>
              <a:t>TEXT</a:t>
            </a:r>
            <a:r>
              <a:rPr sz="1700" b="1" spc="-20" dirty="0">
                <a:solidFill>
                  <a:srgbClr val="BE9000"/>
                </a:solidFill>
                <a:latin typeface="Georgia"/>
                <a:cs typeface="Georgia"/>
              </a:rPr>
              <a:t> FILE</a:t>
            </a:r>
            <a:endParaRPr sz="1700">
              <a:latin typeface="Georgia"/>
              <a:cs typeface="Georgia"/>
            </a:endParaRPr>
          </a:p>
          <a:p>
            <a:pPr marL="1061720" lvl="1" indent="-233045">
              <a:lnSpc>
                <a:spcPct val="100000"/>
              </a:lnSpc>
              <a:spcBef>
                <a:spcPts val="1905"/>
              </a:spcBef>
              <a:buFont typeface="Georgia"/>
              <a:buAutoNum type="arabicPeriod"/>
              <a:tabLst>
                <a:tab pos="1061720" algn="l"/>
              </a:tabLst>
            </a:pPr>
            <a:r>
              <a:rPr sz="1700" b="1" dirty="0">
                <a:solidFill>
                  <a:srgbClr val="BE9000"/>
                </a:solidFill>
                <a:latin typeface="Georgia"/>
                <a:cs typeface="Georgia"/>
              </a:rPr>
              <a:t>BINARY</a:t>
            </a:r>
            <a:r>
              <a:rPr sz="1700" b="1" spc="-10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b="1" spc="-20" dirty="0">
                <a:solidFill>
                  <a:srgbClr val="BE9000"/>
                </a:solidFill>
                <a:latin typeface="Georgia"/>
                <a:cs typeface="Georgia"/>
              </a:rPr>
              <a:t>FILE</a:t>
            </a:r>
            <a:endParaRPr sz="1700">
              <a:latin typeface="Georgia"/>
              <a:cs typeface="Georgia"/>
            </a:endParaRPr>
          </a:p>
          <a:p>
            <a:pPr marL="1057275" lvl="1" indent="-228600">
              <a:lnSpc>
                <a:spcPct val="100000"/>
              </a:lnSpc>
              <a:spcBef>
                <a:spcPts val="1905"/>
              </a:spcBef>
              <a:buFont typeface="Georgia"/>
              <a:buAutoNum type="arabicPeriod"/>
              <a:tabLst>
                <a:tab pos="1057275" algn="l"/>
              </a:tabLst>
            </a:pPr>
            <a:r>
              <a:rPr sz="1700" b="1" dirty="0">
                <a:solidFill>
                  <a:srgbClr val="BE9000"/>
                </a:solidFill>
                <a:latin typeface="Georgia"/>
                <a:cs typeface="Georgia"/>
              </a:rPr>
              <a:t>CSV</a:t>
            </a:r>
            <a:r>
              <a:rPr sz="1700" b="1" spc="-8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BE9000"/>
                </a:solidFill>
                <a:latin typeface="Georgia"/>
                <a:cs typeface="Georgia"/>
              </a:rPr>
              <a:t>(Comma</a:t>
            </a:r>
            <a:r>
              <a:rPr sz="1700" spc="-5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BE9000"/>
                </a:solidFill>
                <a:latin typeface="Georgia"/>
                <a:cs typeface="Georgia"/>
              </a:rPr>
              <a:t>Separated</a:t>
            </a:r>
            <a:r>
              <a:rPr sz="1700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BE9000"/>
                </a:solidFill>
                <a:latin typeface="Georgia"/>
                <a:cs typeface="Georgia"/>
              </a:rPr>
              <a:t>Values)</a:t>
            </a:r>
            <a:r>
              <a:rPr sz="1700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BE9000"/>
                </a:solidFill>
                <a:latin typeface="Georgia"/>
                <a:cs typeface="Georgia"/>
              </a:rPr>
              <a:t>FILES</a:t>
            </a:r>
            <a:endParaRPr sz="17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925" y="361084"/>
            <a:ext cx="21875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TEXT</a:t>
            </a:r>
            <a:r>
              <a:rPr sz="3000" u="none" spc="-20" dirty="0">
                <a:solidFill>
                  <a:srgbClr val="1B4587"/>
                </a:solidFill>
              </a:rPr>
              <a:t> FILE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311699" y="987050"/>
            <a:ext cx="8521065" cy="2481580"/>
          </a:xfrm>
          <a:custGeom>
            <a:avLst/>
            <a:gdLst/>
            <a:ahLst/>
            <a:cxnLst/>
            <a:rect l="l" t="t" r="r" b="b"/>
            <a:pathLst>
              <a:path w="8521065" h="2481579">
                <a:moveTo>
                  <a:pt x="0" y="0"/>
                </a:moveTo>
                <a:lnTo>
                  <a:pt x="8520599" y="0"/>
                </a:lnTo>
                <a:lnTo>
                  <a:pt x="8520599" y="2481299"/>
                </a:lnTo>
                <a:lnTo>
                  <a:pt x="0" y="24812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2980" y="965407"/>
            <a:ext cx="8182609" cy="104246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71475" indent="-328295">
              <a:lnSpc>
                <a:spcPct val="100000"/>
              </a:lnSpc>
              <a:spcBef>
                <a:spcPts val="750"/>
              </a:spcBef>
              <a:buSzPct val="76470"/>
              <a:buFont typeface="Arial"/>
              <a:buChar char="●"/>
              <a:tabLst>
                <a:tab pos="371475" algn="l"/>
              </a:tabLst>
            </a:pP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7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text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7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233944"/>
                </a:solidFill>
                <a:latin typeface="Georgia"/>
                <a:cs typeface="Georgia"/>
              </a:rPr>
              <a:t>structured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as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BE9000"/>
                </a:solidFill>
                <a:latin typeface="Georgia"/>
                <a:cs typeface="Georgia"/>
              </a:rPr>
              <a:t>sequence</a:t>
            </a:r>
            <a:r>
              <a:rPr sz="1700" b="1" spc="-4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BE9000"/>
                </a:solidFill>
                <a:latin typeface="Georgia"/>
                <a:cs typeface="Georgia"/>
              </a:rPr>
              <a:t>o</a:t>
            </a:r>
            <a:r>
              <a:rPr sz="2400" b="1" dirty="0">
                <a:solidFill>
                  <a:srgbClr val="BE9000"/>
                </a:solidFill>
                <a:latin typeface="Georgia"/>
                <a:cs typeface="Georgia"/>
              </a:rPr>
              <a:t>f</a:t>
            </a:r>
            <a:r>
              <a:rPr sz="2400" b="1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BE9000"/>
                </a:solidFill>
                <a:latin typeface="Georgia"/>
                <a:cs typeface="Georgia"/>
              </a:rPr>
              <a:t>lines.</a:t>
            </a:r>
            <a:endParaRPr sz="1700" dirty="0">
              <a:latin typeface="Georgia"/>
              <a:cs typeface="Georgia"/>
            </a:endParaRPr>
          </a:p>
          <a:p>
            <a:pPr marL="371475" marR="5080" indent="-359410">
              <a:lnSpc>
                <a:spcPct val="114999"/>
              </a:lnSpc>
              <a:buFont typeface="Arial"/>
              <a:buChar char="●"/>
              <a:tabLst>
                <a:tab pos="371475" algn="l"/>
              </a:tabLst>
            </a:pPr>
            <a:r>
              <a:rPr sz="1700" dirty="0" smtClean="0">
                <a:solidFill>
                  <a:srgbClr val="233944"/>
                </a:solidFill>
                <a:latin typeface="Georgia"/>
                <a:cs typeface="Georgia"/>
              </a:rPr>
              <a:t>Text</a:t>
            </a:r>
            <a:r>
              <a:rPr sz="1700" spc="-50" dirty="0" smtClean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files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are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stored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BE9000"/>
                </a:solidFill>
                <a:latin typeface="Georgia"/>
                <a:cs typeface="Georgia"/>
              </a:rPr>
              <a:t>human</a:t>
            </a:r>
            <a:r>
              <a:rPr sz="1700" b="1" spc="-6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BE9000"/>
                </a:solidFill>
                <a:latin typeface="Georgia"/>
                <a:cs typeface="Georgia"/>
              </a:rPr>
              <a:t>readable</a:t>
            </a:r>
            <a:r>
              <a:rPr sz="1700" b="1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dirty="0">
                <a:latin typeface="Georgia"/>
                <a:cs typeface="Georgia"/>
              </a:rPr>
              <a:t>form</a:t>
            </a:r>
            <a:r>
              <a:rPr sz="1700" spc="-45" dirty="0"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and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they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can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also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created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233944"/>
                </a:solidFill>
                <a:latin typeface="Georgia"/>
                <a:cs typeface="Georgia"/>
              </a:rPr>
              <a:t>using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any</a:t>
            </a:r>
            <a:r>
              <a:rPr sz="17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text</a:t>
            </a:r>
            <a:r>
              <a:rPr sz="17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233944"/>
                </a:solidFill>
                <a:latin typeface="Georgia"/>
                <a:cs typeface="Georgia"/>
              </a:rPr>
              <a:t>editor.</a:t>
            </a:r>
            <a:endParaRPr sz="1700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1400" y="2007872"/>
            <a:ext cx="3513174" cy="267657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825" y="380610"/>
            <a:ext cx="27311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BINARY</a:t>
            </a:r>
            <a:r>
              <a:rPr sz="3000" u="none" spc="-35" dirty="0">
                <a:solidFill>
                  <a:srgbClr val="1B4587"/>
                </a:solidFill>
              </a:rPr>
              <a:t> </a:t>
            </a:r>
            <a:r>
              <a:rPr sz="3000" u="none" spc="-75" dirty="0">
                <a:solidFill>
                  <a:srgbClr val="1B4587"/>
                </a:solidFill>
              </a:rPr>
              <a:t>FILE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79349" y="993357"/>
            <a:ext cx="7697470" cy="1576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that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contains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information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same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format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which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information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held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memory.</a:t>
            </a:r>
            <a:endParaRPr sz="1800" dirty="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Binary</a:t>
            </a:r>
            <a:r>
              <a:rPr sz="1800" spc="-8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8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contains</a:t>
            </a:r>
            <a:r>
              <a:rPr sz="1800" spc="-8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arbitrary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binary</a:t>
            </a:r>
            <a:r>
              <a:rPr sz="1800" b="1" spc="-10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data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.</a:t>
            </a:r>
            <a:endParaRPr sz="1800" dirty="0">
              <a:latin typeface="Georgia"/>
              <a:cs typeface="Georgia"/>
            </a:endParaRPr>
          </a:p>
          <a:p>
            <a:pPr marL="379095" marR="38100" indent="-367030">
              <a:lnSpc>
                <a:spcPct val="114999"/>
              </a:lnSpc>
              <a:buFont typeface="Arial"/>
              <a:buChar char="●"/>
              <a:tabLst>
                <a:tab pos="379095" algn="l"/>
              </a:tabLst>
            </a:pPr>
            <a:r>
              <a:rPr sz="1800" dirty="0" smtClean="0">
                <a:solidFill>
                  <a:srgbClr val="233944"/>
                </a:solidFill>
                <a:latin typeface="Georgia"/>
                <a:cs typeface="Georgia"/>
              </a:rPr>
              <a:t>Python</a:t>
            </a:r>
            <a:r>
              <a:rPr sz="1800" spc="-55" dirty="0" smtClean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provides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special</a:t>
            </a:r>
            <a:r>
              <a:rPr sz="1800" b="1" spc="-6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module(s)</a:t>
            </a:r>
            <a:r>
              <a:rPr sz="1800" b="1" spc="-5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encoding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and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decoding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data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binary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2343150"/>
            <a:ext cx="3779599" cy="24708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175" y="903385"/>
            <a:ext cx="21393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CSV</a:t>
            </a:r>
            <a:r>
              <a:rPr sz="3000" u="none" spc="-80" dirty="0">
                <a:solidFill>
                  <a:srgbClr val="1B4587"/>
                </a:solidFill>
              </a:rPr>
              <a:t> </a:t>
            </a:r>
            <a:r>
              <a:rPr sz="3000" u="none" spc="-70" dirty="0">
                <a:solidFill>
                  <a:srgbClr val="1B4587"/>
                </a:solidFill>
              </a:rPr>
              <a:t>FILES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454207"/>
            <a:ext cx="8263255" cy="33150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stands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Comma</a:t>
            </a:r>
            <a:r>
              <a:rPr sz="1800" b="1" spc="-6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Separated</a:t>
            </a:r>
            <a:r>
              <a:rPr sz="1800" b="1" spc="-6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Values</a:t>
            </a:r>
            <a:r>
              <a:rPr sz="1800" b="1" spc="-10" dirty="0" smtClean="0">
                <a:solidFill>
                  <a:srgbClr val="BE9000"/>
                </a:solidFill>
                <a:latin typeface="Georgia"/>
                <a:cs typeface="Georgia"/>
              </a:rPr>
              <a:t>.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175" y="1962149"/>
            <a:ext cx="4465424" cy="2390849"/>
          </a:xfrm>
          <a:prstGeom prst="rect">
            <a:avLst/>
          </a:prstGeom>
        </p:spPr>
      </p:pic>
      <p:pic>
        <p:nvPicPr>
          <p:cNvPr id="6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3925" y="1962149"/>
            <a:ext cx="3676474" cy="2390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175" y="903385"/>
            <a:ext cx="54514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STEPS</a:t>
            </a:r>
            <a:r>
              <a:rPr sz="3000" u="none" spc="-7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TO</a:t>
            </a:r>
            <a:r>
              <a:rPr sz="3000" u="none" spc="-70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PROCESS</a:t>
            </a:r>
            <a:r>
              <a:rPr sz="3000" u="none" spc="-70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A</a:t>
            </a:r>
            <a:r>
              <a:rPr sz="3000" u="none" spc="-65" dirty="0">
                <a:solidFill>
                  <a:srgbClr val="1B4587"/>
                </a:solidFill>
              </a:rPr>
              <a:t> </a:t>
            </a:r>
            <a:r>
              <a:rPr sz="3000" u="none" spc="-20" dirty="0">
                <a:solidFill>
                  <a:srgbClr val="1B4587"/>
                </a:solidFill>
              </a:rPr>
              <a:t>FILE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824" y="1645933"/>
            <a:ext cx="8020050" cy="19481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37515" indent="-405765">
              <a:lnSpc>
                <a:spcPct val="100000"/>
              </a:lnSpc>
              <a:spcBef>
                <a:spcPts val="420"/>
              </a:spcBef>
              <a:buFont typeface="Calibri"/>
              <a:buAutoNum type="arabicPeriod"/>
              <a:tabLst>
                <a:tab pos="437515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Determine</a:t>
            </a:r>
            <a:r>
              <a:rPr sz="1800" b="1" spc="-3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the</a:t>
            </a:r>
            <a:r>
              <a:rPr sz="1800" b="1" spc="-3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type</a:t>
            </a:r>
            <a:r>
              <a:rPr sz="1800" b="1" spc="-3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of</a:t>
            </a:r>
            <a:r>
              <a:rPr sz="1800" b="1" spc="-3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file</a:t>
            </a:r>
            <a:r>
              <a:rPr sz="1800" b="1" spc="-3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usage</a:t>
            </a:r>
            <a:r>
              <a:rPr sz="1800" spc="-10" dirty="0">
                <a:solidFill>
                  <a:srgbClr val="BE9000"/>
                </a:solidFill>
                <a:latin typeface="Georgia"/>
                <a:cs typeface="Georgia"/>
              </a:rPr>
              <a:t>.</a:t>
            </a:r>
            <a:endParaRPr sz="1800">
              <a:latin typeface="Georgia"/>
              <a:cs typeface="Georgia"/>
            </a:endParaRPr>
          </a:p>
          <a:p>
            <a:pPr marL="894715" lvl="1" indent="-405130">
              <a:lnSpc>
                <a:spcPct val="100000"/>
              </a:lnSpc>
              <a:spcBef>
                <a:spcPts val="325"/>
              </a:spcBef>
              <a:buAutoNum type="alphaLcPeriod"/>
              <a:tabLst>
                <a:tab pos="89471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Reading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purpose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r>
              <a:rPr sz="1800" spc="3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If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brought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from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memory</a:t>
            </a:r>
            <a:endParaRPr sz="1800">
              <a:latin typeface="Georgia"/>
              <a:cs typeface="Georgia"/>
            </a:endParaRPr>
          </a:p>
          <a:p>
            <a:pPr marL="894715" lvl="1" indent="-418465">
              <a:lnSpc>
                <a:spcPct val="100000"/>
              </a:lnSpc>
              <a:spcBef>
                <a:spcPts val="325"/>
              </a:spcBef>
              <a:buAutoNum type="alphaLcPeriod"/>
              <a:tabLst>
                <a:tab pos="89471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Writing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purpose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If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sent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from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memory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>
              <a:latin typeface="Georgia"/>
              <a:cs typeface="Georgia"/>
            </a:endParaRPr>
          </a:p>
          <a:p>
            <a:pPr marL="437515" indent="-405765">
              <a:lnSpc>
                <a:spcPct val="100000"/>
              </a:lnSpc>
              <a:spcBef>
                <a:spcPts val="325"/>
              </a:spcBef>
              <a:buClr>
                <a:srgbClr val="233944"/>
              </a:buClr>
              <a:buFont typeface="Calibri"/>
              <a:buAutoNum type="arabicPeriod"/>
              <a:tabLst>
                <a:tab pos="437515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Open</a:t>
            </a:r>
            <a:r>
              <a:rPr sz="1800" b="1" spc="-3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and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assign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its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reference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object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or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file-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handle.</a:t>
            </a:r>
            <a:endParaRPr sz="1800">
              <a:latin typeface="Georgia"/>
              <a:cs typeface="Georgia"/>
            </a:endParaRPr>
          </a:p>
          <a:p>
            <a:pPr marL="437515" indent="-405765">
              <a:lnSpc>
                <a:spcPct val="100000"/>
              </a:lnSpc>
              <a:spcBef>
                <a:spcPts val="325"/>
              </a:spcBef>
              <a:buClr>
                <a:srgbClr val="233944"/>
              </a:buClr>
              <a:buFont typeface="Calibri"/>
              <a:buAutoNum type="arabicPeriod"/>
              <a:tabLst>
                <a:tab pos="437515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Process</a:t>
            </a:r>
            <a:r>
              <a:rPr sz="1800" b="1" spc="-7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the</a:t>
            </a:r>
            <a:r>
              <a:rPr sz="1800" b="1" spc="-6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file</a:t>
            </a:r>
            <a:r>
              <a:rPr sz="1800" b="1" spc="-4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as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required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Perform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desired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operation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from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9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>
              <a:latin typeface="Georgia"/>
              <a:cs typeface="Georgia"/>
            </a:endParaRPr>
          </a:p>
          <a:p>
            <a:pPr marL="437515" indent="-424815">
              <a:lnSpc>
                <a:spcPct val="100000"/>
              </a:lnSpc>
              <a:spcBef>
                <a:spcPts val="315"/>
              </a:spcBef>
              <a:buClr>
                <a:srgbClr val="233944"/>
              </a:buClr>
              <a:buSzPct val="111111"/>
              <a:buFont typeface="Calibri"/>
              <a:buAutoNum type="arabicPeriod"/>
              <a:tabLst>
                <a:tab pos="437515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Close</a:t>
            </a:r>
            <a:r>
              <a:rPr sz="1800" b="1" spc="-8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200" spc="-20" dirty="0">
                <a:solidFill>
                  <a:srgbClr val="233944"/>
                </a:solidFill>
                <a:latin typeface="Georgia"/>
                <a:cs typeface="Georgia"/>
              </a:rPr>
              <a:t>.</a:t>
            </a:r>
            <a:endParaRPr sz="1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3175" y="560109"/>
            <a:ext cx="4639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OPENING</a:t>
            </a:r>
            <a:r>
              <a:rPr sz="3000" u="none" spc="-30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A</a:t>
            </a:r>
            <a:r>
              <a:rPr sz="3000" u="none" spc="-20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TEXT</a:t>
            </a:r>
            <a:r>
              <a:rPr sz="3000" u="none" spc="-20" dirty="0">
                <a:solidFill>
                  <a:srgbClr val="1B4587"/>
                </a:solidFill>
              </a:rPr>
              <a:t> FILE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2724" y="1116581"/>
            <a:ext cx="7727315" cy="2980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key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function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working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with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files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Python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open()</a:t>
            </a:r>
            <a:r>
              <a:rPr sz="1800" b="1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function.</a:t>
            </a:r>
            <a:endParaRPr sz="1800" dirty="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It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accepts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two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parameters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filename,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and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mode.</a:t>
            </a:r>
            <a:endParaRPr sz="1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233944"/>
              </a:buClr>
              <a:buFont typeface="Arial"/>
              <a:buChar char="●"/>
            </a:pPr>
            <a:endParaRPr sz="1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65"/>
              </a:spcBef>
              <a:buClr>
                <a:srgbClr val="233944"/>
              </a:buClr>
              <a:buFont typeface="Arial"/>
              <a:buChar char="●"/>
            </a:pPr>
            <a:endParaRPr sz="1800" dirty="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5"/>
              </a:spcBef>
            </a:pPr>
            <a:r>
              <a:rPr sz="1800" b="1" u="heavy" spc="-1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Syntax:</a:t>
            </a:r>
            <a:endParaRPr sz="1800" dirty="0">
              <a:latin typeface="Georgia"/>
              <a:cs typeface="Georgia"/>
            </a:endParaRPr>
          </a:p>
          <a:p>
            <a:pPr marL="1293495">
              <a:lnSpc>
                <a:spcPct val="100000"/>
              </a:lnSpc>
              <a:spcBef>
                <a:spcPts val="1605"/>
              </a:spcBef>
            </a:pPr>
            <a:r>
              <a:rPr sz="1600" b="1" i="1" dirty="0">
                <a:solidFill>
                  <a:srgbClr val="BE9000"/>
                </a:solidFill>
                <a:latin typeface="Georgia"/>
                <a:cs typeface="Georgia"/>
              </a:rPr>
              <a:t>&lt;file_object_name&gt;</a:t>
            </a:r>
            <a:r>
              <a:rPr sz="1600" b="1" i="1" spc="-6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600" b="1" i="1" dirty="0">
                <a:solidFill>
                  <a:srgbClr val="BE9000"/>
                </a:solidFill>
                <a:latin typeface="Georgia"/>
                <a:cs typeface="Georgia"/>
              </a:rPr>
              <a:t>=</a:t>
            </a:r>
            <a:r>
              <a:rPr sz="1600" b="1" i="1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600" b="1" i="1" spc="-10" dirty="0">
                <a:solidFill>
                  <a:srgbClr val="BE9000"/>
                </a:solidFill>
                <a:latin typeface="Georgia"/>
                <a:cs typeface="Georgia"/>
              </a:rPr>
              <a:t>open(&lt;file_name&gt;,&lt;mode&gt;)</a:t>
            </a:r>
            <a:endParaRPr sz="1600" dirty="0">
              <a:latin typeface="Georgia"/>
              <a:cs typeface="Georgia"/>
            </a:endParaRPr>
          </a:p>
          <a:p>
            <a:pPr marL="1293495">
              <a:lnSpc>
                <a:spcPct val="100000"/>
              </a:lnSpc>
              <a:spcBef>
                <a:spcPts val="1595"/>
              </a:spcBef>
              <a:tabLst>
                <a:tab pos="2665095" algn="l"/>
              </a:tabLst>
            </a:pP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Example: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f</a:t>
            </a:r>
            <a:r>
              <a:rPr sz="1800" b="1" i="1" spc="-1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=</a:t>
            </a:r>
            <a:r>
              <a:rPr sz="1800" b="1" i="1" spc="-10" dirty="0">
                <a:solidFill>
                  <a:srgbClr val="233944"/>
                </a:solidFill>
                <a:latin typeface="Georgia"/>
                <a:cs typeface="Georgia"/>
              </a:rPr>
              <a:t> open(“demo.txt”,”r”)</a:t>
            </a:r>
            <a:endParaRPr sz="1800" dirty="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1600"/>
              </a:spcBef>
              <a:buFont typeface="Arial"/>
              <a:buChar char="●"/>
              <a:tabLst>
                <a:tab pos="379095" algn="l"/>
              </a:tabLst>
            </a:pPr>
            <a:endParaRPr sz="1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9425" y="255447"/>
            <a:ext cx="41598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u="heavy" spc="-20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Various</a:t>
            </a:r>
            <a:r>
              <a:rPr sz="1900" u="heavy" spc="-60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Modes</a:t>
            </a:r>
            <a:r>
              <a:rPr sz="1900" u="heavy" spc="-55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for</a:t>
            </a:r>
            <a:r>
              <a:rPr sz="1900" u="heavy" spc="-60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opening</a:t>
            </a:r>
            <a:r>
              <a:rPr sz="1900" u="heavy" spc="-55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a</a:t>
            </a:r>
            <a:r>
              <a:rPr sz="1900" u="heavy" spc="-60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text</a:t>
            </a:r>
            <a:r>
              <a:rPr sz="1900" u="heavy" spc="-55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file</a:t>
            </a:r>
            <a:r>
              <a:rPr sz="1900" u="heavy" spc="-60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spc="-20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are: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5950" y="313125"/>
            <a:ext cx="8452485" cy="4728210"/>
          </a:xfrm>
          <a:custGeom>
            <a:avLst/>
            <a:gdLst/>
            <a:ahLst/>
            <a:cxnLst/>
            <a:rect l="l" t="t" r="r" b="b"/>
            <a:pathLst>
              <a:path w="8452485" h="4728210">
                <a:moveTo>
                  <a:pt x="4749" y="0"/>
                </a:moveTo>
                <a:lnTo>
                  <a:pt x="4749" y="4727849"/>
                </a:lnTo>
              </a:path>
              <a:path w="8452485" h="4728210">
                <a:moveTo>
                  <a:pt x="1220149" y="0"/>
                </a:moveTo>
                <a:lnTo>
                  <a:pt x="1220149" y="4727849"/>
                </a:lnTo>
              </a:path>
              <a:path w="8452485" h="4728210">
                <a:moveTo>
                  <a:pt x="2784874" y="0"/>
                </a:moveTo>
                <a:lnTo>
                  <a:pt x="2784874" y="4727849"/>
                </a:lnTo>
              </a:path>
              <a:path w="8452485" h="4728210">
                <a:moveTo>
                  <a:pt x="8447349" y="0"/>
                </a:moveTo>
                <a:lnTo>
                  <a:pt x="8447349" y="4727849"/>
                </a:lnTo>
              </a:path>
              <a:path w="8452485" h="4728210">
                <a:moveTo>
                  <a:pt x="0" y="4749"/>
                </a:moveTo>
                <a:lnTo>
                  <a:pt x="8452099" y="4749"/>
                </a:lnTo>
              </a:path>
              <a:path w="8452485" h="4728210">
                <a:moveTo>
                  <a:pt x="0" y="456149"/>
                </a:moveTo>
                <a:lnTo>
                  <a:pt x="8452099" y="456149"/>
                </a:lnTo>
              </a:path>
              <a:path w="8452485" h="4728210">
                <a:moveTo>
                  <a:pt x="0" y="1126674"/>
                </a:moveTo>
                <a:lnTo>
                  <a:pt x="8452099" y="1126674"/>
                </a:lnTo>
              </a:path>
              <a:path w="8452485" h="4728210">
                <a:moveTo>
                  <a:pt x="0" y="1553349"/>
                </a:moveTo>
                <a:lnTo>
                  <a:pt x="8452099" y="1553349"/>
                </a:lnTo>
              </a:path>
              <a:path w="8452485" h="4728210">
                <a:moveTo>
                  <a:pt x="0" y="1980024"/>
                </a:moveTo>
                <a:lnTo>
                  <a:pt x="8452099" y="1980024"/>
                </a:lnTo>
              </a:path>
              <a:path w="8452485" h="4728210">
                <a:moveTo>
                  <a:pt x="0" y="2650549"/>
                </a:moveTo>
                <a:lnTo>
                  <a:pt x="8452099" y="2650549"/>
                </a:lnTo>
              </a:path>
              <a:path w="8452485" h="4728210">
                <a:moveTo>
                  <a:pt x="0" y="3808749"/>
                </a:moveTo>
                <a:lnTo>
                  <a:pt x="8452099" y="3808749"/>
                </a:lnTo>
              </a:path>
              <a:path w="8452485" h="4728210">
                <a:moveTo>
                  <a:pt x="0" y="4723099"/>
                </a:moveTo>
                <a:lnTo>
                  <a:pt x="8452099" y="4723099"/>
                </a:lnTo>
              </a:path>
            </a:pathLst>
          </a:custGeom>
          <a:ln w="9524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1737" y="382771"/>
            <a:ext cx="6134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1B4587"/>
                </a:solidFill>
                <a:latin typeface="Georgia"/>
                <a:cs typeface="Georgia"/>
              </a:rPr>
              <a:t>Mode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058" y="344671"/>
            <a:ext cx="13468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spc="-30" dirty="0">
                <a:solidFill>
                  <a:srgbClr val="1B4587"/>
                </a:solidFill>
                <a:latin typeface="Georgia"/>
                <a:cs typeface="Georgia"/>
              </a:rPr>
              <a:t>Descriptio</a:t>
            </a:r>
            <a:r>
              <a:rPr sz="1600" b="1" spc="-850" dirty="0">
                <a:solidFill>
                  <a:srgbClr val="1B4587"/>
                </a:solidFill>
                <a:latin typeface="Georgia"/>
                <a:cs typeface="Georgia"/>
              </a:rPr>
              <a:t>n</a:t>
            </a:r>
            <a:r>
              <a:rPr sz="2850" b="1" spc="-37" baseline="20467" dirty="0">
                <a:solidFill>
                  <a:srgbClr val="1B4587"/>
                </a:solidFill>
                <a:latin typeface="Arial"/>
                <a:cs typeface="Arial"/>
              </a:rPr>
              <a:t>●</a:t>
            </a:r>
            <a:endParaRPr sz="2850" baseline="204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0764" y="834171"/>
            <a:ext cx="2755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Georgia"/>
                <a:cs typeface="Georgia"/>
              </a:rPr>
              <a:t>“r”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5879" y="834171"/>
            <a:ext cx="4851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Georgia"/>
                <a:cs typeface="Georgia"/>
              </a:rPr>
              <a:t>Read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3849" y="834171"/>
            <a:ext cx="52743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Georgia"/>
                <a:cs typeface="Georgia"/>
              </a:rPr>
              <a:t>Default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value.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Opens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a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file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for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reading,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error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if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the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file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spc="-20" dirty="0">
                <a:latin typeface="Georgia"/>
                <a:cs typeface="Georgia"/>
              </a:rPr>
              <a:t>does </a:t>
            </a:r>
            <a:r>
              <a:rPr sz="1600" dirty="0">
                <a:latin typeface="Georgia"/>
                <a:cs typeface="Georgia"/>
              </a:rPr>
              <a:t>not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exist.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484" y="1504696"/>
            <a:ext cx="3422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Georgia"/>
                <a:cs typeface="Georgia"/>
              </a:rPr>
              <a:t>“w”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1130" y="1504696"/>
            <a:ext cx="5346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Georgia"/>
                <a:cs typeface="Georgia"/>
              </a:rPr>
              <a:t>Write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3849" y="1504696"/>
            <a:ext cx="51136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Georgia"/>
                <a:cs typeface="Georgia"/>
              </a:rPr>
              <a:t>Opens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a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file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for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writing,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creates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the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file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if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it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does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not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exist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1192" y="1931372"/>
            <a:ext cx="2946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Georgia"/>
                <a:cs typeface="Georgia"/>
              </a:rPr>
              <a:t>“a”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4118" y="1931372"/>
            <a:ext cx="7289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Georgia"/>
                <a:cs typeface="Georgia"/>
              </a:rPr>
              <a:t>Append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03849" y="1931372"/>
            <a:ext cx="54203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Georgia"/>
                <a:cs typeface="Georgia"/>
              </a:rPr>
              <a:t>Opens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a</a:t>
            </a:r>
            <a:r>
              <a:rPr sz="1600" spc="-3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file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for</a:t>
            </a:r>
            <a:r>
              <a:rPr sz="1600" spc="-30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appending,</a:t>
            </a:r>
            <a:r>
              <a:rPr sz="1600" spc="-3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creates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the</a:t>
            </a:r>
            <a:r>
              <a:rPr sz="1600" spc="-3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file</a:t>
            </a:r>
            <a:r>
              <a:rPr sz="1600" spc="-3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if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it</a:t>
            </a:r>
            <a:r>
              <a:rPr sz="1600" spc="-3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does</a:t>
            </a:r>
            <a:r>
              <a:rPr sz="1600" spc="-3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not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exist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5444" y="2358047"/>
            <a:ext cx="4064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Georgia"/>
                <a:cs typeface="Georgia"/>
              </a:rPr>
              <a:t>“r+”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11854" y="2358047"/>
            <a:ext cx="873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Georgia"/>
                <a:cs typeface="Georgia"/>
              </a:rPr>
              <a:t>Read</a:t>
            </a:r>
            <a:r>
              <a:rPr sz="1600" spc="-60" dirty="0">
                <a:latin typeface="Georgia"/>
                <a:cs typeface="Georgia"/>
              </a:rPr>
              <a:t> </a:t>
            </a:r>
            <a:r>
              <a:rPr sz="1600" spc="-25" dirty="0">
                <a:latin typeface="Georgia"/>
                <a:cs typeface="Georgia"/>
              </a:rPr>
              <a:t>and </a:t>
            </a:r>
            <a:r>
              <a:rPr sz="1600" spc="-10" dirty="0">
                <a:latin typeface="Georgia"/>
                <a:cs typeface="Georgia"/>
              </a:rPr>
              <a:t>Write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03849" y="2358047"/>
            <a:ext cx="51606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Georgia"/>
                <a:cs typeface="Georgia"/>
              </a:rPr>
              <a:t>File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must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exist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otherwise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error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is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raised.Both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reading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spc="-25" dirty="0">
                <a:latin typeface="Georgia"/>
                <a:cs typeface="Georgia"/>
              </a:rPr>
              <a:t>and </a:t>
            </a:r>
            <a:r>
              <a:rPr sz="1600" dirty="0">
                <a:latin typeface="Georgia"/>
                <a:cs typeface="Georgia"/>
              </a:rPr>
              <a:t>writing</a:t>
            </a:r>
            <a:r>
              <a:rPr sz="1600" spc="-55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operations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can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take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place.</a:t>
            </a:r>
            <a:endParaRPr sz="1600" dirty="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2165" y="3028571"/>
            <a:ext cx="4730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Georgia"/>
                <a:cs typeface="Georgia"/>
              </a:rPr>
              <a:t>“w+”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87105" y="3028571"/>
            <a:ext cx="9226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 marR="5080" indent="-21907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Georgia"/>
                <a:cs typeface="Georgia"/>
              </a:rPr>
              <a:t>Write</a:t>
            </a:r>
            <a:r>
              <a:rPr sz="1600" spc="-70" dirty="0">
                <a:latin typeface="Georgia"/>
                <a:cs typeface="Georgia"/>
              </a:rPr>
              <a:t> </a:t>
            </a:r>
            <a:r>
              <a:rPr sz="1600" spc="-25" dirty="0">
                <a:latin typeface="Georgia"/>
                <a:cs typeface="Georgia"/>
              </a:rPr>
              <a:t>and </a:t>
            </a:r>
            <a:r>
              <a:rPr sz="1600" spc="-20" dirty="0">
                <a:latin typeface="Georgia"/>
                <a:cs typeface="Georgia"/>
              </a:rPr>
              <a:t>Read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03849" y="3028571"/>
            <a:ext cx="5380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Georgia"/>
                <a:cs typeface="Georgia"/>
              </a:rPr>
              <a:t>File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is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created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if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it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does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not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exist.If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the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file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exists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past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data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spc="-25" dirty="0">
                <a:latin typeface="Georgia"/>
                <a:cs typeface="Georgia"/>
              </a:rPr>
              <a:t>is </a:t>
            </a:r>
            <a:r>
              <a:rPr sz="1600" dirty="0">
                <a:latin typeface="Georgia"/>
                <a:cs typeface="Georgia"/>
              </a:rPr>
              <a:t>lost</a:t>
            </a:r>
            <a:r>
              <a:rPr sz="1600" spc="-55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(truncated).Both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reading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and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writing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operations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spc="-25" dirty="0">
                <a:latin typeface="Georgia"/>
                <a:cs typeface="Georgia"/>
              </a:rPr>
              <a:t>can </a:t>
            </a:r>
            <a:r>
              <a:rPr sz="1600" dirty="0">
                <a:latin typeface="Georgia"/>
                <a:cs typeface="Georgia"/>
              </a:rPr>
              <a:t>take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place.</a:t>
            </a:r>
            <a:endParaRPr sz="1600" dirty="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5872" y="4186771"/>
            <a:ext cx="4254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Georgia"/>
                <a:cs typeface="Georgia"/>
              </a:rPr>
              <a:t>“a+”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5592" y="4186771"/>
            <a:ext cx="11658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Georgia"/>
                <a:cs typeface="Georgia"/>
              </a:rPr>
              <a:t>Append</a:t>
            </a:r>
            <a:r>
              <a:rPr sz="1600" spc="295" dirty="0">
                <a:latin typeface="Georgia"/>
                <a:cs typeface="Georgia"/>
              </a:rPr>
              <a:t> </a:t>
            </a:r>
            <a:r>
              <a:rPr sz="1600" spc="-25" dirty="0">
                <a:latin typeface="Georgia"/>
                <a:cs typeface="Georgia"/>
              </a:rPr>
              <a:t>and </a:t>
            </a:r>
            <a:r>
              <a:rPr sz="1600" spc="-20" dirty="0">
                <a:latin typeface="Georgia"/>
                <a:cs typeface="Georgia"/>
              </a:rPr>
              <a:t>Read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03849" y="4186771"/>
            <a:ext cx="5380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Georgia"/>
                <a:cs typeface="Georgia"/>
              </a:rPr>
              <a:t>File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is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created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if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it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does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not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exist.If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the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file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exists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past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data</a:t>
            </a:r>
            <a:r>
              <a:rPr sz="1600" spc="-50" dirty="0">
                <a:latin typeface="Georgia"/>
                <a:cs typeface="Georgia"/>
              </a:rPr>
              <a:t> </a:t>
            </a:r>
            <a:r>
              <a:rPr sz="1600" spc="-25" dirty="0">
                <a:latin typeface="Georgia"/>
                <a:cs typeface="Georgia"/>
              </a:rPr>
              <a:t>is </a:t>
            </a:r>
            <a:r>
              <a:rPr sz="1600" dirty="0">
                <a:latin typeface="Georgia"/>
                <a:cs typeface="Georgia"/>
              </a:rPr>
              <a:t>not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lost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.Both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reading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and</a:t>
            </a:r>
            <a:r>
              <a:rPr sz="1600" spc="-35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writing(appending)</a:t>
            </a:r>
            <a:r>
              <a:rPr sz="1600" spc="-40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operations </a:t>
            </a:r>
            <a:r>
              <a:rPr sz="1600" dirty="0">
                <a:latin typeface="Georgia"/>
                <a:cs typeface="Georgia"/>
              </a:rPr>
              <a:t>can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take</a:t>
            </a:r>
            <a:r>
              <a:rPr sz="1600" spc="-45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place.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8668" y="4646488"/>
            <a:ext cx="1778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33944"/>
                </a:solidFill>
                <a:latin typeface="Nunito"/>
                <a:cs typeface="Nunito"/>
              </a:rPr>
              <a:t>12</a:t>
            </a:r>
            <a:endParaRPr sz="1000">
              <a:latin typeface="Nunito"/>
              <a:cs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58735"/>
            <a:ext cx="33585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CLOSING</a:t>
            </a:r>
            <a:r>
              <a:rPr sz="3000" u="none" spc="-9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A</a:t>
            </a:r>
            <a:r>
              <a:rPr sz="3000" u="none" spc="-90" dirty="0">
                <a:solidFill>
                  <a:srgbClr val="1B4587"/>
                </a:solidFill>
              </a:rPr>
              <a:t> </a:t>
            </a:r>
            <a:r>
              <a:rPr sz="3000" u="none" spc="-20" dirty="0">
                <a:solidFill>
                  <a:srgbClr val="1B4587"/>
                </a:solidFill>
              </a:rPr>
              <a:t>FILE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349" y="896383"/>
            <a:ext cx="8524875" cy="22118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lr>
                <a:srgbClr val="233944"/>
              </a:buClr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close()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-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method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will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free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up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all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system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resources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used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by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file,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this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means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that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once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closed,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will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not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able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use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object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any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more.</a:t>
            </a:r>
            <a:endParaRPr sz="1800" dirty="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1920"/>
              </a:spcBef>
            </a:pPr>
            <a:r>
              <a:rPr sz="1800" b="1" u="heavy" spc="-10" dirty="0" smtClean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Syntax</a:t>
            </a:r>
            <a:r>
              <a:rPr sz="1800" b="1" u="heavy" spc="-1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:</a:t>
            </a:r>
            <a:endParaRPr sz="1800" dirty="0">
              <a:latin typeface="Georgia"/>
              <a:cs typeface="Georgia"/>
            </a:endParaRPr>
          </a:p>
          <a:p>
            <a:pPr marL="1293495">
              <a:lnSpc>
                <a:spcPct val="100000"/>
              </a:lnSpc>
              <a:spcBef>
                <a:spcPts val="1925"/>
              </a:spcBef>
            </a:pP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&lt;fileObject&gt;.close()</a:t>
            </a:r>
            <a:endParaRPr sz="1800" dirty="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1925"/>
              </a:spcBef>
              <a:tabLst>
                <a:tab pos="1808480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Example</a:t>
            </a:r>
            <a:r>
              <a:rPr sz="1800" spc="-10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</a:t>
            </a:r>
            <a:r>
              <a:rPr sz="1800" b="1" i="1" spc="-10" dirty="0" err="1">
                <a:solidFill>
                  <a:srgbClr val="233944"/>
                </a:solidFill>
                <a:latin typeface="Georgia"/>
                <a:cs typeface="Georgia"/>
              </a:rPr>
              <a:t>f.close</a:t>
            </a:r>
            <a:r>
              <a:rPr sz="1800" b="1" i="1" spc="-10" dirty="0" smtClean="0">
                <a:solidFill>
                  <a:srgbClr val="233944"/>
                </a:solidFill>
                <a:latin typeface="Georgia"/>
                <a:cs typeface="Georgia"/>
              </a:rPr>
              <a:t>()</a:t>
            </a:r>
            <a:endParaRPr sz="1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175" y="649435"/>
            <a:ext cx="4808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READING</a:t>
            </a:r>
            <a:r>
              <a:rPr sz="3000" u="none" spc="-5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FROM</a:t>
            </a:r>
            <a:r>
              <a:rPr sz="3000" u="none" spc="-50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A</a:t>
            </a:r>
            <a:r>
              <a:rPr sz="3000" u="none" spc="-55" dirty="0">
                <a:solidFill>
                  <a:srgbClr val="1B4587"/>
                </a:solidFill>
              </a:rPr>
              <a:t> </a:t>
            </a:r>
            <a:r>
              <a:rPr sz="3000" u="none" spc="-20" dirty="0">
                <a:solidFill>
                  <a:srgbClr val="1B4587"/>
                </a:solidFill>
              </a:rPr>
              <a:t>FILE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581" y="1421208"/>
            <a:ext cx="82988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884" marR="5080" indent="-457200">
              <a:lnSpc>
                <a:spcPct val="114999"/>
              </a:lnSpc>
              <a:spcBef>
                <a:spcPts val="100"/>
              </a:spcBef>
              <a:buFont typeface="MS PMincho"/>
              <a:buChar char="➔"/>
              <a:tabLst>
                <a:tab pos="476884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Program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reads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text/binary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from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hard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disk.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Here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acts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like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input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program.</a:t>
            </a:r>
            <a:endParaRPr sz="1800">
              <a:latin typeface="Georgia"/>
              <a:cs typeface="Georgia"/>
            </a:endParaRPr>
          </a:p>
          <a:p>
            <a:pPr marL="476884" indent="-464184">
              <a:lnSpc>
                <a:spcPct val="100000"/>
              </a:lnSpc>
              <a:spcBef>
                <a:spcPts val="325"/>
              </a:spcBef>
              <a:buFont typeface="MS PMincho"/>
              <a:buChar char="➔"/>
              <a:tabLst>
                <a:tab pos="476884" algn="l"/>
              </a:tabLst>
            </a:pPr>
            <a:r>
              <a:rPr sz="1800" b="1" u="heavy" spc="-1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Followings</a:t>
            </a:r>
            <a:r>
              <a:rPr sz="1800" b="1" u="heavy" spc="-35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are</a:t>
            </a:r>
            <a:r>
              <a:rPr sz="1800" b="1" u="heavy" spc="-3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the</a:t>
            </a:r>
            <a:r>
              <a:rPr sz="1800" b="1" u="heavy" spc="-3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methods</a:t>
            </a:r>
            <a:r>
              <a:rPr sz="1800" b="1" u="heavy" spc="-35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to</a:t>
            </a:r>
            <a:r>
              <a:rPr sz="1800" b="1" u="heavy" spc="-3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read</a:t>
            </a:r>
            <a:r>
              <a:rPr sz="1800" b="1" u="heavy" spc="-3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a</a:t>
            </a:r>
            <a:r>
              <a:rPr sz="1800" b="1" u="heavy" spc="-35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data</a:t>
            </a:r>
            <a:r>
              <a:rPr sz="1800" b="1" u="heavy" spc="-3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from</a:t>
            </a:r>
            <a:r>
              <a:rPr sz="1800" b="1" u="heavy" spc="-3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the</a:t>
            </a:r>
            <a:r>
              <a:rPr sz="1800" b="1" u="heavy" spc="-3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spc="-1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file</a:t>
            </a:r>
            <a:r>
              <a:rPr sz="1800" b="1" u="none" spc="-10" dirty="0">
                <a:solidFill>
                  <a:srgbClr val="BE9000"/>
                </a:solidFill>
                <a:latin typeface="Georgia"/>
                <a:cs typeface="Georgia"/>
              </a:rPr>
              <a:t>:</a:t>
            </a:r>
            <a:endParaRPr sz="1800">
              <a:latin typeface="Georgia"/>
              <a:cs typeface="Georgia"/>
            </a:endParaRPr>
          </a:p>
          <a:p>
            <a:pPr marL="934085" lvl="1" indent="-457200">
              <a:lnSpc>
                <a:spcPct val="100000"/>
              </a:lnSpc>
              <a:spcBef>
                <a:spcPts val="320"/>
              </a:spcBef>
              <a:buFont typeface="MS PMincho"/>
              <a:buChar char="◆"/>
              <a:tabLst>
                <a:tab pos="93408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read()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METHOD</a:t>
            </a:r>
            <a:endParaRPr sz="1800">
              <a:latin typeface="Georgia"/>
              <a:cs typeface="Georgia"/>
            </a:endParaRPr>
          </a:p>
          <a:p>
            <a:pPr marL="934085" lvl="1" indent="-457200">
              <a:lnSpc>
                <a:spcPct val="100000"/>
              </a:lnSpc>
              <a:spcBef>
                <a:spcPts val="325"/>
              </a:spcBef>
              <a:buFont typeface="MS PMincho"/>
              <a:buChar char="◆"/>
              <a:tabLst>
                <a:tab pos="93408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readline()</a:t>
            </a:r>
            <a:r>
              <a:rPr sz="1800" spc="-8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METHOD</a:t>
            </a:r>
            <a:endParaRPr sz="1800">
              <a:latin typeface="Georgia"/>
              <a:cs typeface="Georgia"/>
            </a:endParaRPr>
          </a:p>
          <a:p>
            <a:pPr marL="934085" lvl="1" indent="-457200">
              <a:lnSpc>
                <a:spcPct val="100000"/>
              </a:lnSpc>
              <a:spcBef>
                <a:spcPts val="325"/>
              </a:spcBef>
              <a:buFont typeface="MS PMincho"/>
              <a:buChar char="◆"/>
              <a:tabLst>
                <a:tab pos="93408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readlines()</a:t>
            </a:r>
            <a:r>
              <a:rPr sz="1800" spc="-9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METHOD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31609"/>
            <a:ext cx="32575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read()</a:t>
            </a:r>
            <a:r>
              <a:rPr sz="3000" u="none" spc="-35" dirty="0">
                <a:solidFill>
                  <a:srgbClr val="1B4587"/>
                </a:solidFill>
              </a:rPr>
              <a:t> </a:t>
            </a:r>
            <a:r>
              <a:rPr sz="3000" u="none" spc="-10" dirty="0">
                <a:solidFill>
                  <a:srgbClr val="1B4587"/>
                </a:solidFill>
              </a:rPr>
              <a:t>METHOD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22199" y="772858"/>
            <a:ext cx="8067040" cy="352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By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default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read()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method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returns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whole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text,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but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you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can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also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specify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how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many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characters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you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want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return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by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passing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size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argument.</a:t>
            </a:r>
            <a:endParaRPr sz="1800">
              <a:latin typeface="Georgia"/>
              <a:cs typeface="Georgia"/>
            </a:endParaRPr>
          </a:p>
          <a:p>
            <a:pPr marR="3556000" algn="r">
              <a:lnSpc>
                <a:spcPct val="100000"/>
              </a:lnSpc>
              <a:spcBef>
                <a:spcPts val="1920"/>
              </a:spcBef>
              <a:tabLst>
                <a:tab pos="1370965" algn="l"/>
              </a:tabLst>
            </a:pPr>
            <a:r>
              <a:rPr sz="1800" b="1" u="heavy" spc="-1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Syntax:</a:t>
            </a:r>
            <a:r>
              <a:rPr sz="1800" b="1" u="none" dirty="0">
                <a:solidFill>
                  <a:srgbClr val="BE9000"/>
                </a:solidFill>
                <a:latin typeface="Georgia"/>
                <a:cs typeface="Georgia"/>
              </a:rPr>
              <a:t>	</a:t>
            </a:r>
            <a:r>
              <a:rPr sz="1800" b="1" u="none" spc="-10" dirty="0">
                <a:solidFill>
                  <a:srgbClr val="BE9000"/>
                </a:solidFill>
                <a:latin typeface="Georgia"/>
                <a:cs typeface="Georgia"/>
              </a:rPr>
              <a:t>&lt;file_object&gt;.read([n])</a:t>
            </a:r>
            <a:endParaRPr sz="1800">
              <a:latin typeface="Georgia"/>
              <a:cs typeface="Georgia"/>
            </a:endParaRPr>
          </a:p>
          <a:p>
            <a:pPr marR="3557270" algn="r">
              <a:lnSpc>
                <a:spcPct val="100000"/>
              </a:lnSpc>
              <a:spcBef>
                <a:spcPts val="1925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where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n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size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19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entire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&lt;file_object&gt;.read()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reads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only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part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&lt;file_object&gt;.read(size)</a:t>
            </a:r>
            <a:endParaRPr sz="1800">
              <a:latin typeface="Georgia"/>
              <a:cs typeface="Georgia"/>
            </a:endParaRPr>
          </a:p>
          <a:p>
            <a:pPr marL="1293495" marR="3843654">
              <a:lnSpc>
                <a:spcPct val="174100"/>
              </a:lnSpc>
              <a:spcBef>
                <a:spcPts val="325"/>
              </a:spcBef>
            </a:pP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f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=</a:t>
            </a:r>
            <a:r>
              <a:rPr sz="1800" b="1" i="1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open("demo.txt",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spc="-20" dirty="0">
                <a:solidFill>
                  <a:srgbClr val="233944"/>
                </a:solidFill>
                <a:latin typeface="Georgia"/>
                <a:cs typeface="Georgia"/>
              </a:rPr>
              <a:t>"r") </a:t>
            </a:r>
            <a:r>
              <a:rPr sz="1800" b="1" i="1" spc="-10" dirty="0">
                <a:solidFill>
                  <a:srgbClr val="233944"/>
                </a:solidFill>
                <a:latin typeface="Georgia"/>
                <a:cs typeface="Georgia"/>
              </a:rPr>
              <a:t>print(f.read(15))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3275" y="4474654"/>
            <a:ext cx="6212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Returns</a:t>
            </a:r>
            <a:r>
              <a:rPr sz="1800" b="1" i="1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15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first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characters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b="1" i="1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33944"/>
                </a:solidFill>
                <a:latin typeface="Georgia"/>
                <a:cs typeface="Georgia"/>
              </a:rPr>
              <a:t>"demo.txt".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8668" y="4646488"/>
            <a:ext cx="1778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33944"/>
                </a:solidFill>
                <a:latin typeface="Nunito"/>
                <a:cs typeface="Nunito"/>
              </a:rPr>
              <a:t>15</a:t>
            </a:r>
            <a:endParaRPr sz="1000">
              <a:latin typeface="Nunito"/>
              <a:cs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5561928" y="2556827"/>
            <a:ext cx="3177540" cy="2315845"/>
            <a:chOff x="5785465" y="284847"/>
            <a:chExt cx="3177540" cy="23158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4040" y="313422"/>
              <a:ext cx="3120334" cy="22583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99752" y="299134"/>
              <a:ext cx="3148965" cy="2287270"/>
            </a:xfrm>
            <a:custGeom>
              <a:avLst/>
              <a:gdLst/>
              <a:ahLst/>
              <a:cxnLst/>
              <a:rect l="l" t="t" r="r" b="b"/>
              <a:pathLst>
                <a:path w="3148965" h="2287270">
                  <a:moveTo>
                    <a:pt x="0" y="0"/>
                  </a:moveTo>
                  <a:lnTo>
                    <a:pt x="3148909" y="0"/>
                  </a:lnTo>
                  <a:lnTo>
                    <a:pt x="3148909" y="2286899"/>
                  </a:lnTo>
                  <a:lnTo>
                    <a:pt x="0" y="2286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88668" y="4646488"/>
            <a:ext cx="1778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33944"/>
                </a:solidFill>
                <a:latin typeface="Nunito"/>
                <a:cs typeface="Nunito"/>
              </a:rPr>
              <a:t>16</a:t>
            </a:r>
            <a:endParaRPr sz="1000">
              <a:latin typeface="Nunito"/>
              <a:cs typeface="Nuni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799" y="57150"/>
            <a:ext cx="792480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solidFill>
                  <a:srgbClr val="FF0000"/>
                </a:solidFill>
              </a:rPr>
              <a:t># Read from a text file</a:t>
            </a:r>
          </a:p>
          <a:p>
            <a:r>
              <a:rPr lang="en-US" sz="2500" dirty="0" smtClean="0"/>
              <a:t>f = open(</a:t>
            </a:r>
            <a:r>
              <a:rPr lang="en-US" sz="2500" dirty="0" err="1" smtClean="0"/>
              <a:t>r"C</a:t>
            </a:r>
            <a:r>
              <a:rPr lang="en-US" sz="2500" dirty="0" smtClean="0"/>
              <a:t>:\Users\PalikaC\Desktop\p1.txt", "r")</a:t>
            </a:r>
          </a:p>
          <a:p>
            <a:r>
              <a:rPr lang="en-US" sz="2500" dirty="0" smtClean="0"/>
              <a:t>data = </a:t>
            </a:r>
            <a:r>
              <a:rPr lang="en-US" sz="2500" dirty="0" err="1" smtClean="0"/>
              <a:t>f.read</a:t>
            </a:r>
            <a:r>
              <a:rPr lang="en-US" sz="2500" dirty="0" smtClean="0"/>
              <a:t>()</a:t>
            </a:r>
          </a:p>
          <a:p>
            <a:r>
              <a:rPr lang="en-US" sz="2500" dirty="0" smtClean="0"/>
              <a:t>print(data, end="")</a:t>
            </a:r>
          </a:p>
          <a:p>
            <a:r>
              <a:rPr lang="en-US" sz="2500" dirty="0" err="1" smtClean="0"/>
              <a:t>f.close</a:t>
            </a:r>
            <a:r>
              <a:rPr lang="en-US" sz="2500" dirty="0" smtClean="0"/>
              <a:t>()</a:t>
            </a:r>
            <a:endParaRPr lang="en-IN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800" y="255659"/>
            <a:ext cx="40030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readline()</a:t>
            </a:r>
            <a:r>
              <a:rPr sz="3000" u="none" spc="-220" dirty="0">
                <a:solidFill>
                  <a:srgbClr val="1B4587"/>
                </a:solidFill>
              </a:rPr>
              <a:t> </a:t>
            </a:r>
            <a:r>
              <a:rPr sz="3000" u="none" spc="-10" dirty="0">
                <a:solidFill>
                  <a:srgbClr val="1B4587"/>
                </a:solidFill>
              </a:rPr>
              <a:t>METHOD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121400" cy="289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readline()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will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return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line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read,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as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string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from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1925"/>
              </a:spcBef>
            </a:pPr>
            <a:r>
              <a:rPr sz="1800" b="1" u="heavy" spc="-1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Syntax:</a:t>
            </a:r>
            <a:endParaRPr sz="1800">
              <a:latin typeface="Georgia"/>
              <a:cs typeface="Georgia"/>
            </a:endParaRPr>
          </a:p>
          <a:p>
            <a:pPr marL="1293495">
              <a:lnSpc>
                <a:spcPct val="100000"/>
              </a:lnSpc>
              <a:spcBef>
                <a:spcPts val="1920"/>
              </a:spcBef>
            </a:pP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&lt;file_object&gt;.readline()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19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Example</a:t>
            </a:r>
            <a:endParaRPr sz="1800">
              <a:latin typeface="Georgia"/>
              <a:cs typeface="Georgia"/>
            </a:endParaRPr>
          </a:p>
          <a:p>
            <a:pPr marL="1293495" marR="1898014">
              <a:lnSpc>
                <a:spcPct val="189100"/>
              </a:lnSpc>
            </a:pP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f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=</a:t>
            </a:r>
            <a:r>
              <a:rPr sz="1800" b="1" i="1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open("demo.txt",</a:t>
            </a:r>
            <a:r>
              <a:rPr sz="1800" b="1" i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spc="-20" dirty="0">
                <a:solidFill>
                  <a:srgbClr val="233944"/>
                </a:solidFill>
                <a:latin typeface="Georgia"/>
                <a:cs typeface="Georgia"/>
              </a:rPr>
              <a:t>"r") </a:t>
            </a:r>
            <a:r>
              <a:rPr sz="1800" b="1" i="1" spc="-10" dirty="0">
                <a:solidFill>
                  <a:srgbClr val="233944"/>
                </a:solidFill>
                <a:latin typeface="Georgia"/>
                <a:cs typeface="Georgia"/>
              </a:rPr>
              <a:t>print(f.readline())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4287216"/>
            <a:ext cx="726440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This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example</a:t>
            </a:r>
            <a:r>
              <a:rPr sz="1800" spc="3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program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will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return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first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line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“demo.txt” irrespective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number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lines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text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8668" y="4646488"/>
            <a:ext cx="1778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33944"/>
                </a:solidFill>
                <a:latin typeface="Nunito"/>
                <a:cs typeface="Nunito"/>
              </a:rPr>
              <a:t>17</a:t>
            </a:r>
            <a:endParaRPr sz="1000">
              <a:latin typeface="Nunito"/>
              <a:cs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71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200" u="none" dirty="0">
                <a:solidFill>
                  <a:srgbClr val="1B4587"/>
                </a:solidFill>
              </a:rPr>
              <a:t>Reading</a:t>
            </a:r>
            <a:r>
              <a:rPr sz="2200" u="none" spc="-60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a</a:t>
            </a:r>
            <a:r>
              <a:rPr sz="2200" u="none" spc="-55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complete</a:t>
            </a:r>
            <a:r>
              <a:rPr sz="2200" u="none" spc="-60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file</a:t>
            </a:r>
            <a:r>
              <a:rPr sz="2200" u="none" spc="-55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line</a:t>
            </a:r>
            <a:r>
              <a:rPr sz="2200" u="none" spc="-60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by</a:t>
            </a:r>
            <a:r>
              <a:rPr sz="2200" u="none" spc="-55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line</a:t>
            </a:r>
            <a:r>
              <a:rPr sz="2200" u="none" spc="-60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using</a:t>
            </a:r>
            <a:r>
              <a:rPr sz="2200" u="none" spc="-55" dirty="0">
                <a:solidFill>
                  <a:srgbClr val="1B4587"/>
                </a:solidFill>
              </a:rPr>
              <a:t> </a:t>
            </a:r>
            <a:r>
              <a:rPr sz="2200" u="none" spc="-315" dirty="0">
                <a:solidFill>
                  <a:srgbClr val="1B4587"/>
                </a:solidFill>
              </a:rPr>
              <a:t>readline().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895350"/>
            <a:ext cx="7391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rgbClr val="FF0000"/>
                </a:solidFill>
              </a:rPr>
              <a:t># Read entire text using </a:t>
            </a:r>
            <a:r>
              <a:rPr lang="en-US" sz="2600" dirty="0" err="1" smtClean="0">
                <a:solidFill>
                  <a:srgbClr val="FF0000"/>
                </a:solidFill>
              </a:rPr>
              <a:t>readline</a:t>
            </a:r>
            <a:r>
              <a:rPr lang="en-US" sz="2600" dirty="0" smtClean="0">
                <a:solidFill>
                  <a:srgbClr val="FF0000"/>
                </a:solidFill>
              </a:rPr>
              <a:t>()</a:t>
            </a:r>
          </a:p>
          <a:p>
            <a:r>
              <a:rPr lang="en-US" sz="2600" dirty="0" smtClean="0"/>
              <a:t>f = open(</a:t>
            </a:r>
            <a:r>
              <a:rPr lang="en-US" sz="2600" dirty="0" err="1" smtClean="0"/>
              <a:t>r"C</a:t>
            </a:r>
            <a:r>
              <a:rPr lang="en-US" sz="2600" dirty="0" smtClean="0"/>
              <a:t>:\Users\PalikaC\Desktop\p1.txt", "r")</a:t>
            </a:r>
          </a:p>
          <a:p>
            <a:r>
              <a:rPr lang="en-US" sz="2600" dirty="0" smtClean="0"/>
              <a:t>line = </a:t>
            </a:r>
            <a:r>
              <a:rPr lang="en-US" sz="2600" dirty="0" err="1" smtClean="0"/>
              <a:t>f.readline</a:t>
            </a:r>
            <a:r>
              <a:rPr lang="en-US" sz="2600" dirty="0" smtClean="0"/>
              <a:t>()</a:t>
            </a:r>
          </a:p>
          <a:p>
            <a:r>
              <a:rPr lang="en-US" sz="2600" dirty="0" smtClean="0"/>
              <a:t>while line != "":    </a:t>
            </a:r>
          </a:p>
          <a:p>
            <a:r>
              <a:rPr lang="en-US" sz="2600" dirty="0"/>
              <a:t>	</a:t>
            </a:r>
            <a:r>
              <a:rPr lang="en-US" sz="2600" dirty="0" smtClean="0"/>
              <a:t>print(line, end="")    </a:t>
            </a:r>
          </a:p>
          <a:p>
            <a:r>
              <a:rPr lang="en-US" sz="2600" dirty="0" smtClean="0"/>
              <a:t>	line = </a:t>
            </a:r>
            <a:r>
              <a:rPr lang="en-US" sz="2600" dirty="0" err="1" smtClean="0"/>
              <a:t>f.readline</a:t>
            </a:r>
            <a:r>
              <a:rPr lang="en-US" sz="2600" dirty="0" smtClean="0"/>
              <a:t>()</a:t>
            </a:r>
          </a:p>
          <a:p>
            <a:r>
              <a:rPr lang="en-US" sz="2600" dirty="0" err="1" smtClean="0"/>
              <a:t>f.close</a:t>
            </a:r>
            <a:r>
              <a:rPr lang="en-US" sz="2600" dirty="0" smtClean="0"/>
              <a:t>()</a:t>
            </a:r>
            <a:endParaRPr lang="en-IN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7735"/>
            <a:ext cx="41979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spc="-10" dirty="0">
                <a:solidFill>
                  <a:srgbClr val="1B4587"/>
                </a:solidFill>
              </a:rPr>
              <a:t>readlines()</a:t>
            </a:r>
            <a:r>
              <a:rPr sz="3000" u="none" spc="-140" dirty="0">
                <a:solidFill>
                  <a:srgbClr val="1B4587"/>
                </a:solidFill>
              </a:rPr>
              <a:t> </a:t>
            </a:r>
            <a:r>
              <a:rPr sz="3000" u="none" spc="-10" dirty="0">
                <a:solidFill>
                  <a:srgbClr val="1B4587"/>
                </a:solidFill>
              </a:rPr>
              <a:t>METHOD</a:t>
            </a:r>
            <a:endParaRPr sz="30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572375" cy="248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readlines()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method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will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return</a:t>
            </a:r>
            <a:r>
              <a:rPr sz="1800" b="1" spc="-5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a</a:t>
            </a:r>
            <a:r>
              <a:rPr sz="1800" b="1" spc="-5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list</a:t>
            </a:r>
            <a:r>
              <a:rPr sz="1800" b="1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of</a:t>
            </a:r>
            <a:r>
              <a:rPr sz="1800" b="1" spc="-5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strings</a:t>
            </a:r>
            <a:r>
              <a:rPr sz="1800" dirty="0">
                <a:solidFill>
                  <a:srgbClr val="BE9000"/>
                </a:solidFill>
                <a:latin typeface="Georgia"/>
                <a:cs typeface="Georgia"/>
              </a:rPr>
              <a:t>,</a:t>
            </a:r>
            <a:r>
              <a:rPr sz="1800" spc="-4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each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separated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by</a:t>
            </a:r>
            <a:r>
              <a:rPr sz="1800" spc="50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980" dirty="0">
                <a:solidFill>
                  <a:srgbClr val="233944"/>
                </a:solidFill>
                <a:latin typeface="Georgia"/>
                <a:cs typeface="Georgia"/>
              </a:rPr>
              <a:t>\n</a:t>
            </a:r>
            <a:endParaRPr sz="1800">
              <a:latin typeface="Georgia"/>
              <a:cs typeface="Georgia"/>
            </a:endParaRPr>
          </a:p>
          <a:p>
            <a:pPr marL="434340" indent="-421640">
              <a:lnSpc>
                <a:spcPct val="100000"/>
              </a:lnSpc>
              <a:buFont typeface="Arial"/>
              <a:buChar char="●"/>
              <a:tabLst>
                <a:tab pos="434340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readlines()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can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used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entire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content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1600"/>
              </a:spcBef>
            </a:pPr>
            <a:r>
              <a:rPr sz="1800" spc="-50" dirty="0">
                <a:solidFill>
                  <a:srgbClr val="00FF00"/>
                </a:solidFill>
                <a:latin typeface="Georgia"/>
                <a:cs typeface="Georgia"/>
              </a:rPr>
              <a:t>.</a:t>
            </a:r>
            <a:endParaRPr sz="180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1600"/>
              </a:spcBef>
            </a:pPr>
            <a:r>
              <a:rPr sz="1800" b="1" u="heavy" spc="-1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Syntax:</a:t>
            </a:r>
            <a:endParaRPr sz="1800">
              <a:latin typeface="Georgia"/>
              <a:cs typeface="Georgia"/>
            </a:endParaRPr>
          </a:p>
          <a:p>
            <a:pPr marL="1293495">
              <a:lnSpc>
                <a:spcPct val="100000"/>
              </a:lnSpc>
              <a:spcBef>
                <a:spcPts val="1600"/>
              </a:spcBef>
            </a:pP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&lt;file_object&gt;.readlines()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16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It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returns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list,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which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can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then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used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manipulation.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3878276"/>
            <a:ext cx="10394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Example</a:t>
            </a:r>
            <a:r>
              <a:rPr sz="1800" spc="-10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3525" y="3878276"/>
            <a:ext cx="3326129" cy="77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f</a:t>
            </a:r>
            <a:r>
              <a:rPr sz="1800" b="1" i="1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=</a:t>
            </a:r>
            <a:r>
              <a:rPr sz="1800" b="1" i="1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33944"/>
                </a:solidFill>
                <a:latin typeface="Georgia"/>
                <a:cs typeface="Georgia"/>
              </a:rPr>
              <a:t>open("demofile.txt",</a:t>
            </a:r>
            <a:r>
              <a:rPr sz="1800" b="1" i="1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i="1" spc="-20" dirty="0">
                <a:solidFill>
                  <a:srgbClr val="233944"/>
                </a:solidFill>
                <a:latin typeface="Georgia"/>
                <a:cs typeface="Georgia"/>
              </a:rPr>
              <a:t>"r")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b="1" i="1" spc="-10" dirty="0">
                <a:solidFill>
                  <a:srgbClr val="233944"/>
                </a:solidFill>
                <a:latin typeface="Georgia"/>
                <a:cs typeface="Georgia"/>
              </a:rPr>
              <a:t>print(f.readlines())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1350" y="149223"/>
            <a:ext cx="41287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u="none" dirty="0">
                <a:solidFill>
                  <a:srgbClr val="1B4587"/>
                </a:solidFill>
              </a:rPr>
              <a:t>Read</a:t>
            </a:r>
            <a:r>
              <a:rPr sz="2200" u="none" spc="-50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a</a:t>
            </a:r>
            <a:r>
              <a:rPr sz="2200" u="none" spc="-45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file</a:t>
            </a:r>
            <a:r>
              <a:rPr sz="2200" u="none" spc="-45" dirty="0">
                <a:solidFill>
                  <a:srgbClr val="1B4587"/>
                </a:solidFill>
              </a:rPr>
              <a:t> </a:t>
            </a:r>
            <a:r>
              <a:rPr sz="2200" u="none" dirty="0">
                <a:solidFill>
                  <a:srgbClr val="1B4587"/>
                </a:solidFill>
              </a:rPr>
              <a:t>using</a:t>
            </a:r>
            <a:r>
              <a:rPr sz="2200" u="none" spc="-45" dirty="0">
                <a:solidFill>
                  <a:srgbClr val="1B4587"/>
                </a:solidFill>
              </a:rPr>
              <a:t> </a:t>
            </a:r>
            <a:r>
              <a:rPr sz="2200" u="none" spc="-90" dirty="0">
                <a:solidFill>
                  <a:srgbClr val="1B4587"/>
                </a:solidFill>
              </a:rPr>
              <a:t>Readlines()</a:t>
            </a:r>
            <a:endParaRPr sz="22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047750"/>
            <a:ext cx="76962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rgbClr val="FF0000"/>
                </a:solidFill>
              </a:rPr>
              <a:t># Read a file using </a:t>
            </a:r>
            <a:r>
              <a:rPr lang="en-US" sz="2600" dirty="0" err="1" smtClean="0">
                <a:solidFill>
                  <a:srgbClr val="FF0000"/>
                </a:solidFill>
              </a:rPr>
              <a:t>readlines</a:t>
            </a:r>
            <a:r>
              <a:rPr lang="en-US" sz="2600" dirty="0" smtClean="0">
                <a:solidFill>
                  <a:srgbClr val="FF0000"/>
                </a:solidFill>
              </a:rPr>
              <a:t>()</a:t>
            </a:r>
          </a:p>
          <a:p>
            <a:r>
              <a:rPr lang="en-US" sz="2600" dirty="0" smtClean="0"/>
              <a:t>f = open(</a:t>
            </a:r>
            <a:r>
              <a:rPr lang="en-US" sz="2600" dirty="0" err="1" smtClean="0"/>
              <a:t>r"C</a:t>
            </a:r>
            <a:r>
              <a:rPr lang="en-US" sz="2600" dirty="0" smtClean="0"/>
              <a:t>:\Users\PalikaC\Desktop\p1.txt", "r")</a:t>
            </a:r>
          </a:p>
          <a:p>
            <a:r>
              <a:rPr lang="en-US" sz="2600" dirty="0" smtClean="0"/>
              <a:t>lines = </a:t>
            </a:r>
            <a:r>
              <a:rPr lang="en-US" sz="2600" dirty="0" err="1" smtClean="0"/>
              <a:t>f.readlines</a:t>
            </a:r>
            <a:r>
              <a:rPr lang="en-US" sz="2600" dirty="0" smtClean="0"/>
              <a:t>()print(lines)</a:t>
            </a:r>
          </a:p>
          <a:p>
            <a:r>
              <a:rPr lang="en-US" sz="2600" dirty="0" err="1" smtClean="0"/>
              <a:t>f.close</a:t>
            </a:r>
            <a:r>
              <a:rPr lang="en-US" sz="2600" dirty="0" smtClean="0"/>
              <a:t>()</a:t>
            </a:r>
            <a:endParaRPr lang="en-IN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14350"/>
            <a:ext cx="7594783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59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95785"/>
            <a:ext cx="6730649" cy="45442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975" y="413510"/>
            <a:ext cx="5297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WRITING</a:t>
            </a:r>
            <a:r>
              <a:rPr sz="3000" u="none" spc="-30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TO</a:t>
            </a:r>
            <a:r>
              <a:rPr sz="3000" u="none" spc="-30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A</a:t>
            </a:r>
            <a:r>
              <a:rPr sz="3000" u="none" spc="-30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TEXT</a:t>
            </a:r>
            <a:r>
              <a:rPr sz="3000" u="none" spc="-25" dirty="0">
                <a:solidFill>
                  <a:srgbClr val="1B4587"/>
                </a:solidFill>
              </a:rPr>
              <a:t> </a:t>
            </a:r>
            <a:r>
              <a:rPr sz="3000" u="none" spc="-20" dirty="0">
                <a:solidFill>
                  <a:srgbClr val="1B4587"/>
                </a:solidFill>
              </a:rPr>
              <a:t>FILE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22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7123430" cy="29559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Program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into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text/binary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hard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disk.</a:t>
            </a:r>
            <a:endParaRPr sz="1800" dirty="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Followings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are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methods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 dirty="0">
              <a:latin typeface="Georgia"/>
              <a:cs typeface="Georgia"/>
            </a:endParaRPr>
          </a:p>
          <a:p>
            <a:pPr marL="836294" lvl="1" indent="-366395">
              <a:lnSpc>
                <a:spcPct val="100000"/>
              </a:lnSpc>
              <a:spcBef>
                <a:spcPts val="325"/>
              </a:spcBef>
              <a:buFont typeface="Arial"/>
              <a:buChar char="○"/>
              <a:tabLst>
                <a:tab pos="836294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write</a:t>
            </a:r>
            <a:r>
              <a:rPr sz="1800" b="1" spc="-2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()</a:t>
            </a:r>
            <a:r>
              <a:rPr sz="1800" b="1" spc="-1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METHOD</a:t>
            </a:r>
            <a:endParaRPr sz="1800" dirty="0">
              <a:latin typeface="Georgia"/>
              <a:cs typeface="Georgia"/>
            </a:endParaRPr>
          </a:p>
          <a:p>
            <a:pPr marL="836294" lvl="1" indent="-366395">
              <a:lnSpc>
                <a:spcPct val="100000"/>
              </a:lnSpc>
              <a:spcBef>
                <a:spcPts val="325"/>
              </a:spcBef>
              <a:buFont typeface="Arial"/>
              <a:buChar char="○"/>
              <a:tabLst>
                <a:tab pos="836294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writelines()</a:t>
            </a:r>
            <a:r>
              <a:rPr sz="1800" b="1" spc="-6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METHOD</a:t>
            </a:r>
            <a:endParaRPr sz="1800" dirty="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an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existing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file,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you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must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add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parameter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open()</a:t>
            </a:r>
            <a:endParaRPr sz="1800" dirty="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1925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Function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which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specifies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mode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endParaRPr sz="1800" dirty="0">
              <a:latin typeface="Georgia"/>
              <a:cs typeface="Georgia"/>
            </a:endParaRPr>
          </a:p>
          <a:p>
            <a:pPr marL="836294" lvl="1" indent="-366395">
              <a:lnSpc>
                <a:spcPct val="100000"/>
              </a:lnSpc>
              <a:spcBef>
                <a:spcPts val="1920"/>
              </a:spcBef>
              <a:buClr>
                <a:srgbClr val="233944"/>
              </a:buClr>
              <a:buFont typeface="Arial"/>
              <a:buChar char="○"/>
              <a:tabLst>
                <a:tab pos="836294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"a"</a:t>
            </a:r>
            <a:r>
              <a:rPr sz="1800" b="1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-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Append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-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will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append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end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endParaRPr sz="1800" dirty="0">
              <a:latin typeface="Georgia"/>
              <a:cs typeface="Georgia"/>
            </a:endParaRPr>
          </a:p>
          <a:p>
            <a:pPr marL="836294" lvl="1" indent="-366395">
              <a:lnSpc>
                <a:spcPct val="100000"/>
              </a:lnSpc>
              <a:spcBef>
                <a:spcPts val="325"/>
              </a:spcBef>
              <a:buClr>
                <a:srgbClr val="233944"/>
              </a:buClr>
              <a:buFont typeface="Arial"/>
              <a:buChar char="○"/>
              <a:tabLst>
                <a:tab pos="836294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"w"</a:t>
            </a:r>
            <a:r>
              <a:rPr sz="1800" b="1" spc="-2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-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-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will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overwrite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any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existing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content</a:t>
            </a:r>
            <a:endParaRPr sz="1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993" y="142635"/>
            <a:ext cx="30041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write()</a:t>
            </a:r>
            <a:r>
              <a:rPr sz="3000" u="none" spc="-40" dirty="0">
                <a:solidFill>
                  <a:srgbClr val="1B4587"/>
                </a:solidFill>
              </a:rPr>
              <a:t> </a:t>
            </a:r>
            <a:r>
              <a:rPr sz="3000" u="none" spc="-445" dirty="0">
                <a:solidFill>
                  <a:srgbClr val="1B4587"/>
                </a:solidFill>
              </a:rPr>
              <a:t>Method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82980" y="876527"/>
            <a:ext cx="8267700" cy="915251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405"/>
              </a:spcBef>
              <a:buClr>
                <a:srgbClr val="233944"/>
              </a:buClr>
              <a:buFont typeface="Arial"/>
              <a:buChar char="●"/>
              <a:tabLst>
                <a:tab pos="371475" algn="l"/>
              </a:tabLst>
            </a:pPr>
            <a:r>
              <a:rPr sz="1700" b="1" dirty="0">
                <a:solidFill>
                  <a:srgbClr val="BE9000"/>
                </a:solidFill>
                <a:latin typeface="Georgia"/>
                <a:cs typeface="Georgia"/>
              </a:rPr>
              <a:t>write()</a:t>
            </a:r>
            <a:r>
              <a:rPr sz="1700" b="1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method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takes</a:t>
            </a:r>
            <a:r>
              <a:rPr sz="17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string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(</a:t>
            </a:r>
            <a:r>
              <a:rPr sz="17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as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233944"/>
                </a:solidFill>
                <a:latin typeface="Georgia"/>
                <a:cs typeface="Georgia"/>
              </a:rPr>
              <a:t>parameter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)</a:t>
            </a:r>
            <a:r>
              <a:rPr sz="17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and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writes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it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7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7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700" dirty="0">
              <a:latin typeface="Georgia"/>
              <a:cs typeface="Georgia"/>
            </a:endParaRPr>
          </a:p>
          <a:p>
            <a:pPr marL="371475" marR="5080" indent="-359410">
              <a:lnSpc>
                <a:spcPct val="114999"/>
              </a:lnSpc>
              <a:buFont typeface="Arial"/>
              <a:buChar char="●"/>
              <a:tabLst>
                <a:tab pos="371475" algn="l"/>
              </a:tabLst>
            </a:pP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storing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with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end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line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233944"/>
                </a:solidFill>
                <a:latin typeface="Georgia"/>
                <a:cs typeface="Georgia"/>
              </a:rPr>
              <a:t>character,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you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will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have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add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\n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10" dirty="0">
                <a:solidFill>
                  <a:srgbClr val="233944"/>
                </a:solidFill>
                <a:latin typeface="Georgia"/>
                <a:cs typeface="Georgia"/>
              </a:rPr>
              <a:t>character</a:t>
            </a:r>
            <a:r>
              <a:rPr sz="17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end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7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700" spc="-10" dirty="0" smtClean="0">
                <a:solidFill>
                  <a:srgbClr val="233944"/>
                </a:solidFill>
                <a:latin typeface="Georgia"/>
                <a:cs typeface="Georgia"/>
              </a:rPr>
              <a:t>string</a:t>
            </a:r>
            <a:endParaRPr sz="170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8668" y="4646488"/>
            <a:ext cx="1778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33944"/>
                </a:solidFill>
                <a:latin typeface="Nunito"/>
                <a:cs typeface="Nunito"/>
              </a:rPr>
              <a:t>23</a:t>
            </a:r>
            <a:endParaRPr sz="1000">
              <a:latin typeface="Nunito"/>
              <a:cs typeface="Nuni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1791778"/>
            <a:ext cx="7696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solidFill>
                  <a:srgbClr val="FF0000"/>
                </a:solidFill>
              </a:rPr>
              <a:t># Open the file "demo_append.txt" in append mode and add </a:t>
            </a:r>
            <a:r>
              <a:rPr lang="en-IN" sz="2000" dirty="0" smtClean="0"/>
              <a:t>content</a:t>
            </a:r>
          </a:p>
          <a:p>
            <a:r>
              <a:rPr lang="en-IN" sz="2000" dirty="0" smtClean="0"/>
              <a:t>f = open(</a:t>
            </a:r>
            <a:r>
              <a:rPr lang="en-IN" sz="2000" dirty="0" err="1" smtClean="0"/>
              <a:t>r"C</a:t>
            </a:r>
            <a:r>
              <a:rPr lang="en-IN" sz="2000" dirty="0" smtClean="0"/>
              <a:t>:\Users\PalikaC\Desktop\p1.txt", "a")</a:t>
            </a:r>
          </a:p>
          <a:p>
            <a:r>
              <a:rPr lang="en-IN" sz="2000" dirty="0" err="1" smtClean="0"/>
              <a:t>f.write</a:t>
            </a:r>
            <a:r>
              <a:rPr lang="en-IN" sz="2000" dirty="0" smtClean="0"/>
              <a:t>("Hello students\</a:t>
            </a:r>
            <a:r>
              <a:rPr lang="en-IN" sz="2000" dirty="0" err="1" smtClean="0"/>
              <a:t>nWe</a:t>
            </a:r>
            <a:r>
              <a:rPr lang="en-IN" sz="2000" dirty="0" smtClean="0"/>
              <a:t> are learning data file handling...!")</a:t>
            </a:r>
          </a:p>
          <a:p>
            <a:r>
              <a:rPr lang="en-IN" sz="2000" dirty="0" err="1" smtClean="0"/>
              <a:t>f.close</a:t>
            </a:r>
            <a:r>
              <a:rPr lang="en-IN" sz="2000" dirty="0" smtClean="0"/>
              <a:t>()</a:t>
            </a:r>
          </a:p>
          <a:p>
            <a:endParaRPr lang="en-IN" sz="2000" dirty="0">
              <a:solidFill>
                <a:srgbClr val="FF0000"/>
              </a:solidFill>
            </a:endParaRPr>
          </a:p>
          <a:p>
            <a:r>
              <a:rPr lang="en-IN" sz="2000" dirty="0" smtClean="0">
                <a:solidFill>
                  <a:srgbClr val="FF0000"/>
                </a:solidFill>
              </a:rPr>
              <a:t># Open and read the file after appending</a:t>
            </a:r>
          </a:p>
          <a:p>
            <a:r>
              <a:rPr lang="en-IN" sz="2000" dirty="0" smtClean="0"/>
              <a:t>f = open(</a:t>
            </a:r>
            <a:r>
              <a:rPr lang="en-IN" sz="2000" dirty="0" err="1" smtClean="0"/>
              <a:t>r"C</a:t>
            </a:r>
            <a:r>
              <a:rPr lang="en-IN" sz="2000" dirty="0" smtClean="0"/>
              <a:t>:\Users\PalikaC\Desktop\p1.txt", "r")</a:t>
            </a:r>
          </a:p>
          <a:p>
            <a:r>
              <a:rPr lang="en-IN" sz="2000" dirty="0" smtClean="0"/>
              <a:t>print(</a:t>
            </a:r>
            <a:r>
              <a:rPr lang="en-IN" sz="2000" dirty="0" err="1" smtClean="0"/>
              <a:t>f.read</a:t>
            </a:r>
            <a:r>
              <a:rPr lang="en-IN" sz="2000" dirty="0" smtClean="0"/>
              <a:t>())</a:t>
            </a:r>
          </a:p>
          <a:p>
            <a:r>
              <a:rPr lang="en-IN" sz="2000" dirty="0" err="1" smtClean="0"/>
              <a:t>f.close</a:t>
            </a:r>
            <a:r>
              <a:rPr lang="en-IN" sz="2000" dirty="0" smtClean="0"/>
              <a:t>()</a:t>
            </a:r>
            <a:endParaRPr lang="en-IN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4025" y="384735"/>
            <a:ext cx="43332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writelines()</a:t>
            </a:r>
            <a:r>
              <a:rPr sz="3000" u="none" spc="-65" dirty="0">
                <a:solidFill>
                  <a:srgbClr val="1B4587"/>
                </a:solidFill>
              </a:rPr>
              <a:t> </a:t>
            </a:r>
            <a:r>
              <a:rPr sz="3000" u="none" spc="-290" dirty="0">
                <a:solidFill>
                  <a:srgbClr val="1B4587"/>
                </a:solidFill>
              </a:rPr>
              <a:t>METHOD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4549" y="1073356"/>
            <a:ext cx="7429500" cy="1326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writing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string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time,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use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write()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method,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it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can't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used</a:t>
            </a:r>
            <a:endParaRPr sz="1800" dirty="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1600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writing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list,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tuple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etc.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 dirty="0">
              <a:latin typeface="Georgia"/>
              <a:cs typeface="Georgia"/>
            </a:endParaRPr>
          </a:p>
          <a:p>
            <a:pPr marL="379095" marR="264160" indent="-367030">
              <a:lnSpc>
                <a:spcPct val="100000"/>
              </a:lnSpc>
              <a:buFont typeface="Arial"/>
              <a:buChar char="●"/>
              <a:tabLst>
                <a:tab pos="379095" algn="l"/>
              </a:tabLst>
            </a:pPr>
            <a:r>
              <a:rPr sz="1800" dirty="0" smtClean="0">
                <a:solidFill>
                  <a:srgbClr val="233944"/>
                </a:solidFill>
                <a:latin typeface="Georgia"/>
                <a:cs typeface="Georgia"/>
              </a:rPr>
              <a:t>So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,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whenever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have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b="1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233944"/>
                </a:solidFill>
                <a:latin typeface="Georgia"/>
                <a:cs typeface="Georgia"/>
              </a:rPr>
              <a:t>write</a:t>
            </a:r>
            <a:r>
              <a:rPr sz="1800" b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b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233944"/>
                </a:solidFill>
                <a:latin typeface="Georgia"/>
                <a:cs typeface="Georgia"/>
              </a:rPr>
              <a:t>sequence</a:t>
            </a:r>
            <a:r>
              <a:rPr sz="1800" b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b="1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233944"/>
                </a:solidFill>
                <a:latin typeface="Georgia"/>
                <a:cs typeface="Georgia"/>
              </a:rPr>
              <a:t>string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,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 smtClean="0">
                <a:solidFill>
                  <a:srgbClr val="233944"/>
                </a:solidFill>
                <a:latin typeface="Georgia"/>
                <a:cs typeface="Georgia"/>
              </a:rPr>
              <a:t>will</a:t>
            </a:r>
            <a:r>
              <a:rPr sz="1800" spc="-10" dirty="0" smtClean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writelines(),</a:t>
            </a:r>
            <a:r>
              <a:rPr sz="1800" spc="-7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instead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write().</a:t>
            </a:r>
            <a:endParaRPr sz="1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819150"/>
            <a:ext cx="784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solidFill>
                  <a:srgbClr val="FF0000"/>
                </a:solidFill>
              </a:rPr>
              <a:t># Program to demonstrate </a:t>
            </a:r>
            <a:r>
              <a:rPr lang="en-IN" sz="2400" dirty="0" err="1" smtClean="0">
                <a:solidFill>
                  <a:srgbClr val="FF0000"/>
                </a:solidFill>
              </a:rPr>
              <a:t>writelines</a:t>
            </a:r>
            <a:r>
              <a:rPr lang="en-IN" sz="2400" dirty="0" smtClean="0">
                <a:solidFill>
                  <a:srgbClr val="FF0000"/>
                </a:solidFill>
              </a:rPr>
              <a:t>()</a:t>
            </a:r>
          </a:p>
          <a:p>
            <a:r>
              <a:rPr lang="en-IN" sz="2400" dirty="0" smtClean="0"/>
              <a:t>f = open(</a:t>
            </a:r>
            <a:r>
              <a:rPr lang="en-IN" sz="2400" dirty="0" err="1" smtClean="0"/>
              <a:t>r"C</a:t>
            </a:r>
            <a:r>
              <a:rPr lang="en-IN" sz="2400" dirty="0" smtClean="0"/>
              <a:t>:\Users\PalikaC\Desktop\p1.txt", "a")</a:t>
            </a:r>
          </a:p>
          <a:p>
            <a:r>
              <a:rPr lang="en-IN" sz="2400" dirty="0" err="1" smtClean="0"/>
              <a:t>f.writelines</a:t>
            </a:r>
            <a:r>
              <a:rPr lang="en-IN" sz="2400" dirty="0" smtClean="0"/>
              <a:t>(["We love Python!\n", "File Handling\n"])</a:t>
            </a:r>
          </a:p>
          <a:p>
            <a:r>
              <a:rPr lang="en-IN" sz="2400" dirty="0" err="1" smtClean="0"/>
              <a:t>f.close</a:t>
            </a:r>
            <a:r>
              <a:rPr lang="en-IN" sz="2400" dirty="0" smtClean="0"/>
              <a:t>()</a:t>
            </a:r>
          </a:p>
          <a:p>
            <a:endParaRPr lang="en-IN" sz="2400" dirty="0" smtClean="0"/>
          </a:p>
          <a:p>
            <a:r>
              <a:rPr lang="en-IN" sz="2400" dirty="0" smtClean="0">
                <a:solidFill>
                  <a:srgbClr val="FF0000"/>
                </a:solidFill>
              </a:rPr>
              <a:t># Open and read the file after appending</a:t>
            </a:r>
          </a:p>
          <a:p>
            <a:r>
              <a:rPr lang="en-IN" sz="2400" dirty="0" smtClean="0"/>
              <a:t>f = open(</a:t>
            </a:r>
            <a:r>
              <a:rPr lang="en-IN" sz="2400" dirty="0" err="1" smtClean="0"/>
              <a:t>r"C</a:t>
            </a:r>
            <a:r>
              <a:rPr lang="en-IN" sz="2400" dirty="0" smtClean="0"/>
              <a:t>:\Users\PalikaC\Desktop\p1.txt", "r")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f.read</a:t>
            </a:r>
            <a:r>
              <a:rPr lang="en-IN" sz="2400" dirty="0" smtClean="0"/>
              <a:t>())</a:t>
            </a:r>
          </a:p>
          <a:p>
            <a:r>
              <a:rPr lang="en-IN" sz="2400" dirty="0" err="1" smtClean="0"/>
              <a:t>f.close</a:t>
            </a:r>
            <a:r>
              <a:rPr lang="en-IN" sz="2400" dirty="0" smtClean="0"/>
              <a:t>()</a:t>
            </a:r>
            <a:endParaRPr lang="en-IN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800" y="546060"/>
            <a:ext cx="21901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/>
              <a:t>The</a:t>
            </a:r>
            <a:r>
              <a:rPr sz="3000" u="none" spc="-20" dirty="0"/>
              <a:t> </a:t>
            </a:r>
            <a:r>
              <a:rPr sz="3000" u="none" spc="-105" dirty="0"/>
              <a:t>flush()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27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805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flush</a:t>
            </a:r>
            <a:r>
              <a:rPr spc="-45" dirty="0"/>
              <a:t> </a:t>
            </a:r>
            <a:r>
              <a:rPr dirty="0"/>
              <a:t>function</a:t>
            </a:r>
            <a:r>
              <a:rPr spc="-45" dirty="0"/>
              <a:t> </a:t>
            </a:r>
            <a:r>
              <a:rPr dirty="0"/>
              <a:t>forces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writing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dirty="0"/>
              <a:t>disc</a:t>
            </a:r>
            <a:r>
              <a:rPr spc="-45" dirty="0"/>
              <a:t> </a:t>
            </a:r>
            <a:r>
              <a:rPr dirty="0"/>
              <a:t>still</a:t>
            </a:r>
            <a:r>
              <a:rPr spc="-50" dirty="0"/>
              <a:t> </a:t>
            </a:r>
            <a:r>
              <a:rPr dirty="0"/>
              <a:t>pending</a:t>
            </a:r>
            <a:r>
              <a:rPr spc="-4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25" dirty="0"/>
              <a:t>the </a:t>
            </a:r>
            <a:r>
              <a:rPr dirty="0"/>
              <a:t>output</a:t>
            </a:r>
            <a:r>
              <a:rPr spc="-85" dirty="0"/>
              <a:t> </a:t>
            </a:r>
            <a:r>
              <a:rPr spc="-10" dirty="0"/>
              <a:t>buffer.</a:t>
            </a:r>
          </a:p>
          <a:p>
            <a:pPr marL="929005">
              <a:lnSpc>
                <a:spcPct val="100000"/>
              </a:lnSpc>
              <a:spcBef>
                <a:spcPts val="1925"/>
              </a:spcBef>
            </a:pPr>
            <a:r>
              <a:rPr b="1" dirty="0">
                <a:solidFill>
                  <a:srgbClr val="BE9000"/>
                </a:solidFill>
                <a:latin typeface="Georgia"/>
                <a:cs typeface="Georgia"/>
              </a:rPr>
              <a:t>Syntax</a:t>
            </a:r>
            <a:r>
              <a:rPr b="1" spc="-2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b="1" dirty="0">
                <a:solidFill>
                  <a:srgbClr val="BE9000"/>
                </a:solidFill>
                <a:latin typeface="Georgia"/>
                <a:cs typeface="Georgia"/>
              </a:rPr>
              <a:t>:</a:t>
            </a:r>
            <a:r>
              <a:rPr b="1" spc="-2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b="1" spc="-10" dirty="0">
                <a:solidFill>
                  <a:srgbClr val="BE9000"/>
                </a:solidFill>
                <a:latin typeface="Georgia"/>
                <a:cs typeface="Georgia"/>
              </a:rPr>
              <a:t>&lt;file_object&gt;.flush()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28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7411"/>
            <a:ext cx="6781929" cy="45879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5225" y="399110"/>
            <a:ext cx="6997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u="none" dirty="0"/>
              <a:t>DATA</a:t>
            </a:r>
            <a:r>
              <a:rPr sz="3000" u="none" spc="-45" dirty="0"/>
              <a:t> </a:t>
            </a:r>
            <a:r>
              <a:rPr sz="3000" u="none" dirty="0"/>
              <a:t>FILE</a:t>
            </a:r>
            <a:r>
              <a:rPr sz="3000" u="none" spc="-40" dirty="0"/>
              <a:t> </a:t>
            </a:r>
            <a:r>
              <a:rPr sz="3000" u="none" dirty="0"/>
              <a:t>HANDLING</a:t>
            </a:r>
            <a:r>
              <a:rPr sz="3000" u="none" spc="-45" dirty="0"/>
              <a:t> </a:t>
            </a:r>
            <a:r>
              <a:rPr sz="3000" u="none" dirty="0"/>
              <a:t>IN</a:t>
            </a:r>
            <a:r>
              <a:rPr sz="3000" u="none" spc="-40" dirty="0"/>
              <a:t> </a:t>
            </a:r>
            <a:r>
              <a:rPr sz="3000" u="none" spc="-10" dirty="0"/>
              <a:t>BINARY FILES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09499" y="1318658"/>
            <a:ext cx="7823834" cy="1208023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 algn="just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379095" algn="l"/>
              </a:tabLst>
            </a:pPr>
            <a:r>
              <a:rPr lang="en-US" sz="2500" dirty="0" smtClean="0"/>
              <a:t>Binary files store data as raw bytes that computers read directly without translation, but they are not human-readable.</a:t>
            </a:r>
            <a:endParaRPr sz="2500" dirty="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7675" y="3388800"/>
            <a:ext cx="1264674" cy="14582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967583"/>
            <a:ext cx="8001000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Objects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have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specific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structure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which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must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maintained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while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storing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or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accessing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them.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Python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provides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special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module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called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pickle</a:t>
            </a:r>
            <a:r>
              <a:rPr sz="1800" b="1" spc="-7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module</a:t>
            </a:r>
            <a:r>
              <a:rPr sz="1800" b="1" spc="-5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this.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2677003"/>
            <a:ext cx="745426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lr>
                <a:srgbClr val="233944"/>
              </a:buClr>
              <a:buFont typeface="Arial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PICKLING</a:t>
            </a:r>
            <a:r>
              <a:rPr sz="1800" b="1" spc="-6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refers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process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converting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structure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byte</a:t>
            </a:r>
            <a:endParaRPr sz="180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1600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stream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before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writing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>
              <a:latin typeface="Georgia"/>
              <a:cs typeface="Georgia"/>
            </a:endParaRPr>
          </a:p>
          <a:p>
            <a:pPr marL="379095" marR="5080" indent="-367030">
              <a:lnSpc>
                <a:spcPct val="174100"/>
              </a:lnSpc>
              <a:buClr>
                <a:srgbClr val="233944"/>
              </a:buClr>
              <a:buFont typeface="Arial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UNPICKLING</a:t>
            </a:r>
            <a:r>
              <a:rPr sz="1800" b="1" spc="-6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used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convert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byte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stream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back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original structure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while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reading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contents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855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Pickling</a:t>
            </a:r>
            <a:r>
              <a:rPr sz="3000" u="none" spc="-12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and</a:t>
            </a:r>
            <a:r>
              <a:rPr sz="3000" u="none" spc="-120" dirty="0">
                <a:solidFill>
                  <a:srgbClr val="1B4587"/>
                </a:solidFill>
              </a:rPr>
              <a:t> </a:t>
            </a:r>
            <a:r>
              <a:rPr sz="3000" u="none" spc="-145" dirty="0">
                <a:solidFill>
                  <a:srgbClr val="1B4587"/>
                </a:solidFill>
              </a:rPr>
              <a:t>Unpickling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400" y="987050"/>
            <a:ext cx="7700199" cy="35823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175" y="903385"/>
            <a:ext cx="31680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PICKLE</a:t>
            </a:r>
            <a:r>
              <a:rPr sz="3000" u="none" spc="-155" dirty="0">
                <a:solidFill>
                  <a:srgbClr val="1B4587"/>
                </a:solidFill>
              </a:rPr>
              <a:t> </a:t>
            </a:r>
            <a:r>
              <a:rPr sz="3000" u="none" spc="-95" dirty="0">
                <a:solidFill>
                  <a:srgbClr val="1B4587"/>
                </a:solidFill>
              </a:rPr>
              <a:t>Module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33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774" y="1933796"/>
            <a:ext cx="6689725" cy="232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Before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reading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or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writing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file,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have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import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pickle module.</a:t>
            </a:r>
            <a:endParaRPr sz="1800">
              <a:latin typeface="Georgia"/>
              <a:cs typeface="Georgia"/>
            </a:endParaRPr>
          </a:p>
          <a:p>
            <a:pPr marL="2207895">
              <a:lnSpc>
                <a:spcPct val="100000"/>
              </a:lnSpc>
              <a:spcBef>
                <a:spcPts val="1925"/>
              </a:spcBef>
            </a:pPr>
            <a:r>
              <a:rPr sz="1800" b="1" i="1" dirty="0">
                <a:solidFill>
                  <a:srgbClr val="BE9000"/>
                </a:solidFill>
                <a:latin typeface="Georgia"/>
                <a:cs typeface="Georgia"/>
              </a:rPr>
              <a:t>import</a:t>
            </a:r>
            <a:r>
              <a:rPr sz="1800" b="1" i="1" spc="36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pickle</a:t>
            </a:r>
            <a:endParaRPr sz="1800">
              <a:latin typeface="Georgia"/>
              <a:cs typeface="Georgia"/>
            </a:endParaRPr>
          </a:p>
          <a:p>
            <a:pPr marL="434340" indent="-421640">
              <a:lnSpc>
                <a:spcPct val="100000"/>
              </a:lnSpc>
              <a:spcBef>
                <a:spcPts val="1920"/>
              </a:spcBef>
              <a:buFont typeface="Arial"/>
              <a:buChar char="●"/>
              <a:tabLst>
                <a:tab pos="434340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It</a:t>
            </a:r>
            <a:r>
              <a:rPr sz="1800" spc="-7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provides</a:t>
            </a:r>
            <a:r>
              <a:rPr sz="1800" spc="-7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two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main</a:t>
            </a:r>
            <a:r>
              <a:rPr sz="1800" spc="-7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methods</a:t>
            </a:r>
            <a:r>
              <a:rPr sz="1800" spc="-7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endParaRPr sz="1800">
              <a:latin typeface="Georgia"/>
              <a:cs typeface="Georgia"/>
            </a:endParaRPr>
          </a:p>
          <a:p>
            <a:pPr marL="836294" lvl="1" indent="-366395">
              <a:lnSpc>
                <a:spcPct val="100000"/>
              </a:lnSpc>
              <a:spcBef>
                <a:spcPts val="325"/>
              </a:spcBef>
              <a:buFont typeface="Arial"/>
              <a:buChar char="○"/>
              <a:tabLst>
                <a:tab pos="836294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dump()</a:t>
            </a:r>
            <a:r>
              <a:rPr sz="1800" b="1" spc="-4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method</a:t>
            </a:r>
            <a:endParaRPr sz="1800">
              <a:latin typeface="Georgia"/>
              <a:cs typeface="Georgia"/>
            </a:endParaRPr>
          </a:p>
          <a:p>
            <a:pPr marL="836294" lvl="1" indent="-366395">
              <a:lnSpc>
                <a:spcPct val="100000"/>
              </a:lnSpc>
              <a:spcBef>
                <a:spcPts val="325"/>
              </a:spcBef>
              <a:buFont typeface="Arial"/>
              <a:buChar char="○"/>
              <a:tabLst>
                <a:tab pos="836294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load()</a:t>
            </a:r>
            <a:r>
              <a:rPr sz="1800" b="1" spc="-4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method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Opening</a:t>
            </a:r>
            <a:r>
              <a:rPr sz="3000" u="none" spc="-12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and</a:t>
            </a:r>
            <a:r>
              <a:rPr sz="3000" u="none" spc="-12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closing</a:t>
            </a:r>
            <a:r>
              <a:rPr sz="3000" u="none" spc="-12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binary</a:t>
            </a:r>
            <a:r>
              <a:rPr sz="3000" u="none" spc="-125" dirty="0">
                <a:solidFill>
                  <a:srgbClr val="1B4587"/>
                </a:solidFill>
              </a:rPr>
              <a:t> </a:t>
            </a:r>
            <a:r>
              <a:rPr sz="3000" u="none" spc="-400" dirty="0">
                <a:solidFill>
                  <a:srgbClr val="1B4587"/>
                </a:solidFill>
              </a:rPr>
              <a:t>files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34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6375" y="1073256"/>
            <a:ext cx="6715125" cy="320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Opening</a:t>
            </a:r>
            <a:r>
              <a:rPr sz="1800" b="1" spc="-4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a</a:t>
            </a:r>
            <a:r>
              <a:rPr sz="1800" b="1" spc="-4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binary</a:t>
            </a:r>
            <a:r>
              <a:rPr sz="1800" b="1" spc="-4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BE9000"/>
                </a:solidFill>
                <a:latin typeface="Georgia"/>
                <a:cs typeface="Georgia"/>
              </a:rPr>
              <a:t>file:</a:t>
            </a:r>
            <a:endParaRPr sz="1800">
              <a:latin typeface="Georgia"/>
              <a:cs typeface="Georgia"/>
            </a:endParaRPr>
          </a:p>
          <a:p>
            <a:pPr marL="12700" marR="5080" indent="457200">
              <a:lnSpc>
                <a:spcPct val="114999"/>
              </a:lnSpc>
              <a:spcBef>
                <a:spcPts val="1600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Similar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text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except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that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it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should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opened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binary mode.Adding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‘b’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text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mode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makes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binary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-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mode.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EXAMPLE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endParaRPr sz="18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1925"/>
              </a:spcBef>
            </a:pPr>
            <a:r>
              <a:rPr sz="1800" b="1" i="1" dirty="0">
                <a:solidFill>
                  <a:srgbClr val="BE9000"/>
                </a:solidFill>
                <a:latin typeface="Georgia"/>
                <a:cs typeface="Georgia"/>
              </a:rPr>
              <a:t>f</a:t>
            </a: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BE9000"/>
                </a:solidFill>
                <a:latin typeface="Georgia"/>
                <a:cs typeface="Georgia"/>
              </a:rPr>
              <a:t>=</a:t>
            </a: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 open(“demo.dat”,”rb”)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Closing</a:t>
            </a:r>
            <a:r>
              <a:rPr sz="1800" b="1" spc="-6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a</a:t>
            </a:r>
            <a:r>
              <a:rPr sz="1800" b="1" spc="-6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binary</a:t>
            </a:r>
            <a:r>
              <a:rPr sz="1800" b="1" spc="-6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spc="-20" dirty="0">
                <a:solidFill>
                  <a:srgbClr val="BE9000"/>
                </a:solidFill>
                <a:latin typeface="Georgia"/>
                <a:cs typeface="Georgia"/>
              </a:rPr>
              <a:t>file</a:t>
            </a:r>
            <a:endParaRPr sz="18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1925"/>
              </a:spcBef>
            </a:pP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f.close()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45937" y="313112"/>
          <a:ext cx="8536940" cy="46253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b="1" spc="-20" dirty="0">
                          <a:solidFill>
                            <a:srgbClr val="1B4587"/>
                          </a:solidFill>
                          <a:latin typeface="Georgia"/>
                          <a:cs typeface="Georgia"/>
                        </a:rPr>
                        <a:t>Mode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5" dirty="0">
                          <a:solidFill>
                            <a:srgbClr val="1B4587"/>
                          </a:solidFill>
                          <a:latin typeface="Georgia"/>
                          <a:cs typeface="Georgia"/>
                        </a:rPr>
                        <a:t>Descriptio</a:t>
                      </a:r>
                      <a:r>
                        <a:rPr sz="1600" b="1" spc="-495" dirty="0">
                          <a:solidFill>
                            <a:srgbClr val="1B4587"/>
                          </a:solidFill>
                          <a:latin typeface="Georgia"/>
                          <a:cs typeface="Georgia"/>
                        </a:rPr>
                        <a:t>n</a:t>
                      </a:r>
                      <a:r>
                        <a:rPr sz="2850" b="1" spc="15" baseline="20467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●</a:t>
                      </a:r>
                      <a:endParaRPr sz="2850" baseline="20467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889"/>
                        </a:lnSpc>
                      </a:pPr>
                      <a:r>
                        <a:rPr sz="1900" b="1" u="heavy" spc="-20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900" b="1" u="heavy" spc="-55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u="heavy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Modes</a:t>
                      </a:r>
                      <a:r>
                        <a:rPr sz="1900" b="1" u="heavy" spc="-55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u="heavy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900" b="1" u="heavy" spc="-55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u="heavy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opening</a:t>
                      </a:r>
                      <a:r>
                        <a:rPr sz="1900" b="1" u="heavy" spc="-50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u="heavy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a</a:t>
                      </a:r>
                      <a:r>
                        <a:rPr sz="1900" b="1" u="heavy" spc="-55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u="heavy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binary</a:t>
                      </a:r>
                      <a:r>
                        <a:rPr sz="1900" b="1" u="heavy" spc="-55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u="heavy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file</a:t>
                      </a:r>
                      <a:r>
                        <a:rPr sz="1900" b="1" u="heavy" spc="-55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u="heavy" spc="-20" dirty="0">
                          <a:solidFill>
                            <a:srgbClr val="1B4587"/>
                          </a:solidFill>
                          <a:uFill>
                            <a:solidFill>
                              <a:srgbClr val="1B4587"/>
                            </a:solidFill>
                          </a:uFill>
                          <a:latin typeface="Calibri"/>
                          <a:cs typeface="Calibri"/>
                        </a:rPr>
                        <a:t>are: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0" dirty="0">
                          <a:latin typeface="Georgia"/>
                          <a:cs typeface="Georgia"/>
                        </a:rPr>
                        <a:t>“rb”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0" dirty="0">
                          <a:latin typeface="Georgia"/>
                          <a:cs typeface="Georgia"/>
                        </a:rPr>
                        <a:t>Read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0096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Default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value.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Opens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for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reading,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error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if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does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25" dirty="0">
                          <a:latin typeface="Georgia"/>
                          <a:cs typeface="Georgia"/>
                        </a:rPr>
                        <a:t>not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exist.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0" dirty="0">
                          <a:latin typeface="Georgia"/>
                          <a:cs typeface="Georgia"/>
                        </a:rPr>
                        <a:t>“wb”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Georgia"/>
                          <a:cs typeface="Georgia"/>
                        </a:rPr>
                        <a:t>Write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Opens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for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writing,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creates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if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it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does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not</a:t>
                      </a:r>
                      <a:r>
                        <a:rPr sz="16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exist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0" dirty="0">
                          <a:latin typeface="Georgia"/>
                          <a:cs typeface="Georgia"/>
                        </a:rPr>
                        <a:t>“ab”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Georgia"/>
                          <a:cs typeface="Georgia"/>
                        </a:rPr>
                        <a:t>Append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Opens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6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for</a:t>
                      </a:r>
                      <a:r>
                        <a:rPr sz="16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appending,</a:t>
                      </a:r>
                      <a:r>
                        <a:rPr sz="16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creates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6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if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it</a:t>
                      </a:r>
                      <a:r>
                        <a:rPr sz="16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does</a:t>
                      </a:r>
                      <a:r>
                        <a:rPr sz="16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not</a:t>
                      </a:r>
                      <a:r>
                        <a:rPr sz="16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exist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337820" marR="234315" indent="-965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Georgia"/>
                          <a:cs typeface="Georgia"/>
                        </a:rPr>
                        <a:t>“r+b”or “rb+”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2130" marR="355600" indent="-1695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Read</a:t>
                      </a:r>
                      <a:r>
                        <a:rPr sz="1600" spc="-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25" dirty="0">
                          <a:latin typeface="Georgia"/>
                          <a:cs typeface="Georgia"/>
                        </a:rPr>
                        <a:t>and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Write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5638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must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exist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otherwise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error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is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raised.Both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reading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25" dirty="0">
                          <a:latin typeface="Georgia"/>
                          <a:cs typeface="Georgia"/>
                        </a:rPr>
                        <a:t>and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writing</a:t>
                      </a:r>
                      <a:r>
                        <a:rPr sz="1600" spc="-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operations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can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take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place.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7605">
                <a:tc>
                  <a:txBody>
                    <a:bodyPr/>
                    <a:lstStyle/>
                    <a:p>
                      <a:pPr marL="304165" marR="201295" indent="-965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Georgia"/>
                          <a:cs typeface="Georgia"/>
                        </a:rPr>
                        <a:t>“w+b”or “wb+”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56895" marR="330835" indent="-2190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Write</a:t>
                      </a:r>
                      <a:r>
                        <a:rPr sz="1600" spc="-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25" dirty="0">
                          <a:latin typeface="Georgia"/>
                          <a:cs typeface="Georgia"/>
                        </a:rPr>
                        <a:t>and </a:t>
                      </a:r>
                      <a:r>
                        <a:rPr sz="1600" spc="-20" dirty="0">
                          <a:latin typeface="Georgia"/>
                          <a:cs typeface="Georgia"/>
                        </a:rPr>
                        <a:t>Read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044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is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created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if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it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does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not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exist.If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exists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past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data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25" dirty="0">
                          <a:latin typeface="Georgia"/>
                          <a:cs typeface="Georgia"/>
                        </a:rPr>
                        <a:t>is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lost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(truncated).Both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reading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writing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operations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can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20" dirty="0">
                          <a:latin typeface="Georgia"/>
                          <a:cs typeface="Georgia"/>
                        </a:rPr>
                        <a:t>take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place.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4865">
                <a:tc>
                  <a:txBody>
                    <a:bodyPr/>
                    <a:lstStyle/>
                    <a:p>
                      <a:pPr marL="328295" marR="200025" indent="-1212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“a+b”</a:t>
                      </a:r>
                      <a:r>
                        <a:rPr sz="1600" spc="-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25" dirty="0">
                          <a:latin typeface="Georgia"/>
                          <a:cs typeface="Georgia"/>
                        </a:rPr>
                        <a:t>or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“ab+”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56895" marR="208915" indent="-34036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Append</a:t>
                      </a:r>
                      <a:r>
                        <a:rPr sz="1600" spc="29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25" dirty="0">
                          <a:latin typeface="Georgia"/>
                          <a:cs typeface="Georgia"/>
                        </a:rPr>
                        <a:t>and </a:t>
                      </a:r>
                      <a:r>
                        <a:rPr sz="1600" spc="-20" dirty="0">
                          <a:latin typeface="Georgia"/>
                          <a:cs typeface="Georgia"/>
                        </a:rPr>
                        <a:t>Read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0861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is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created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if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it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does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not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exist.If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file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exists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past</a:t>
                      </a:r>
                      <a:r>
                        <a:rPr sz="16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data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25" dirty="0">
                          <a:latin typeface="Georgia"/>
                          <a:cs typeface="Georgia"/>
                        </a:rPr>
                        <a:t>is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not</a:t>
                      </a:r>
                      <a:r>
                        <a:rPr sz="1600" spc="-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lost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.Both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reading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writing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operations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can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dirty="0">
                          <a:latin typeface="Georgia"/>
                          <a:cs typeface="Georgia"/>
                        </a:rPr>
                        <a:t>take</a:t>
                      </a:r>
                      <a:r>
                        <a:rPr sz="16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600" spc="-10" dirty="0">
                          <a:latin typeface="Georgia"/>
                          <a:cs typeface="Georgia"/>
                        </a:rPr>
                        <a:t>place.</a:t>
                      </a:r>
                      <a:endParaRPr sz="1600">
                        <a:latin typeface="Georgia"/>
                        <a:cs typeface="Georgia"/>
                      </a:endParaRPr>
                    </a:p>
                    <a:p>
                      <a:pPr marR="25400" algn="r">
                        <a:lnSpc>
                          <a:spcPts val="980"/>
                        </a:lnSpc>
                      </a:pPr>
                      <a:r>
                        <a:rPr sz="1000" spc="-25" dirty="0">
                          <a:solidFill>
                            <a:srgbClr val="233944"/>
                          </a:solidFill>
                          <a:latin typeface="Nunito"/>
                          <a:cs typeface="Nunito"/>
                        </a:rPr>
                        <a:t>35</a:t>
                      </a:r>
                      <a:endParaRPr sz="1000">
                        <a:latin typeface="Nunito"/>
                        <a:cs typeface="Nunito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175" y="453259"/>
            <a:ext cx="44221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spc="-10" dirty="0">
                <a:solidFill>
                  <a:srgbClr val="1B4587"/>
                </a:solidFill>
              </a:rPr>
              <a:t>pickle.dump()</a:t>
            </a:r>
            <a:r>
              <a:rPr sz="3000" u="none" spc="-170" dirty="0">
                <a:solidFill>
                  <a:srgbClr val="1B4587"/>
                </a:solidFill>
              </a:rPr>
              <a:t> </a:t>
            </a:r>
            <a:r>
              <a:rPr sz="3000" u="none" spc="-210" dirty="0">
                <a:solidFill>
                  <a:srgbClr val="1B4587"/>
                </a:solidFill>
              </a:rPr>
              <a:t>Method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36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6024" y="1042657"/>
            <a:ext cx="7186930" cy="2527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157480" indent="-367030">
              <a:lnSpc>
                <a:spcPct val="114999"/>
              </a:lnSpc>
              <a:spcBef>
                <a:spcPts val="100"/>
              </a:spcBef>
              <a:buClr>
                <a:srgbClr val="233944"/>
              </a:buClr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BE9000"/>
                </a:solidFill>
                <a:latin typeface="Georgia"/>
                <a:cs typeface="Georgia"/>
              </a:rPr>
              <a:t>pickle.dump()</a:t>
            </a:r>
            <a:r>
              <a:rPr sz="1800" b="1" spc="-4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method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used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object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which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70" dirty="0">
                <a:solidFill>
                  <a:srgbClr val="233944"/>
                </a:solidFill>
                <a:latin typeface="Georgia"/>
                <a:cs typeface="Georgia"/>
              </a:rPr>
              <a:t>is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opened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binary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access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mode.</a:t>
            </a:r>
            <a:endParaRPr sz="180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  <a:spcBef>
                <a:spcPts val="1925"/>
              </a:spcBef>
            </a:pP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Syntax</a:t>
            </a:r>
            <a:r>
              <a:rPr sz="1800" b="1" u="heavy" spc="-45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spc="-5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:</a:t>
            </a:r>
            <a:endParaRPr sz="1800">
              <a:latin typeface="Georgia"/>
              <a:cs typeface="Georgia"/>
            </a:endParaRPr>
          </a:p>
          <a:p>
            <a:pPr marL="891540">
              <a:lnSpc>
                <a:spcPct val="100000"/>
              </a:lnSpc>
              <a:spcBef>
                <a:spcPts val="1920"/>
              </a:spcBef>
            </a:pP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pickle.dump(&lt;structure&gt;,&lt;FileObject&gt;)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19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Structure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can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any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sequence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Python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such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as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list,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dictionary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etc.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FileObject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handle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which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have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write.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37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37" y="209550"/>
            <a:ext cx="8293526" cy="44133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400" y="656885"/>
            <a:ext cx="4126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spc="-10" dirty="0">
                <a:solidFill>
                  <a:srgbClr val="1B4587"/>
                </a:solidFill>
              </a:rPr>
              <a:t>pickle.load()</a:t>
            </a:r>
            <a:r>
              <a:rPr sz="3000" u="none" spc="-150" dirty="0">
                <a:solidFill>
                  <a:srgbClr val="1B4587"/>
                </a:solidFill>
              </a:rPr>
              <a:t> </a:t>
            </a:r>
            <a:r>
              <a:rPr sz="3000" u="none" spc="-340" dirty="0">
                <a:solidFill>
                  <a:srgbClr val="1B4587"/>
                </a:solidFill>
              </a:rPr>
              <a:t>Method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549" y="1363155"/>
            <a:ext cx="7186930" cy="244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latin typeface="Georgia"/>
                <a:cs typeface="Georgia"/>
              </a:rPr>
              <a:t>pickle.load()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method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is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used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to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read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data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from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file</a:t>
            </a:r>
            <a:endParaRPr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35"/>
              </a:spcBef>
              <a:buFont typeface="Arial"/>
              <a:buChar char="●"/>
            </a:pPr>
            <a:endParaRPr sz="1800">
              <a:latin typeface="Georgia"/>
              <a:cs typeface="Georgia"/>
            </a:endParaRPr>
          </a:p>
          <a:p>
            <a:pPr marL="379095">
              <a:lnSpc>
                <a:spcPct val="100000"/>
              </a:lnSpc>
            </a:pPr>
            <a:r>
              <a:rPr sz="1800" b="1" u="heavy" dirty="0">
                <a:solidFill>
                  <a:srgbClr val="B45F06"/>
                </a:solidFill>
                <a:uFill>
                  <a:solidFill>
                    <a:srgbClr val="B45F06"/>
                  </a:solidFill>
                </a:uFill>
                <a:latin typeface="Georgia"/>
                <a:cs typeface="Georgia"/>
              </a:rPr>
              <a:t>Syntax</a:t>
            </a:r>
            <a:r>
              <a:rPr sz="1800" b="1" u="heavy" spc="-45" dirty="0">
                <a:solidFill>
                  <a:srgbClr val="B45F06"/>
                </a:solidFill>
                <a:uFill>
                  <a:solidFill>
                    <a:srgbClr val="B45F06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spc="-50" dirty="0">
                <a:solidFill>
                  <a:srgbClr val="B45F06"/>
                </a:solidFill>
                <a:uFill>
                  <a:solidFill>
                    <a:srgbClr val="B45F06"/>
                  </a:solidFill>
                </a:uFill>
                <a:latin typeface="Georgia"/>
                <a:cs typeface="Georgia"/>
              </a:rPr>
              <a:t>:</a:t>
            </a:r>
            <a:endParaRPr sz="180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5"/>
              </a:spcBef>
            </a:pPr>
            <a:r>
              <a:rPr sz="1800" b="1" i="1" dirty="0">
                <a:solidFill>
                  <a:srgbClr val="B45F06"/>
                </a:solidFill>
                <a:latin typeface="Georgia"/>
                <a:cs typeface="Georgia"/>
              </a:rPr>
              <a:t>&lt;structure&gt;</a:t>
            </a:r>
            <a:r>
              <a:rPr sz="1800" b="1" i="1" spc="-30" dirty="0">
                <a:solidFill>
                  <a:srgbClr val="B45F06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B45F06"/>
                </a:solidFill>
                <a:latin typeface="Georgia"/>
                <a:cs typeface="Georgia"/>
              </a:rPr>
              <a:t>=</a:t>
            </a:r>
            <a:r>
              <a:rPr sz="1800" b="1" i="1" spc="-30" dirty="0">
                <a:solidFill>
                  <a:srgbClr val="B45F06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B45F06"/>
                </a:solidFill>
                <a:latin typeface="Georgia"/>
                <a:cs typeface="Georgia"/>
              </a:rPr>
              <a:t>pickle.load(&lt;FileObject&gt;)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19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latin typeface="Georgia"/>
                <a:cs typeface="Georgia"/>
              </a:rPr>
              <a:t>Structure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can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any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sequence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in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Python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such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as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list,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dictionary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etc.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latin typeface="Georgia"/>
                <a:cs typeface="Georgia"/>
              </a:rPr>
              <a:t>FileObject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is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file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handle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of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file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in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which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we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have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to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write.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39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11" y="133350"/>
            <a:ext cx="8312577" cy="425141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525" y="471509"/>
            <a:ext cx="806830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/>
              <a:t>Random</a:t>
            </a:r>
            <a:r>
              <a:rPr sz="3000" u="none" spc="-80" dirty="0"/>
              <a:t> </a:t>
            </a:r>
            <a:r>
              <a:rPr sz="3000" u="none" dirty="0"/>
              <a:t>Access</a:t>
            </a:r>
            <a:r>
              <a:rPr sz="3000" u="none" spc="-80" dirty="0"/>
              <a:t> </a:t>
            </a:r>
            <a:r>
              <a:rPr sz="3000" u="none" dirty="0"/>
              <a:t>in</a:t>
            </a:r>
            <a:r>
              <a:rPr sz="3000" u="none" spc="-80" dirty="0"/>
              <a:t> </a:t>
            </a:r>
            <a:r>
              <a:rPr sz="3000" u="none" dirty="0"/>
              <a:t>Files</a:t>
            </a:r>
            <a:r>
              <a:rPr sz="3000" u="none" spc="-80" dirty="0"/>
              <a:t> </a:t>
            </a:r>
            <a:r>
              <a:rPr sz="3000" u="none" dirty="0"/>
              <a:t>:</a:t>
            </a:r>
            <a:r>
              <a:rPr sz="3000" u="none" spc="-75" dirty="0"/>
              <a:t> </a:t>
            </a:r>
            <a:r>
              <a:rPr sz="3000" u="none" dirty="0"/>
              <a:t>tell()</a:t>
            </a:r>
            <a:r>
              <a:rPr sz="3000" u="none" spc="-85" dirty="0"/>
              <a:t> </a:t>
            </a:r>
            <a:r>
              <a:rPr sz="3000" u="none" dirty="0"/>
              <a:t>and</a:t>
            </a:r>
            <a:r>
              <a:rPr sz="3000" u="none" spc="-80" dirty="0"/>
              <a:t> </a:t>
            </a:r>
            <a:r>
              <a:rPr sz="3000" u="none" spc="-500" dirty="0"/>
              <a:t>seek()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41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884" algn="l"/>
              </a:tabLst>
            </a:pPr>
            <a:r>
              <a:rPr b="1" spc="-50" dirty="0">
                <a:latin typeface="MS PMincho"/>
                <a:cs typeface="MS PMincho"/>
              </a:rPr>
              <a:t>❏</a:t>
            </a:r>
            <a:r>
              <a:rPr b="1" dirty="0">
                <a:latin typeface="MS PMincho"/>
                <a:cs typeface="MS PMincho"/>
              </a:rPr>
              <a:t>	</a:t>
            </a:r>
            <a:r>
              <a:rPr b="1" dirty="0">
                <a:latin typeface="Georgia"/>
                <a:cs typeface="Georgia"/>
              </a:rPr>
              <a:t>tell()</a:t>
            </a:r>
            <a:r>
              <a:rPr b="1" spc="-55" dirty="0">
                <a:latin typeface="Georgia"/>
                <a:cs typeface="Georgia"/>
              </a:rPr>
              <a:t> </a:t>
            </a:r>
            <a:r>
              <a:rPr dirty="0"/>
              <a:t>function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used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obtain</a:t>
            </a:r>
            <a:r>
              <a:rPr spc="3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current</a:t>
            </a:r>
            <a:r>
              <a:rPr spc="-55" dirty="0"/>
              <a:t> </a:t>
            </a:r>
            <a:r>
              <a:rPr dirty="0"/>
              <a:t>position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file</a:t>
            </a:r>
            <a:r>
              <a:rPr spc="-50" dirty="0"/>
              <a:t> </a:t>
            </a:r>
            <a:r>
              <a:rPr spc="-10" dirty="0"/>
              <a:t>pointer</a:t>
            </a:r>
          </a:p>
          <a:p>
            <a:pPr marL="934085">
              <a:lnSpc>
                <a:spcPct val="100000"/>
              </a:lnSpc>
              <a:spcBef>
                <a:spcPts val="1920"/>
              </a:spcBef>
              <a:tabLst>
                <a:tab pos="2305685" algn="l"/>
              </a:tabLst>
            </a:pPr>
            <a:r>
              <a:rPr b="1" i="1" dirty="0">
                <a:latin typeface="Georgia"/>
                <a:cs typeface="Georgia"/>
              </a:rPr>
              <a:t>Syntax</a:t>
            </a:r>
            <a:r>
              <a:rPr b="1" i="1" spc="-30" dirty="0">
                <a:latin typeface="Georgia"/>
                <a:cs typeface="Georgia"/>
              </a:rPr>
              <a:t> </a:t>
            </a:r>
            <a:r>
              <a:rPr b="1" i="1" spc="-50" dirty="0">
                <a:latin typeface="Georgia"/>
                <a:cs typeface="Georgia"/>
              </a:rPr>
              <a:t>:</a:t>
            </a:r>
            <a:r>
              <a:rPr b="1" i="1" dirty="0">
                <a:latin typeface="Georgia"/>
                <a:cs typeface="Georgia"/>
              </a:rPr>
              <a:t>	</a:t>
            </a:r>
            <a:r>
              <a:rPr b="1" i="1" spc="-10" dirty="0">
                <a:latin typeface="Georgia"/>
                <a:cs typeface="Georgia"/>
              </a:rPr>
              <a:t>f.tell()</a:t>
            </a:r>
          </a:p>
          <a:p>
            <a:pPr marL="476884" marR="280670" indent="-457200">
              <a:lnSpc>
                <a:spcPct val="114999"/>
              </a:lnSpc>
              <a:spcBef>
                <a:spcPts val="1600"/>
              </a:spcBef>
              <a:tabLst>
                <a:tab pos="476884" algn="l"/>
              </a:tabLst>
            </a:pPr>
            <a:r>
              <a:rPr spc="-50" dirty="0">
                <a:latin typeface="MS PMincho"/>
                <a:cs typeface="MS PMincho"/>
              </a:rPr>
              <a:t>❏</a:t>
            </a:r>
            <a:r>
              <a:rPr dirty="0">
                <a:latin typeface="MS PMincho"/>
                <a:cs typeface="MS PMincho"/>
              </a:rPr>
              <a:t>	</a:t>
            </a:r>
            <a:r>
              <a:rPr dirty="0"/>
              <a:t>File</a:t>
            </a:r>
            <a:r>
              <a:rPr spc="-45" dirty="0"/>
              <a:t> </a:t>
            </a:r>
            <a:r>
              <a:rPr dirty="0"/>
              <a:t>pointer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like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cursor,</a:t>
            </a:r>
            <a:r>
              <a:rPr spc="-45" dirty="0"/>
              <a:t> </a:t>
            </a:r>
            <a:r>
              <a:rPr dirty="0"/>
              <a:t>which</a:t>
            </a:r>
            <a:r>
              <a:rPr spc="-45" dirty="0"/>
              <a:t> </a:t>
            </a:r>
            <a:r>
              <a:rPr spc="-10" dirty="0"/>
              <a:t>determines</a:t>
            </a:r>
            <a:r>
              <a:rPr spc="-40" dirty="0"/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dirty="0"/>
              <a:t>where</a:t>
            </a:r>
            <a:r>
              <a:rPr spc="-4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has</a:t>
            </a:r>
            <a:r>
              <a:rPr spc="-4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25" dirty="0"/>
              <a:t>be </a:t>
            </a:r>
            <a:r>
              <a:rPr dirty="0"/>
              <a:t>read</a:t>
            </a:r>
            <a:r>
              <a:rPr spc="-50" dirty="0"/>
              <a:t> </a:t>
            </a:r>
            <a:r>
              <a:rPr dirty="0"/>
              <a:t>or</a:t>
            </a:r>
            <a:r>
              <a:rPr spc="-45" dirty="0"/>
              <a:t> </a:t>
            </a:r>
            <a:r>
              <a:rPr dirty="0"/>
              <a:t>written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file.</a:t>
            </a:r>
          </a:p>
          <a:p>
            <a:pPr marL="476884" marR="5080" indent="-464820">
              <a:lnSpc>
                <a:spcPct val="114999"/>
              </a:lnSpc>
              <a:tabLst>
                <a:tab pos="476884" algn="l"/>
              </a:tabLst>
            </a:pPr>
            <a:r>
              <a:rPr b="1" spc="-50" dirty="0">
                <a:latin typeface="MS PMincho"/>
                <a:cs typeface="MS PMincho"/>
              </a:rPr>
              <a:t>❏</a:t>
            </a:r>
            <a:r>
              <a:rPr b="1" dirty="0">
                <a:latin typeface="MS PMincho"/>
                <a:cs typeface="MS PMincho"/>
              </a:rPr>
              <a:t>	</a:t>
            </a:r>
            <a:r>
              <a:rPr b="1" dirty="0">
                <a:latin typeface="Georgia"/>
                <a:cs typeface="Georgia"/>
              </a:rPr>
              <a:t>seek</a:t>
            </a:r>
            <a:r>
              <a:rPr b="1" spc="-6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()</a:t>
            </a:r>
            <a:r>
              <a:rPr b="1" spc="-45" dirty="0">
                <a:latin typeface="Georgia"/>
                <a:cs typeface="Georgia"/>
              </a:rPr>
              <a:t> </a:t>
            </a:r>
            <a:r>
              <a:rPr dirty="0"/>
              <a:t>function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change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position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file</a:t>
            </a:r>
            <a:r>
              <a:rPr spc="-45" dirty="0"/>
              <a:t> </a:t>
            </a:r>
            <a:r>
              <a:rPr dirty="0"/>
              <a:t>pointer</a:t>
            </a:r>
            <a:r>
              <a:rPr spc="-4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given position.</a:t>
            </a:r>
          </a:p>
          <a:p>
            <a:pPr marL="934085">
              <a:lnSpc>
                <a:spcPct val="100000"/>
              </a:lnSpc>
              <a:spcBef>
                <a:spcPts val="1925"/>
              </a:spcBef>
              <a:tabLst>
                <a:tab pos="2305685" algn="l"/>
              </a:tabLst>
            </a:pPr>
            <a:r>
              <a:rPr b="1" i="1" dirty="0">
                <a:latin typeface="Georgia"/>
                <a:cs typeface="Georgia"/>
              </a:rPr>
              <a:t>Syntax</a:t>
            </a:r>
            <a:r>
              <a:rPr b="1" i="1" spc="-30" dirty="0">
                <a:latin typeface="Georgia"/>
                <a:cs typeface="Georgia"/>
              </a:rPr>
              <a:t> </a:t>
            </a:r>
            <a:r>
              <a:rPr b="1" i="1" spc="-50" dirty="0">
                <a:latin typeface="Georgia"/>
                <a:cs typeface="Georgia"/>
              </a:rPr>
              <a:t>:</a:t>
            </a:r>
            <a:r>
              <a:rPr b="1" i="1" dirty="0">
                <a:latin typeface="Georgia"/>
                <a:cs typeface="Georgia"/>
              </a:rPr>
              <a:t>	</a:t>
            </a:r>
            <a:r>
              <a:rPr b="1" i="1" spc="-10" dirty="0">
                <a:latin typeface="Georgia"/>
                <a:cs typeface="Georgia"/>
              </a:rPr>
              <a:t>f.seek(offset,reference_point)</a:t>
            </a:r>
          </a:p>
          <a:p>
            <a:pPr marL="934085">
              <a:lnSpc>
                <a:spcPct val="100000"/>
              </a:lnSpc>
              <a:spcBef>
                <a:spcPts val="1925"/>
              </a:spcBef>
            </a:pPr>
            <a:r>
              <a:rPr dirty="0"/>
              <a:t>Where</a:t>
            </a:r>
            <a:r>
              <a:rPr spc="-40" dirty="0"/>
              <a:t> </a:t>
            </a:r>
            <a:r>
              <a:rPr dirty="0"/>
              <a:t>f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file</a:t>
            </a:r>
            <a:r>
              <a:rPr spc="-35" dirty="0"/>
              <a:t> </a:t>
            </a:r>
            <a:r>
              <a:rPr spc="-10" dirty="0"/>
              <a:t>object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5334"/>
            <a:ext cx="7315200" cy="417141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4485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5334"/>
            <a:ext cx="6096000" cy="32570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524178"/>
            <a:ext cx="4769095" cy="140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505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600" y="305334"/>
            <a:ext cx="8208799" cy="400110"/>
          </a:xfrm>
        </p:spPr>
        <p:txBody>
          <a:bodyPr/>
          <a:lstStyle/>
          <a:p>
            <a:r>
              <a:rPr lang="en-US" dirty="0" smtClean="0"/>
              <a:t>Demo of tell() +seek()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67600" y="1417588"/>
            <a:ext cx="639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f = open("demo.txt", "r")</a:t>
            </a:r>
          </a:p>
          <a:p>
            <a:r>
              <a:rPr lang="en-IN" dirty="0" smtClean="0"/>
              <a:t>print("Before:", </a:t>
            </a:r>
            <a:r>
              <a:rPr lang="en-IN" dirty="0" err="1" smtClean="0"/>
              <a:t>f.tell</a:t>
            </a:r>
            <a:r>
              <a:rPr lang="en-IN" dirty="0" smtClean="0"/>
              <a:t>())</a:t>
            </a:r>
          </a:p>
          <a:p>
            <a:endParaRPr lang="en-IN" dirty="0" smtClean="0"/>
          </a:p>
          <a:p>
            <a:r>
              <a:rPr lang="en-IN" dirty="0" err="1" smtClean="0"/>
              <a:t>f.seek</a:t>
            </a:r>
            <a:r>
              <a:rPr lang="en-IN" dirty="0" smtClean="0"/>
              <a:t>(5, 0)</a:t>
            </a:r>
          </a:p>
          <a:p>
            <a:r>
              <a:rPr lang="en-IN" dirty="0" smtClean="0"/>
              <a:t>print("After seek:", </a:t>
            </a:r>
            <a:r>
              <a:rPr lang="en-IN" dirty="0" err="1" smtClean="0"/>
              <a:t>f.tell</a:t>
            </a:r>
            <a:r>
              <a:rPr lang="en-IN" dirty="0" smtClean="0"/>
              <a:t>())</a:t>
            </a:r>
          </a:p>
          <a:p>
            <a:endParaRPr lang="en-IN" dirty="0" smtClean="0"/>
          </a:p>
          <a:p>
            <a:r>
              <a:rPr lang="en-IN" dirty="0" smtClean="0"/>
              <a:t>print(</a:t>
            </a:r>
            <a:r>
              <a:rPr lang="en-IN" dirty="0" err="1" smtClean="0"/>
              <a:t>f.read</a:t>
            </a:r>
            <a:r>
              <a:rPr lang="en-IN" dirty="0" smtClean="0"/>
              <a:t>(10))</a:t>
            </a:r>
          </a:p>
          <a:p>
            <a:r>
              <a:rPr lang="en-IN" dirty="0" err="1" smtClean="0"/>
              <a:t>f.close</a:t>
            </a:r>
            <a:r>
              <a:rPr lang="en-IN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1793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825" y="393960"/>
            <a:ext cx="17595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CSV</a:t>
            </a:r>
            <a:r>
              <a:rPr sz="3000" u="none" spc="-80" dirty="0">
                <a:solidFill>
                  <a:srgbClr val="1B4587"/>
                </a:solidFill>
              </a:rPr>
              <a:t> </a:t>
            </a:r>
            <a:r>
              <a:rPr sz="3000" u="none" spc="-140" dirty="0">
                <a:solidFill>
                  <a:srgbClr val="1B4587"/>
                </a:solidFill>
              </a:rPr>
              <a:t>files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124" y="1108383"/>
            <a:ext cx="7868920" cy="17459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153670" indent="-365760" algn="just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lang="en-US" sz="2500" dirty="0" smtClean="0"/>
              <a:t>CSV is a human-readable text format for storing tabular data where each row is a record and fields are separated by delimiters such as comma (,), tab (\t), colon (:), pipe (|), or semicolon (;).</a:t>
            </a:r>
            <a:endParaRPr sz="25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3284"/>
            <a:ext cx="3912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Python</a:t>
            </a:r>
            <a:r>
              <a:rPr sz="3000" u="none" spc="-120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CSV</a:t>
            </a:r>
            <a:r>
              <a:rPr sz="3000" u="none" spc="-114" dirty="0">
                <a:solidFill>
                  <a:srgbClr val="1B4587"/>
                </a:solidFill>
              </a:rPr>
              <a:t> </a:t>
            </a:r>
            <a:r>
              <a:rPr sz="3000" u="none" spc="-325" dirty="0">
                <a:solidFill>
                  <a:srgbClr val="1B4587"/>
                </a:solidFill>
              </a:rPr>
              <a:t>Module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43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75507"/>
            <a:ext cx="7533005" cy="180593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module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provides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two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types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objects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endParaRPr sz="1800">
              <a:latin typeface="Georgia"/>
              <a:cs typeface="Georgia"/>
            </a:endParaRPr>
          </a:p>
          <a:p>
            <a:pPr marL="836294" lvl="1" indent="-366395">
              <a:lnSpc>
                <a:spcPct val="100000"/>
              </a:lnSpc>
              <a:spcBef>
                <a:spcPts val="320"/>
              </a:spcBef>
              <a:buFont typeface="Arial"/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reader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from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cvs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files</a:t>
            </a:r>
            <a:endParaRPr sz="1800">
              <a:latin typeface="Georgia"/>
              <a:cs typeface="Georgia"/>
            </a:endParaRPr>
          </a:p>
          <a:p>
            <a:pPr marL="836294" lvl="1" indent="-366395">
              <a:lnSpc>
                <a:spcPct val="100000"/>
              </a:lnSpc>
              <a:spcBef>
                <a:spcPts val="325"/>
              </a:spcBef>
              <a:buFont typeface="Arial"/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writer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: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into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4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files.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import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module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our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program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,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use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following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statement:</a:t>
            </a:r>
            <a:endParaRPr sz="1800">
              <a:latin typeface="Georgia"/>
              <a:cs typeface="Georgia"/>
            </a:endParaRPr>
          </a:p>
          <a:p>
            <a:pPr marL="1293495">
              <a:lnSpc>
                <a:spcPct val="100000"/>
              </a:lnSpc>
              <a:spcBef>
                <a:spcPts val="1925"/>
              </a:spcBef>
            </a:pPr>
            <a:r>
              <a:rPr sz="1800" b="1" i="1" dirty="0">
                <a:solidFill>
                  <a:srgbClr val="BE9000"/>
                </a:solidFill>
                <a:latin typeface="Georgia"/>
                <a:cs typeface="Georgia"/>
              </a:rPr>
              <a:t>import</a:t>
            </a:r>
            <a:r>
              <a:rPr sz="1800" b="1" i="1" spc="36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i="1" spc="-25" dirty="0">
                <a:solidFill>
                  <a:srgbClr val="BE9000"/>
                </a:solidFill>
                <a:latin typeface="Georgia"/>
                <a:cs typeface="Georgia"/>
              </a:rPr>
              <a:t>csv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88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Opening</a:t>
            </a:r>
            <a:r>
              <a:rPr sz="3000" u="none" spc="-8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/</a:t>
            </a:r>
            <a:r>
              <a:rPr sz="3000" u="none" spc="-8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Closing</a:t>
            </a:r>
            <a:r>
              <a:rPr sz="3000" u="none" spc="-8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a</a:t>
            </a:r>
            <a:r>
              <a:rPr sz="3000" u="none" spc="-8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CSV</a:t>
            </a:r>
            <a:r>
              <a:rPr sz="3000" u="none" spc="-85" dirty="0">
                <a:solidFill>
                  <a:srgbClr val="1B4587"/>
                </a:solidFill>
              </a:rPr>
              <a:t> </a:t>
            </a:r>
            <a:r>
              <a:rPr sz="3000" u="none" spc="-680" dirty="0">
                <a:solidFill>
                  <a:srgbClr val="1B4587"/>
                </a:solidFill>
              </a:rPr>
              <a:t>File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44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2699" y="1133006"/>
            <a:ext cx="4408170" cy="289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u="heavy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Open</a:t>
            </a:r>
            <a:r>
              <a:rPr sz="1800" b="1" u="heavy" spc="-30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a</a:t>
            </a:r>
            <a:r>
              <a:rPr sz="1800" b="1" u="heavy" spc="-30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CSV</a:t>
            </a:r>
            <a:r>
              <a:rPr sz="1800" b="1" u="heavy" spc="-25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File</a:t>
            </a:r>
            <a:r>
              <a:rPr sz="1800" b="1" u="heavy" spc="-30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spc="-50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:</a:t>
            </a:r>
            <a:endParaRPr sz="180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5"/>
              </a:spcBef>
            </a:pPr>
            <a:r>
              <a:rPr sz="1800" b="1" i="1" dirty="0">
                <a:solidFill>
                  <a:srgbClr val="BE9000"/>
                </a:solidFill>
                <a:latin typeface="Georgia"/>
                <a:cs typeface="Georgia"/>
              </a:rPr>
              <a:t>f</a:t>
            </a: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BE9000"/>
                </a:solidFill>
                <a:latin typeface="Georgia"/>
                <a:cs typeface="Georgia"/>
              </a:rPr>
              <a:t>=</a:t>
            </a: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 open(“demo_csv.csv”,”r”)</a:t>
            </a:r>
            <a:endParaRPr sz="1800">
              <a:latin typeface="Georgia"/>
              <a:cs typeface="Georgia"/>
            </a:endParaRPr>
          </a:p>
          <a:p>
            <a:pPr marL="1293495">
              <a:lnSpc>
                <a:spcPct val="100000"/>
              </a:lnSpc>
              <a:spcBef>
                <a:spcPts val="1920"/>
              </a:spcBef>
            </a:pP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OR</a:t>
            </a:r>
            <a:endParaRPr sz="180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5"/>
              </a:spcBef>
            </a:pPr>
            <a:r>
              <a:rPr sz="1800" b="1" i="1" dirty="0">
                <a:solidFill>
                  <a:srgbClr val="BE9000"/>
                </a:solidFill>
                <a:latin typeface="Georgia"/>
                <a:cs typeface="Georgia"/>
              </a:rPr>
              <a:t>f</a:t>
            </a: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BE9000"/>
                </a:solidFill>
                <a:latin typeface="Georgia"/>
                <a:cs typeface="Georgia"/>
              </a:rPr>
              <a:t>=</a:t>
            </a: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 open(“demo_csv.csv”,”w”)</a:t>
            </a:r>
            <a:endParaRPr sz="180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19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u="heavy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Close</a:t>
            </a:r>
            <a:r>
              <a:rPr sz="1800" b="1" u="heavy" spc="-40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a</a:t>
            </a:r>
            <a:r>
              <a:rPr sz="1800" b="1" u="heavy" spc="-35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CSV</a:t>
            </a:r>
            <a:r>
              <a:rPr sz="1800" b="1" u="heavy" spc="-40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spc="-10" dirty="0">
                <a:solidFill>
                  <a:srgbClr val="233944"/>
                </a:solidFill>
                <a:uFill>
                  <a:solidFill>
                    <a:srgbClr val="233944"/>
                  </a:solidFill>
                </a:uFill>
                <a:latin typeface="Georgia"/>
                <a:cs typeface="Georgia"/>
              </a:rPr>
              <a:t>File:</a:t>
            </a:r>
            <a:endParaRPr sz="180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5"/>
              </a:spcBef>
            </a:pPr>
            <a:r>
              <a:rPr sz="1800" b="1" i="1" spc="-10" dirty="0">
                <a:solidFill>
                  <a:srgbClr val="BE9000"/>
                </a:solidFill>
                <a:latin typeface="Georgia"/>
                <a:cs typeface="Georgia"/>
              </a:rPr>
              <a:t>f.close()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949" y="307459"/>
            <a:ext cx="59061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/>
              <a:t>Steps</a:t>
            </a:r>
            <a:r>
              <a:rPr sz="3000" u="none" spc="-35" dirty="0"/>
              <a:t> </a:t>
            </a:r>
            <a:r>
              <a:rPr sz="3000" u="none" dirty="0"/>
              <a:t>to</a:t>
            </a:r>
            <a:r>
              <a:rPr sz="3000" u="none" spc="-30" dirty="0"/>
              <a:t> </a:t>
            </a:r>
            <a:r>
              <a:rPr sz="3000" u="none" dirty="0"/>
              <a:t>write</a:t>
            </a:r>
            <a:r>
              <a:rPr sz="3000" u="none" spc="-35" dirty="0"/>
              <a:t> </a:t>
            </a:r>
            <a:r>
              <a:rPr sz="3000" u="none" dirty="0"/>
              <a:t>data</a:t>
            </a:r>
            <a:r>
              <a:rPr sz="3000" u="none" spc="-35" dirty="0"/>
              <a:t> </a:t>
            </a:r>
            <a:r>
              <a:rPr sz="3000" u="none" dirty="0"/>
              <a:t>to</a:t>
            </a:r>
            <a:r>
              <a:rPr sz="3000" u="none" spc="-30" dirty="0"/>
              <a:t> </a:t>
            </a:r>
            <a:r>
              <a:rPr sz="3000" u="none" dirty="0"/>
              <a:t>a</a:t>
            </a:r>
            <a:r>
              <a:rPr sz="3000" u="none" spc="-30" dirty="0"/>
              <a:t> </a:t>
            </a:r>
            <a:r>
              <a:rPr sz="3000" u="none" spc="-25" dirty="0"/>
              <a:t>csv </a:t>
            </a:r>
            <a:r>
              <a:rPr sz="3000" u="none" spc="-1190" dirty="0"/>
              <a:t>file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6358" y="782980"/>
            <a:ext cx="4429760" cy="268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685" algn="l"/>
              </a:tabLst>
            </a:pP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1.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Import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module</a:t>
            </a:r>
            <a:endParaRPr sz="1800" dirty="0">
              <a:latin typeface="Georgia"/>
              <a:cs typeface="Georgia"/>
            </a:endParaRPr>
          </a:p>
          <a:p>
            <a:pPr marL="857885">
              <a:lnSpc>
                <a:spcPct val="100000"/>
              </a:lnSpc>
              <a:spcBef>
                <a:spcPts val="1600"/>
              </a:spcBef>
            </a:pPr>
            <a:r>
              <a:rPr sz="1800" b="1" i="1" dirty="0">
                <a:latin typeface="Georgia"/>
                <a:cs typeface="Georgia"/>
              </a:rPr>
              <a:t>import</a:t>
            </a:r>
            <a:r>
              <a:rPr sz="1800" b="1" i="1" spc="-100" dirty="0">
                <a:latin typeface="Georgia"/>
                <a:cs typeface="Georgia"/>
              </a:rPr>
              <a:t> </a:t>
            </a:r>
            <a:r>
              <a:rPr sz="1800" b="1" i="1" spc="-25" dirty="0">
                <a:latin typeface="Georgia"/>
                <a:cs typeface="Georgia"/>
              </a:rPr>
              <a:t>csv</a:t>
            </a:r>
            <a:endParaRPr sz="18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  <a:tabLst>
                <a:tab pos="400685" algn="l"/>
              </a:tabLst>
            </a:pPr>
            <a:r>
              <a:rPr lang="en-US" spc="-25" dirty="0">
                <a:solidFill>
                  <a:srgbClr val="233944"/>
                </a:solidFill>
                <a:latin typeface="Georgia"/>
                <a:cs typeface="Georgia"/>
              </a:rPr>
              <a:t>2</a:t>
            </a:r>
            <a:r>
              <a:rPr sz="1800" spc="-25" dirty="0" smtClean="0">
                <a:solidFill>
                  <a:srgbClr val="233944"/>
                </a:solidFill>
                <a:latin typeface="Georgia"/>
                <a:cs typeface="Georgia"/>
              </a:rPr>
              <a:t>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Open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mode.</a:t>
            </a:r>
            <a:endParaRPr sz="1800" dirty="0">
              <a:latin typeface="Georgia"/>
              <a:cs typeface="Georgia"/>
            </a:endParaRPr>
          </a:p>
          <a:p>
            <a:pPr marL="857885">
              <a:lnSpc>
                <a:spcPct val="100000"/>
              </a:lnSpc>
              <a:spcBef>
                <a:spcPts val="1600"/>
              </a:spcBef>
            </a:pPr>
            <a:r>
              <a:rPr sz="1800" b="1" i="1" dirty="0">
                <a:latin typeface="Georgia"/>
                <a:cs typeface="Georgia"/>
              </a:rPr>
              <a:t>f</a:t>
            </a:r>
            <a:r>
              <a:rPr sz="1800" b="1" i="1" spc="-10" dirty="0">
                <a:latin typeface="Georgia"/>
                <a:cs typeface="Georgia"/>
              </a:rPr>
              <a:t> </a:t>
            </a:r>
            <a:r>
              <a:rPr sz="1800" b="1" i="1" dirty="0">
                <a:latin typeface="Georgia"/>
                <a:cs typeface="Georgia"/>
              </a:rPr>
              <a:t>=</a:t>
            </a:r>
            <a:r>
              <a:rPr sz="1800" b="1" i="1" spc="-10" dirty="0">
                <a:latin typeface="Georgia"/>
                <a:cs typeface="Georgia"/>
              </a:rPr>
              <a:t> open(“csv_demo.csv”,”w”)</a:t>
            </a:r>
            <a:endParaRPr sz="18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  <a:tabLst>
                <a:tab pos="400685" algn="l"/>
              </a:tabLst>
            </a:pPr>
            <a:r>
              <a:rPr lang="en-US" spc="-25" dirty="0">
                <a:solidFill>
                  <a:srgbClr val="233944"/>
                </a:solidFill>
                <a:latin typeface="Georgia"/>
                <a:cs typeface="Georgia"/>
              </a:rPr>
              <a:t>3</a:t>
            </a:r>
            <a:r>
              <a:rPr sz="1800" spc="-25" dirty="0" smtClean="0">
                <a:solidFill>
                  <a:srgbClr val="233944"/>
                </a:solidFill>
                <a:latin typeface="Georgia"/>
                <a:cs typeface="Georgia"/>
              </a:rPr>
              <a:t>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Create</a:t>
            </a:r>
            <a:r>
              <a:rPr sz="1800" spc="-7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writer</a:t>
            </a:r>
            <a:r>
              <a:rPr sz="1800" spc="-7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object.</a:t>
            </a:r>
            <a:endParaRPr sz="1800" dirty="0">
              <a:latin typeface="Georgia"/>
              <a:cs typeface="Georgia"/>
            </a:endParaRPr>
          </a:p>
          <a:p>
            <a:pPr marL="857885">
              <a:lnSpc>
                <a:spcPct val="100000"/>
              </a:lnSpc>
              <a:spcBef>
                <a:spcPts val="1600"/>
              </a:spcBef>
            </a:pPr>
            <a:r>
              <a:rPr sz="1800" b="1" dirty="0">
                <a:solidFill>
                  <a:srgbClr val="233944"/>
                </a:solidFill>
                <a:latin typeface="Georgia"/>
                <a:cs typeface="Georgia"/>
              </a:rPr>
              <a:t>demo_writer</a:t>
            </a:r>
            <a:r>
              <a:rPr sz="1800" b="1" spc="-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233944"/>
                </a:solidFill>
                <a:latin typeface="Georgia"/>
                <a:cs typeface="Georgia"/>
              </a:rPr>
              <a:t>=</a:t>
            </a:r>
            <a:r>
              <a:rPr sz="1800" b="1" spc="-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b="1" spc="-80" dirty="0">
                <a:solidFill>
                  <a:srgbClr val="233944"/>
                </a:solidFill>
                <a:latin typeface="Georgia"/>
                <a:cs typeface="Georgia"/>
              </a:rPr>
              <a:t>csv.writer(f)</a:t>
            </a:r>
            <a:endParaRPr sz="18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358" y="3648100"/>
            <a:ext cx="60261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685" algn="l"/>
              </a:tabLst>
            </a:pPr>
            <a:r>
              <a:rPr lang="en-US" spc="-25" dirty="0">
                <a:solidFill>
                  <a:srgbClr val="233944"/>
                </a:solidFill>
                <a:latin typeface="Georgia"/>
                <a:cs typeface="Georgia"/>
              </a:rPr>
              <a:t>4</a:t>
            </a:r>
            <a:r>
              <a:rPr sz="1800" spc="-25" dirty="0" smtClean="0">
                <a:solidFill>
                  <a:srgbClr val="233944"/>
                </a:solidFill>
                <a:latin typeface="Georgia"/>
                <a:cs typeface="Georgia"/>
              </a:rPr>
              <a:t>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Write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using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methods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writerow()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or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writerows()</a:t>
            </a:r>
            <a:endParaRPr sz="1800" dirty="0">
              <a:latin typeface="Georgia"/>
              <a:cs typeface="Georgia"/>
            </a:endParaRPr>
          </a:p>
          <a:p>
            <a:pPr marL="857885">
              <a:lnSpc>
                <a:spcPct val="100000"/>
              </a:lnSpc>
            </a:pPr>
            <a:r>
              <a:rPr sz="1800" b="1" spc="-90" dirty="0">
                <a:solidFill>
                  <a:srgbClr val="233944"/>
                </a:solidFill>
                <a:latin typeface="Georgia"/>
                <a:cs typeface="Georgia"/>
              </a:rPr>
              <a:t>demo_writer.writerow(&lt;iterable_object&gt;)</a:t>
            </a:r>
            <a:endParaRPr sz="18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tabLst>
                <a:tab pos="400685" algn="l"/>
              </a:tabLst>
            </a:pPr>
            <a:r>
              <a:rPr lang="en-US" spc="-25" dirty="0">
                <a:solidFill>
                  <a:srgbClr val="233944"/>
                </a:solidFill>
                <a:latin typeface="Georgia"/>
                <a:cs typeface="Georgia"/>
              </a:rPr>
              <a:t>5</a:t>
            </a:r>
            <a:r>
              <a:rPr sz="1800" spc="-25" dirty="0" smtClean="0">
                <a:solidFill>
                  <a:srgbClr val="233944"/>
                </a:solidFill>
                <a:latin typeface="Georgia"/>
                <a:cs typeface="Georgia"/>
              </a:rPr>
              <a:t>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Close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endParaRPr sz="1800" dirty="0">
              <a:latin typeface="Georgia"/>
              <a:cs typeface="Georgia"/>
            </a:endParaRPr>
          </a:p>
          <a:p>
            <a:pPr marL="857885">
              <a:lnSpc>
                <a:spcPct val="100000"/>
              </a:lnSpc>
            </a:pPr>
            <a:r>
              <a:rPr sz="1800" b="1" i="1" spc="-10" dirty="0">
                <a:latin typeface="Georgia"/>
                <a:cs typeface="Georgia"/>
              </a:rPr>
              <a:t>f.close()</a:t>
            </a:r>
            <a:endParaRPr sz="180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8668" y="4646488"/>
            <a:ext cx="1778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33944"/>
                </a:solidFill>
                <a:latin typeface="Nunito"/>
                <a:cs typeface="Nunito"/>
              </a:rPr>
              <a:t>46</a:t>
            </a:r>
            <a:endParaRPr sz="1000">
              <a:latin typeface="Nunito"/>
              <a:cs typeface="Nuni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>
                <a:solidFill>
                  <a:srgbClr val="1B4587"/>
                </a:solidFill>
              </a:rPr>
              <a:t>Writing</a:t>
            </a:r>
            <a:r>
              <a:rPr sz="3000" u="none" spc="-5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in</a:t>
            </a:r>
            <a:r>
              <a:rPr sz="3000" u="none" spc="-55" dirty="0">
                <a:solidFill>
                  <a:srgbClr val="1B4587"/>
                </a:solidFill>
              </a:rPr>
              <a:t> </a:t>
            </a:r>
            <a:r>
              <a:rPr sz="3000" u="none" dirty="0">
                <a:solidFill>
                  <a:srgbClr val="1B4587"/>
                </a:solidFill>
              </a:rPr>
              <a:t>CSV</a:t>
            </a:r>
            <a:r>
              <a:rPr sz="3000" u="none" spc="-50" dirty="0">
                <a:solidFill>
                  <a:srgbClr val="1B4587"/>
                </a:solidFill>
              </a:rPr>
              <a:t> </a:t>
            </a:r>
            <a:r>
              <a:rPr sz="3000" u="none" spc="-335" dirty="0">
                <a:solidFill>
                  <a:srgbClr val="1B4587"/>
                </a:solidFill>
              </a:rPr>
              <a:t>Files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47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124" y="798455"/>
            <a:ext cx="6350635" cy="393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csv.writer()</a:t>
            </a:r>
            <a:r>
              <a:rPr sz="1800" b="1" u="heavy" spc="-6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spc="-5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:</a:t>
            </a:r>
            <a:endParaRPr sz="1800" dirty="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5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Returns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writer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object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which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writes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into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files.</a:t>
            </a:r>
            <a:endParaRPr sz="1800" dirty="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1920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writerow()</a:t>
            </a:r>
            <a:r>
              <a:rPr sz="1800" b="1" u="heavy" spc="-5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:</a:t>
            </a:r>
            <a:endParaRPr sz="1800" dirty="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5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one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row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onto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writer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object.</a:t>
            </a:r>
            <a:endParaRPr sz="1800" dirty="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5"/>
              </a:spcBef>
            </a:pP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Syntax</a:t>
            </a:r>
            <a:r>
              <a:rPr sz="1800" b="1" u="heavy" spc="-2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i="1" u="none" dirty="0">
                <a:solidFill>
                  <a:srgbClr val="BE9000"/>
                </a:solidFill>
                <a:latin typeface="Georgia"/>
                <a:cs typeface="Georgia"/>
              </a:rPr>
              <a:t>:</a:t>
            </a:r>
            <a:r>
              <a:rPr sz="1800" b="1" i="1" u="none" spc="-2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i="1" u="none" spc="-10" dirty="0">
                <a:solidFill>
                  <a:srgbClr val="BE9000"/>
                </a:solidFill>
                <a:latin typeface="Georgia"/>
                <a:cs typeface="Georgia"/>
              </a:rPr>
              <a:t>&lt;writer_object&gt;.writerow()</a:t>
            </a:r>
            <a:endParaRPr sz="1800" dirty="0">
              <a:latin typeface="Georgia"/>
              <a:cs typeface="Georgia"/>
            </a:endParaRPr>
          </a:p>
          <a:p>
            <a:pPr marL="379095" indent="-366395">
              <a:lnSpc>
                <a:spcPct val="100000"/>
              </a:lnSpc>
              <a:spcBef>
                <a:spcPts val="19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writerows()</a:t>
            </a:r>
            <a:r>
              <a:rPr sz="1800" b="1" u="heavy" spc="-55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spc="-5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:</a:t>
            </a:r>
            <a:endParaRPr sz="1800" dirty="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5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Writes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multiple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rows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into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writer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object</a:t>
            </a:r>
            <a:endParaRPr sz="1800" dirty="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0"/>
              </a:spcBef>
            </a:pP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Syntax</a:t>
            </a:r>
            <a:r>
              <a:rPr sz="1800" b="1" u="heavy" spc="-2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i="1" u="none" dirty="0">
                <a:solidFill>
                  <a:srgbClr val="BE9000"/>
                </a:solidFill>
                <a:latin typeface="Georgia"/>
                <a:cs typeface="Georgia"/>
              </a:rPr>
              <a:t>:</a:t>
            </a:r>
            <a:r>
              <a:rPr sz="1800" b="1" i="1" u="none" spc="-25" dirty="0">
                <a:solidFill>
                  <a:srgbClr val="BE9000"/>
                </a:solidFill>
                <a:latin typeface="Georgia"/>
                <a:cs typeface="Georgia"/>
              </a:rPr>
              <a:t> </a:t>
            </a:r>
            <a:r>
              <a:rPr sz="1800" b="1" i="1" u="none" spc="-10" dirty="0">
                <a:solidFill>
                  <a:srgbClr val="BE9000"/>
                </a:solidFill>
                <a:latin typeface="Georgia"/>
                <a:cs typeface="Georgia"/>
              </a:rPr>
              <a:t>&lt;writer_object&gt;.</a:t>
            </a:r>
            <a:r>
              <a:rPr sz="1800" b="1" i="1" u="none" spc="-10" dirty="0" err="1" smtClean="0">
                <a:solidFill>
                  <a:srgbClr val="BE9000"/>
                </a:solidFill>
                <a:latin typeface="Georgia"/>
                <a:cs typeface="Georgia"/>
              </a:rPr>
              <a:t>writerow</a:t>
            </a:r>
            <a:r>
              <a:rPr lang="en-US" sz="1800" b="1" i="1" u="none" spc="-10" dirty="0" err="1" smtClean="0">
                <a:solidFill>
                  <a:srgbClr val="BE9000"/>
                </a:solidFill>
                <a:latin typeface="Georgia"/>
                <a:cs typeface="Georgia"/>
              </a:rPr>
              <a:t>s</a:t>
            </a:r>
            <a:r>
              <a:rPr sz="1800" b="1" i="1" u="none" spc="-10" dirty="0" smtClean="0">
                <a:solidFill>
                  <a:srgbClr val="BE9000"/>
                </a:solidFill>
                <a:latin typeface="Georgia"/>
                <a:cs typeface="Georgia"/>
              </a:rPr>
              <a:t>()</a:t>
            </a:r>
            <a:endParaRPr sz="1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786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564" cy="5143529"/>
            <a:chOff x="0" y="0"/>
            <a:chExt cx="9144564" cy="5143529"/>
          </a:xfrm>
        </p:grpSpPr>
        <p:sp>
          <p:nvSpPr>
            <p:cNvPr id="4" name="object 4"/>
            <p:cNvSpPr/>
            <p:nvPr/>
          </p:nvSpPr>
          <p:spPr>
            <a:xfrm>
              <a:off x="30" y="2824500"/>
              <a:ext cx="7370445" cy="2319020"/>
            </a:xfrm>
            <a:custGeom>
              <a:avLst/>
              <a:gdLst/>
              <a:ahLst/>
              <a:cxnLst/>
              <a:rect l="l" t="t" r="r" b="b"/>
              <a:pathLst>
                <a:path w="7370445" h="2319020">
                  <a:moveTo>
                    <a:pt x="7370400" y="2318999"/>
                  </a:moveTo>
                  <a:lnTo>
                    <a:pt x="0" y="2318999"/>
                  </a:lnTo>
                  <a:lnTo>
                    <a:pt x="0" y="0"/>
                  </a:lnTo>
                  <a:lnTo>
                    <a:pt x="7370400" y="23189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2599" y="1550700"/>
              <a:ext cx="5561965" cy="3592829"/>
            </a:xfrm>
            <a:custGeom>
              <a:avLst/>
              <a:gdLst/>
              <a:ahLst/>
              <a:cxnLst/>
              <a:rect l="l" t="t" r="r" b="b"/>
              <a:pathLst>
                <a:path w="5561965" h="3592829">
                  <a:moveTo>
                    <a:pt x="5561399" y="3592799"/>
                  </a:moveTo>
                  <a:lnTo>
                    <a:pt x="0" y="3592799"/>
                  </a:lnTo>
                  <a:lnTo>
                    <a:pt x="5561399" y="0"/>
                  </a:lnTo>
                  <a:lnTo>
                    <a:pt x="5561399" y="35927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3224" y="206250"/>
              <a:ext cx="8737600" cy="4731385"/>
            </a:xfrm>
            <a:custGeom>
              <a:avLst/>
              <a:gdLst/>
              <a:ahLst/>
              <a:cxnLst/>
              <a:rect l="l" t="t" r="r" b="b"/>
              <a:pathLst>
                <a:path w="8737600" h="4731385">
                  <a:moveTo>
                    <a:pt x="8737499" y="4730999"/>
                  </a:moveTo>
                  <a:lnTo>
                    <a:pt x="0" y="4730999"/>
                  </a:lnTo>
                  <a:lnTo>
                    <a:pt x="0" y="0"/>
                  </a:lnTo>
                  <a:lnTo>
                    <a:pt x="8737499" y="0"/>
                  </a:lnTo>
                  <a:lnTo>
                    <a:pt x="8737499" y="473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50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4" y="-31884"/>
            <a:ext cx="8153963" cy="496951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71450"/>
            <a:ext cx="4952999" cy="4343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2012806"/>
            <a:ext cx="3124200" cy="250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04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175" y="903385"/>
            <a:ext cx="52076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none" dirty="0"/>
              <a:t>Reading</a:t>
            </a:r>
            <a:r>
              <a:rPr sz="3000" u="none" spc="-75" dirty="0"/>
              <a:t> </a:t>
            </a:r>
            <a:r>
              <a:rPr sz="3000" u="none" dirty="0"/>
              <a:t>from</a:t>
            </a:r>
            <a:r>
              <a:rPr sz="3000" u="none" spc="-70" dirty="0"/>
              <a:t> </a:t>
            </a:r>
            <a:r>
              <a:rPr sz="3000" u="none" dirty="0"/>
              <a:t>CSV</a:t>
            </a:r>
            <a:r>
              <a:rPr sz="3000" u="none" spc="-75" dirty="0"/>
              <a:t> </a:t>
            </a:r>
            <a:r>
              <a:rPr sz="3000" u="none" spc="-204" dirty="0"/>
              <a:t>Module</a:t>
            </a:r>
            <a:endParaRPr sz="3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51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5249" y="1708256"/>
            <a:ext cx="6968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To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from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files,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reader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function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of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module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is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used.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249" y="2745592"/>
            <a:ext cx="8061325" cy="133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u="heavy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csv.reader()</a:t>
            </a:r>
            <a:r>
              <a:rPr sz="1800" b="1" u="heavy" spc="-6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 </a:t>
            </a:r>
            <a:r>
              <a:rPr sz="1800" b="1" u="heavy" spc="-50" dirty="0">
                <a:solidFill>
                  <a:srgbClr val="BE9000"/>
                </a:solidFill>
                <a:uFill>
                  <a:solidFill>
                    <a:srgbClr val="BE9000"/>
                  </a:solidFill>
                </a:uFill>
                <a:latin typeface="Georgia"/>
                <a:cs typeface="Georgia"/>
              </a:rPr>
              <a:t>:</a:t>
            </a:r>
            <a:endParaRPr sz="180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5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Returns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reader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object.</a:t>
            </a:r>
            <a:endParaRPr sz="1800">
              <a:latin typeface="Georgia"/>
              <a:cs typeface="Georgia"/>
            </a:endParaRPr>
          </a:p>
          <a:p>
            <a:pPr marL="836294">
              <a:lnSpc>
                <a:spcPct val="100000"/>
              </a:lnSpc>
              <a:spcBef>
                <a:spcPts val="1920"/>
              </a:spcBef>
            </a:pP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It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loads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from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into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an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iterable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after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parsing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delimited</a:t>
            </a:r>
            <a:r>
              <a:rPr sz="1800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data.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sz="3000" u="none" dirty="0"/>
              <a:t>Steps</a:t>
            </a:r>
            <a:r>
              <a:rPr sz="3000" u="none" spc="-45" dirty="0"/>
              <a:t> </a:t>
            </a:r>
            <a:r>
              <a:rPr sz="3000" u="none" dirty="0"/>
              <a:t>to</a:t>
            </a:r>
            <a:r>
              <a:rPr sz="3000" u="none" spc="-45" dirty="0"/>
              <a:t> </a:t>
            </a:r>
            <a:r>
              <a:rPr sz="3000" u="none" dirty="0"/>
              <a:t>read</a:t>
            </a:r>
            <a:r>
              <a:rPr sz="3000" u="none" spc="-45" dirty="0"/>
              <a:t> </a:t>
            </a:r>
            <a:r>
              <a:rPr sz="3000" u="none" dirty="0"/>
              <a:t>data</a:t>
            </a:r>
            <a:r>
              <a:rPr sz="3000" u="none" spc="-40" dirty="0"/>
              <a:t> </a:t>
            </a:r>
            <a:r>
              <a:rPr sz="3000" u="none" dirty="0"/>
              <a:t>from</a:t>
            </a:r>
            <a:r>
              <a:rPr sz="3000" u="none" spc="-45" dirty="0"/>
              <a:t> </a:t>
            </a:r>
            <a:r>
              <a:rPr sz="3000" u="none" dirty="0"/>
              <a:t>a</a:t>
            </a:r>
            <a:r>
              <a:rPr sz="3000" u="none" spc="-45" dirty="0"/>
              <a:t> </a:t>
            </a:r>
            <a:r>
              <a:rPr sz="3000" u="none" dirty="0"/>
              <a:t>csv</a:t>
            </a:r>
            <a:r>
              <a:rPr sz="3000" u="none" spc="-50" dirty="0"/>
              <a:t> </a:t>
            </a:r>
            <a:r>
              <a:rPr sz="3000" u="none" spc="-1065" dirty="0"/>
              <a:t>file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6358" y="837306"/>
            <a:ext cx="4479290" cy="316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685" algn="l"/>
              </a:tabLst>
            </a:pP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1.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Import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5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module</a:t>
            </a:r>
            <a:endParaRPr sz="1800">
              <a:latin typeface="Georgia"/>
              <a:cs typeface="Georgia"/>
            </a:endParaRPr>
          </a:p>
          <a:p>
            <a:pPr marL="857885">
              <a:lnSpc>
                <a:spcPct val="100000"/>
              </a:lnSpc>
              <a:spcBef>
                <a:spcPts val="1600"/>
              </a:spcBef>
            </a:pPr>
            <a:r>
              <a:rPr sz="1800" b="1" i="1" dirty="0">
                <a:latin typeface="Georgia"/>
                <a:cs typeface="Georgia"/>
              </a:rPr>
              <a:t>import</a:t>
            </a:r>
            <a:r>
              <a:rPr sz="1800" b="1" i="1" spc="-100" dirty="0">
                <a:latin typeface="Georgia"/>
                <a:cs typeface="Georgia"/>
              </a:rPr>
              <a:t> </a:t>
            </a:r>
            <a:r>
              <a:rPr sz="1800" b="1" i="1" spc="-25" dirty="0">
                <a:latin typeface="Georgia"/>
                <a:cs typeface="Georgia"/>
              </a:rPr>
              <a:t>csv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  <a:tabLst>
                <a:tab pos="400685" algn="l"/>
              </a:tabLst>
            </a:pP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1.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Open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csv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in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</a:t>
            </a:r>
            <a:r>
              <a:rPr sz="1800" spc="-3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mode.</a:t>
            </a:r>
            <a:endParaRPr sz="1800">
              <a:latin typeface="Georgia"/>
              <a:cs typeface="Georgia"/>
            </a:endParaRPr>
          </a:p>
          <a:p>
            <a:pPr marL="857885">
              <a:lnSpc>
                <a:spcPct val="100000"/>
              </a:lnSpc>
              <a:spcBef>
                <a:spcPts val="1600"/>
              </a:spcBef>
            </a:pPr>
            <a:r>
              <a:rPr sz="1800" b="1" i="1" dirty="0">
                <a:latin typeface="Georgia"/>
                <a:cs typeface="Georgia"/>
              </a:rPr>
              <a:t>f</a:t>
            </a:r>
            <a:r>
              <a:rPr sz="1800" b="1" i="1" spc="-10" dirty="0">
                <a:latin typeface="Georgia"/>
                <a:cs typeface="Georgia"/>
              </a:rPr>
              <a:t> </a:t>
            </a:r>
            <a:r>
              <a:rPr sz="1800" b="1" i="1" dirty="0">
                <a:latin typeface="Georgia"/>
                <a:cs typeface="Georgia"/>
              </a:rPr>
              <a:t>=</a:t>
            </a:r>
            <a:r>
              <a:rPr sz="1800" b="1" i="1" spc="-10" dirty="0">
                <a:latin typeface="Georgia"/>
                <a:cs typeface="Georgia"/>
              </a:rPr>
              <a:t> open(“csv_demo.csv”,”r”)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  <a:tabLst>
                <a:tab pos="400685" algn="l"/>
              </a:tabLst>
            </a:pP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1.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Create</a:t>
            </a:r>
            <a:r>
              <a:rPr sz="1800" spc="-7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7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reader</a:t>
            </a:r>
            <a:r>
              <a:rPr sz="1800" spc="-6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233944"/>
                </a:solidFill>
                <a:latin typeface="Georgia"/>
                <a:cs typeface="Georgia"/>
              </a:rPr>
              <a:t>object.</a:t>
            </a:r>
            <a:endParaRPr sz="1800">
              <a:latin typeface="Georgia"/>
              <a:cs typeface="Georgia"/>
            </a:endParaRPr>
          </a:p>
          <a:p>
            <a:pPr marL="857885">
              <a:lnSpc>
                <a:spcPct val="100000"/>
              </a:lnSpc>
              <a:spcBef>
                <a:spcPts val="1600"/>
              </a:spcBef>
            </a:pPr>
            <a:r>
              <a:rPr sz="1800" b="1" i="1" dirty="0">
                <a:latin typeface="Georgia"/>
                <a:cs typeface="Georgia"/>
              </a:rPr>
              <a:t>demo_reader</a:t>
            </a:r>
            <a:r>
              <a:rPr sz="1800" b="1" i="1" spc="-30" dirty="0">
                <a:latin typeface="Georgia"/>
                <a:cs typeface="Georgia"/>
              </a:rPr>
              <a:t> </a:t>
            </a:r>
            <a:r>
              <a:rPr sz="1800" b="1" i="1" dirty="0">
                <a:latin typeface="Georgia"/>
                <a:cs typeface="Georgia"/>
              </a:rPr>
              <a:t>=</a:t>
            </a:r>
            <a:r>
              <a:rPr sz="1800" b="1" i="1" spc="-30" dirty="0">
                <a:latin typeface="Georgia"/>
                <a:cs typeface="Georgia"/>
              </a:rPr>
              <a:t> </a:t>
            </a:r>
            <a:r>
              <a:rPr sz="1800" b="1" i="1" spc="-10" dirty="0">
                <a:latin typeface="Georgia"/>
                <a:cs typeface="Georgia"/>
              </a:rPr>
              <a:t>csv.reader(f)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  <a:tabLst>
                <a:tab pos="400685" algn="l"/>
              </a:tabLst>
            </a:pP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1.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Fetch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data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through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for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loop,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row</a:t>
            </a:r>
            <a:r>
              <a:rPr sz="1800" spc="-5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by</a:t>
            </a:r>
            <a:r>
              <a:rPr sz="1800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row.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358" y="4251066"/>
            <a:ext cx="1830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685" algn="l"/>
              </a:tabLst>
            </a:pPr>
            <a:r>
              <a:rPr sz="1800" spc="-25" dirty="0">
                <a:solidFill>
                  <a:srgbClr val="233944"/>
                </a:solidFill>
                <a:latin typeface="Georgia"/>
                <a:cs typeface="Georgia"/>
              </a:rPr>
              <a:t>1.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	Close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233944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233944"/>
                </a:solidFill>
                <a:latin typeface="Georgia"/>
                <a:cs typeface="Georgia"/>
              </a:rPr>
              <a:t>file</a:t>
            </a:r>
            <a:endParaRPr sz="1800">
              <a:latin typeface="Georgia"/>
              <a:cs typeface="Georgia"/>
            </a:endParaRPr>
          </a:p>
          <a:p>
            <a:pPr marL="857885">
              <a:lnSpc>
                <a:spcPct val="100000"/>
              </a:lnSpc>
            </a:pPr>
            <a:r>
              <a:rPr sz="1800" b="1" i="1" spc="-10" dirty="0">
                <a:latin typeface="Georgia"/>
                <a:cs typeface="Georgia"/>
              </a:rPr>
              <a:t>f.close()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8668" y="4646488"/>
            <a:ext cx="1778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33944"/>
                </a:solidFill>
                <a:latin typeface="Nunito"/>
                <a:cs typeface="Nunito"/>
              </a:rPr>
              <a:t>52</a:t>
            </a:r>
            <a:endParaRPr sz="1000">
              <a:latin typeface="Nunito"/>
              <a:cs typeface="Nun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53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85750"/>
            <a:ext cx="8185343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56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581150"/>
            <a:ext cx="8763000" cy="2105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800" b="0" u="sng" spc="-430" dirty="0" err="1" smtClean="0">
                <a:solidFill>
                  <a:srgbClr val="FF0000"/>
                </a:solidFill>
                <a:latin typeface="Palatino Linotype"/>
                <a:cs typeface="Palatino Linotype"/>
              </a:rPr>
              <a:t>Aaj</a:t>
            </a:r>
            <a:r>
              <a:rPr lang="en-US" sz="2800" b="0" u="sng" spc="-430" dirty="0" smtClean="0">
                <a:solidFill>
                  <a:srgbClr val="FF0000"/>
                </a:solidFill>
                <a:latin typeface="Palatino Linotype"/>
                <a:cs typeface="Palatino Linotype"/>
              </a:rPr>
              <a:t>   </a:t>
            </a:r>
            <a:r>
              <a:rPr lang="en-US" sz="2800" b="0" u="sng" spc="-430" dirty="0" err="1" smtClean="0">
                <a:solidFill>
                  <a:srgbClr val="FF0000"/>
                </a:solidFill>
                <a:latin typeface="Palatino Linotype"/>
                <a:cs typeface="Palatino Linotype"/>
              </a:rPr>
              <a:t>ka</a:t>
            </a:r>
            <a:r>
              <a:rPr lang="en-US" sz="2800" b="0" u="sng" spc="-430" dirty="0" smtClean="0">
                <a:solidFill>
                  <a:srgbClr val="FF0000"/>
                </a:solidFill>
                <a:latin typeface="Palatino Linotype"/>
                <a:cs typeface="Palatino Linotype"/>
              </a:rPr>
              <a:t>   </a:t>
            </a:r>
            <a:r>
              <a:rPr lang="en-US" sz="2800" b="0" u="sng" spc="-430" dirty="0" err="1" smtClean="0">
                <a:solidFill>
                  <a:srgbClr val="FF0000"/>
                </a:solidFill>
                <a:latin typeface="Palatino Linotype"/>
                <a:cs typeface="Palatino Linotype"/>
              </a:rPr>
              <a:t>Gyan</a:t>
            </a:r>
            <a:r>
              <a:rPr lang="en-US" sz="2800" b="0" u="sng" spc="-430" dirty="0" smtClean="0">
                <a:solidFill>
                  <a:srgbClr val="FF0000"/>
                </a:solidFill>
                <a:latin typeface="Palatino Linotype"/>
                <a:cs typeface="Palatino Linotype"/>
              </a:rPr>
              <a:t>  :    </a:t>
            </a:r>
            <a:r>
              <a:rPr lang="en-US" sz="2800" b="0" u="none" spc="-430" dirty="0" smtClean="0">
                <a:solidFill>
                  <a:srgbClr val="1B4587"/>
                </a:solidFill>
                <a:latin typeface="Palatino Linotype"/>
                <a:cs typeface="Palatino Linotype"/>
              </a:rPr>
              <a:t/>
            </a:r>
            <a:br>
              <a:rPr lang="en-US" sz="2800" b="0" u="none" spc="-430" dirty="0" smtClean="0">
                <a:solidFill>
                  <a:srgbClr val="1B4587"/>
                </a:solidFill>
                <a:latin typeface="Palatino Linotype"/>
                <a:cs typeface="Palatino Linotype"/>
              </a:rPr>
            </a:br>
            <a:r>
              <a:rPr lang="en-US" sz="3600" u="none" dirty="0"/>
              <a:t>“Be mindful of what you write into your life; one day, you’ll read it back.”</a:t>
            </a:r>
            <a:endParaRPr sz="3600" u="none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</TotalTime>
  <Words>1862</Words>
  <Application>Microsoft Office PowerPoint</Application>
  <PresentationFormat>On-screen Show (16:9)</PresentationFormat>
  <Paragraphs>309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Arial</vt:lpstr>
      <vt:lpstr>Brush Script MT</vt:lpstr>
      <vt:lpstr>Calibri</vt:lpstr>
      <vt:lpstr>Georgia</vt:lpstr>
      <vt:lpstr>MS PMincho</vt:lpstr>
      <vt:lpstr>Nunito</vt:lpstr>
      <vt:lpstr>Palatino Linotype</vt:lpstr>
      <vt:lpstr>Wingdings</vt:lpstr>
      <vt:lpstr>Office Theme</vt:lpstr>
      <vt:lpstr>File Handling</vt:lpstr>
      <vt:lpstr>INTRODUCTION</vt:lpstr>
      <vt:lpstr>TEXT FILE</vt:lpstr>
      <vt:lpstr>BINARY FILE</vt:lpstr>
      <vt:lpstr>CSV FILES</vt:lpstr>
      <vt:lpstr>STEPS TO PROCESS A FILE</vt:lpstr>
      <vt:lpstr>OPENING A TEXT FILE</vt:lpstr>
      <vt:lpstr>Various Modes for opening a text file are:</vt:lpstr>
      <vt:lpstr>CLOSING A FILE</vt:lpstr>
      <vt:lpstr>READING FROM A FILE</vt:lpstr>
      <vt:lpstr>read() METHOD</vt:lpstr>
      <vt:lpstr>PowerPoint Presentation</vt:lpstr>
      <vt:lpstr>readline() METHOD</vt:lpstr>
      <vt:lpstr>Reading a complete file line by line using readline().</vt:lpstr>
      <vt:lpstr>readlines() METHOD</vt:lpstr>
      <vt:lpstr>Read a file using Readlines()</vt:lpstr>
      <vt:lpstr>PowerPoint Presentation</vt:lpstr>
      <vt:lpstr>PowerPoint Presentation</vt:lpstr>
      <vt:lpstr>WRITING TO A TEXT FILE</vt:lpstr>
      <vt:lpstr>write() Method</vt:lpstr>
      <vt:lpstr>writelines() METHOD</vt:lpstr>
      <vt:lpstr>PowerPoint Presentation</vt:lpstr>
      <vt:lpstr>The flush()</vt:lpstr>
      <vt:lpstr>PowerPoint Presentation</vt:lpstr>
      <vt:lpstr>DATA FILE HANDLING IN BINARY FILES</vt:lpstr>
      <vt:lpstr>PowerPoint Presentation</vt:lpstr>
      <vt:lpstr>Pickling and Unpickling</vt:lpstr>
      <vt:lpstr>PICKLE Module</vt:lpstr>
      <vt:lpstr>Opening and closing binary files</vt:lpstr>
      <vt:lpstr>PowerPoint Presentation</vt:lpstr>
      <vt:lpstr>pickle.dump() Method</vt:lpstr>
      <vt:lpstr>PowerPoint Presentation</vt:lpstr>
      <vt:lpstr>pickle.load() Method</vt:lpstr>
      <vt:lpstr>PowerPoint Presentation</vt:lpstr>
      <vt:lpstr>Random Access in Files : tell() and seek()</vt:lpstr>
      <vt:lpstr>PowerPoint Presentation</vt:lpstr>
      <vt:lpstr>PowerPoint Presentation</vt:lpstr>
      <vt:lpstr>Demo of tell() +seek()</vt:lpstr>
      <vt:lpstr>CSV files</vt:lpstr>
      <vt:lpstr>Python CSV Module</vt:lpstr>
      <vt:lpstr>Opening / Closing a CSV File</vt:lpstr>
      <vt:lpstr>Steps to write data to a csv file</vt:lpstr>
      <vt:lpstr>Writing in CSV Files</vt:lpstr>
      <vt:lpstr>PowerPoint Presentation</vt:lpstr>
      <vt:lpstr>PowerPoint Presentation</vt:lpstr>
      <vt:lpstr>Reading from CSV Module</vt:lpstr>
      <vt:lpstr>Steps to read data from a csv file</vt:lpstr>
      <vt:lpstr>PowerPoint Presentation</vt:lpstr>
      <vt:lpstr>Aaj   ka   Gyan  :     “Be mindful of what you write into your life; one day, you’ll read it back.”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PalikaC</dc:creator>
  <cp:lastModifiedBy>PalikaC</cp:lastModifiedBy>
  <cp:revision>15</cp:revision>
  <dcterms:created xsi:type="dcterms:W3CDTF">2025-05-02T02:00:40Z</dcterms:created>
  <dcterms:modified xsi:type="dcterms:W3CDTF">2026-02-18T05:49:05Z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2024-09-26T00:00:00Z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2024-09-26T00:00:00Z</vt:filetime>
  </property>
</Properties>
</file>