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79" r:id="rId4"/>
    <p:sldId id="280" r:id="rId5"/>
    <p:sldId id="281" r:id="rId6"/>
    <p:sldId id="282" r:id="rId7"/>
    <p:sldId id="259" r:id="rId8"/>
    <p:sldId id="270" r:id="rId9"/>
    <p:sldId id="258" r:id="rId10"/>
    <p:sldId id="271" r:id="rId11"/>
    <p:sldId id="272" r:id="rId12"/>
    <p:sldId id="260" r:id="rId13"/>
    <p:sldId id="273" r:id="rId14"/>
    <p:sldId id="274" r:id="rId15"/>
    <p:sldId id="275" r:id="rId16"/>
    <p:sldId id="276" r:id="rId17"/>
    <p:sldId id="262" r:id="rId18"/>
    <p:sldId id="277" r:id="rId19"/>
    <p:sldId id="278" r:id="rId20"/>
    <p:sldId id="285" r:id="rId21"/>
    <p:sldId id="286" r:id="rId22"/>
    <p:sldId id="284" r:id="rId23"/>
    <p:sldId id="283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83C0"/>
    <a:srgbClr val="E9B115"/>
    <a:srgbClr val="2845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96348D-CBF3-45CE-AC51-769C2203D1B6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18E36A-D260-42E8-AE69-589A167AF4F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18E36A-D260-42E8-AE69-589A167AF4F7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18E36A-D260-42E8-AE69-589A167AF4F7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18E36A-D260-42E8-AE69-589A167AF4F7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F82A-3CC9-4C52-A6B0-4A8400409751}" type="datetime2">
              <a:rPr lang="en-US" smtClean="0"/>
              <a:t>Friday, January 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76811-D97F-47E7-B0CA-B1148B86A0B8}" type="datetime2">
              <a:rPr lang="en-US" smtClean="0"/>
              <a:t>Friday, January 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EAE36-983C-41BD-A844-F40497E15F90}" type="datetime2">
              <a:rPr lang="en-US" smtClean="0"/>
              <a:t>Friday, January 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2E9A9-733A-4666-B680-EA3840CA8144}" type="datetime2">
              <a:rPr lang="en-US" smtClean="0"/>
              <a:t>Friday, January 9,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2F1DC-DF96-4263-9F48-8D79AC5C22AD}" type="datetime2">
              <a:rPr lang="en-US" smtClean="0"/>
              <a:t>Friday, January 9,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41D6F-B4C5-4ACA-B954-0F81EAD629FC}" type="datetime2">
              <a:rPr lang="en-US" smtClean="0"/>
              <a:t>Friday, January 9,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72BB9-829D-437C-B173-00850E76F80B}" type="datetime2">
              <a:rPr lang="en-US" smtClean="0"/>
              <a:t>Friday, January 9,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FE1DA-E3EF-46C4-AF3A-B4CB50B37281}" type="datetime2">
              <a:rPr lang="en-US" smtClean="0"/>
              <a:t>Friday, January 9,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5A5E6-5537-449C-A1C6-710D32769FC1}" type="datetime2">
              <a:rPr lang="en-US" smtClean="0"/>
              <a:t>Friday, January 9,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CAF46-B7E1-43B3-9CB7-9B444F6C344C}" type="datetime2">
              <a:rPr lang="en-US" smtClean="0"/>
              <a:t>Friday, January 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C5C98-8DF4-4331-B72D-0F65AACFC217}" type="datetime2">
              <a:rPr lang="en-US" smtClean="0"/>
              <a:t>Friday, January 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75173A-B451-4AF8-A995-C0D39B665726}" type="datetime2">
              <a:rPr lang="en-US" smtClean="0"/>
              <a:t>Friday, January 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55F5E-5CC4-48A2-94FE-FDC3CB0B79E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4348" y="928670"/>
            <a:ext cx="7772400" cy="147002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A83C0"/>
                </a:solidFill>
              </a:rPr>
              <a:t>Python </a:t>
            </a:r>
            <a:r>
              <a:rPr lang="en-US" b="1" dirty="0" smtClean="0">
                <a:solidFill>
                  <a:srgbClr val="E9B115"/>
                </a:solidFill>
              </a:rPr>
              <a:t>Basics</a:t>
            </a:r>
            <a:endParaRPr lang="en-US" b="1" dirty="0"/>
          </a:p>
        </p:txBody>
      </p:sp>
      <p:sp>
        <p:nvSpPr>
          <p:cNvPr id="1026" name="AutoShape 2" descr="Python Logo png download - 640*480 - Free Transparent Python png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8" name="AutoShape 4" descr="Python Logo png download - 640*480 - Free Transparent Python png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9" name="Picture 5" descr="C:\Users\Exam\Downloads\download (2)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8992" y="2786058"/>
            <a:ext cx="2143125" cy="21431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2845A2"/>
                </a:solidFill>
              </a:rPr>
              <a:t>Content</a:t>
            </a:r>
            <a:endParaRPr lang="en-US" sz="3600" b="1" dirty="0">
              <a:solidFill>
                <a:srgbClr val="2845A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What Is Python?</a:t>
            </a:r>
          </a:p>
          <a:p>
            <a:r>
              <a:rPr lang="en-US" dirty="0"/>
              <a:t>Python Features</a:t>
            </a:r>
          </a:p>
          <a:p>
            <a:r>
              <a:rPr lang="en-US" dirty="0"/>
              <a:t>Python </a:t>
            </a:r>
            <a:r>
              <a:rPr lang="en-US" dirty="0" smtClean="0"/>
              <a:t>Applications</a:t>
            </a:r>
          </a:p>
          <a:p>
            <a:r>
              <a:rPr lang="en-US" dirty="0" smtClean="0"/>
              <a:t>Comments in Python</a:t>
            </a:r>
          </a:p>
          <a:p>
            <a:r>
              <a:rPr lang="en-US" dirty="0" smtClean="0"/>
              <a:t>Variable Declaration in Python</a:t>
            </a:r>
          </a:p>
          <a:p>
            <a:r>
              <a:rPr lang="en-US" dirty="0" smtClean="0"/>
              <a:t>Data Types in Python</a:t>
            </a:r>
          </a:p>
          <a:p>
            <a:r>
              <a:rPr lang="en-US" dirty="0" smtClean="0"/>
              <a:t>Type Conversion in Python</a:t>
            </a:r>
          </a:p>
          <a:p>
            <a:r>
              <a:rPr lang="en-US" dirty="0" smtClean="0"/>
              <a:t>Operators in Python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15A8B-716D-434D-9B15-B4ACE4709E4F}" type="datetime2">
              <a:rPr lang="en-US" smtClean="0"/>
              <a:t>Friday, January 9,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What Is </a:t>
            </a:r>
            <a:r>
              <a:rPr lang="en-US" sz="3600" b="1" dirty="0" smtClean="0">
                <a:solidFill>
                  <a:srgbClr val="0A83C0"/>
                </a:solidFill>
              </a:rPr>
              <a:t>Python</a:t>
            </a:r>
            <a:r>
              <a:rPr lang="en-US" sz="3600" b="1" dirty="0" smtClean="0"/>
              <a:t>?</a:t>
            </a:r>
            <a:endParaRPr lang="en-US" sz="3600" b="1" dirty="0" smtClean="0">
              <a:solidFill>
                <a:srgbClr val="E9B115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8229600" cy="535785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sz="2800" b="1" dirty="0">
                <a:solidFill>
                  <a:srgbClr val="0A83C0"/>
                </a:solidFill>
              </a:rPr>
              <a:t>Python</a:t>
            </a:r>
            <a:r>
              <a:rPr lang="en-US" sz="2800" dirty="0"/>
              <a:t> is a general purpose, high-level, interpreted programming </a:t>
            </a:r>
            <a:r>
              <a:rPr lang="en-US" sz="2800" dirty="0" smtClean="0"/>
              <a:t>language.</a:t>
            </a:r>
          </a:p>
          <a:p>
            <a:pPr algn="just"/>
            <a:endParaRPr lang="en-US" sz="2800" dirty="0" smtClean="0"/>
          </a:p>
          <a:p>
            <a:pPr algn="just"/>
            <a:r>
              <a:rPr lang="en-US" sz="2800" dirty="0" smtClean="0"/>
              <a:t>Developed </a:t>
            </a:r>
            <a:r>
              <a:rPr lang="en-US" sz="2800" dirty="0"/>
              <a:t>by </a:t>
            </a:r>
            <a:r>
              <a:rPr lang="en-US" sz="2800" b="1" dirty="0">
                <a:solidFill>
                  <a:srgbClr val="00B050"/>
                </a:solidFill>
              </a:rPr>
              <a:t>Guido van Rossum</a:t>
            </a:r>
            <a:r>
              <a:rPr lang="en-US" sz="2800" dirty="0"/>
              <a:t> in the </a:t>
            </a:r>
            <a:endParaRPr lang="en-US" sz="2800" dirty="0" smtClean="0"/>
          </a:p>
          <a:p>
            <a:pPr algn="just">
              <a:buNone/>
            </a:pPr>
            <a:r>
              <a:rPr lang="en-US" sz="2800" dirty="0"/>
              <a:t>	</a:t>
            </a:r>
            <a:r>
              <a:rPr lang="en-US" sz="2800" dirty="0" smtClean="0"/>
              <a:t>late </a:t>
            </a:r>
            <a:r>
              <a:rPr lang="en-US" sz="2800" dirty="0"/>
              <a:t>1980s at the National </a:t>
            </a:r>
            <a:r>
              <a:rPr lang="en-US" sz="2800" dirty="0" smtClean="0"/>
              <a:t>Research </a:t>
            </a:r>
          </a:p>
          <a:p>
            <a:pPr algn="just">
              <a:buNone/>
            </a:pPr>
            <a:r>
              <a:rPr lang="en-US" sz="2800" dirty="0"/>
              <a:t>	</a:t>
            </a:r>
            <a:r>
              <a:rPr lang="en-US" sz="2800" dirty="0" smtClean="0"/>
              <a:t>Institute </a:t>
            </a:r>
            <a:r>
              <a:rPr lang="en-US" sz="2800" dirty="0"/>
              <a:t>for Mathematics and </a:t>
            </a:r>
            <a:r>
              <a:rPr lang="en-US" sz="2800" dirty="0" smtClean="0"/>
              <a:t>Computer </a:t>
            </a:r>
          </a:p>
          <a:p>
            <a:pPr algn="just">
              <a:buNone/>
            </a:pPr>
            <a:r>
              <a:rPr lang="en-US" sz="2800" dirty="0"/>
              <a:t>	</a:t>
            </a:r>
            <a:r>
              <a:rPr lang="en-US" sz="2800" dirty="0" smtClean="0"/>
              <a:t>Science </a:t>
            </a:r>
            <a:r>
              <a:rPr lang="en-US" sz="2800" dirty="0"/>
              <a:t>in the Netherlands</a:t>
            </a:r>
            <a:r>
              <a:rPr lang="en-US" sz="2800" dirty="0" smtClean="0"/>
              <a:t>.</a:t>
            </a:r>
          </a:p>
          <a:p>
            <a:pPr algn="just"/>
            <a:endParaRPr lang="en-US" sz="2800" dirty="0" smtClean="0"/>
          </a:p>
          <a:p>
            <a:pPr algn="just"/>
            <a:r>
              <a:rPr lang="en-US" sz="2800" b="1" dirty="0">
                <a:solidFill>
                  <a:srgbClr val="0A83C0"/>
                </a:solidFill>
              </a:rPr>
              <a:t>Python</a:t>
            </a:r>
            <a:r>
              <a:rPr lang="en-US" sz="2800" dirty="0"/>
              <a:t> is one of the most popular and widely used programming language used for set of tasks including console based, GUI based, web programming and data analysis</a:t>
            </a:r>
            <a:r>
              <a:rPr lang="en-US" sz="2800" dirty="0" smtClean="0"/>
              <a:t>.</a:t>
            </a:r>
          </a:p>
          <a:p>
            <a:pPr algn="just">
              <a:buNone/>
            </a:pPr>
            <a:endParaRPr lang="en-US" sz="2800" dirty="0"/>
          </a:p>
          <a:p>
            <a:pPr algn="just">
              <a:buNone/>
            </a:pPr>
            <a:r>
              <a:rPr lang="en-US" sz="2800" b="1" dirty="0" smtClean="0"/>
              <a:t>Fact: </a:t>
            </a:r>
            <a:r>
              <a:rPr lang="en-US" sz="2800" b="1" dirty="0" smtClean="0">
                <a:solidFill>
                  <a:srgbClr val="0A83C0"/>
                </a:solidFill>
              </a:rPr>
              <a:t>Python</a:t>
            </a:r>
            <a:r>
              <a:rPr lang="en-US" sz="2800" dirty="0" smtClean="0"/>
              <a:t> </a:t>
            </a:r>
            <a:r>
              <a:rPr lang="en-US" sz="2800" dirty="0"/>
              <a:t>is named </a:t>
            </a:r>
            <a:r>
              <a:rPr lang="en-US" sz="2800" dirty="0" smtClean="0"/>
              <a:t>based on </a:t>
            </a:r>
            <a:r>
              <a:rPr lang="en-US" sz="2800" dirty="0"/>
              <a:t>the comedy television show </a:t>
            </a:r>
            <a:r>
              <a:rPr lang="en-US" sz="2800" i="1" dirty="0">
                <a:solidFill>
                  <a:srgbClr val="C00000"/>
                </a:solidFill>
              </a:rPr>
              <a:t>Monty Python's Flying Circus</a:t>
            </a:r>
            <a:r>
              <a:rPr lang="en-US" sz="2800" dirty="0"/>
              <a:t>.</a:t>
            </a:r>
            <a:endParaRPr lang="en-US" sz="2800" b="1" dirty="0"/>
          </a:p>
        </p:txBody>
      </p:sp>
      <p:pic>
        <p:nvPicPr>
          <p:cNvPr id="4098" name="Picture 2" descr="C:\Users\Exam\Downloads\images (4)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57950" y="1857364"/>
            <a:ext cx="2000263" cy="1857388"/>
          </a:xfrm>
          <a:prstGeom prst="rect">
            <a:avLst/>
          </a:prstGeom>
          <a:noFill/>
        </p:spPr>
      </p:pic>
      <p:cxnSp>
        <p:nvCxnSpPr>
          <p:cNvPr id="5" name="Straight Connector 4"/>
          <p:cNvCxnSpPr/>
          <p:nvPr/>
        </p:nvCxnSpPr>
        <p:spPr>
          <a:xfrm>
            <a:off x="0" y="1000108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DD9AC-F220-4F7E-9B8D-4EF073C3C78A}" type="datetime2">
              <a:rPr lang="en-US" smtClean="0"/>
              <a:t>Friday, January 9,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18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142852"/>
            <a:ext cx="8229600" cy="796908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0A83C0"/>
                </a:solidFill>
              </a:rPr>
              <a:t>Python </a:t>
            </a:r>
            <a:r>
              <a:rPr lang="en-US" sz="3600" b="1" dirty="0" smtClean="0">
                <a:solidFill>
                  <a:srgbClr val="E9B115"/>
                </a:solidFill>
              </a:rPr>
              <a:t>Features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000108"/>
            <a:ext cx="8229600" cy="5500726"/>
          </a:xfrm>
        </p:spPr>
        <p:txBody>
          <a:bodyPr>
            <a:normAutofit/>
          </a:bodyPr>
          <a:lstStyle/>
          <a:p>
            <a:r>
              <a:rPr lang="en-US" sz="2800" b="1" dirty="0"/>
              <a:t>Easy to Learn and Use</a:t>
            </a:r>
          </a:p>
          <a:p>
            <a:pPr algn="just">
              <a:buNone/>
            </a:pPr>
            <a:r>
              <a:rPr lang="en-US" sz="2800" dirty="0" smtClean="0"/>
              <a:t>	</a:t>
            </a:r>
            <a:r>
              <a:rPr lang="en-US" sz="2400" dirty="0" smtClean="0"/>
              <a:t>Python </a:t>
            </a:r>
            <a:r>
              <a:rPr lang="en-US" sz="2400" dirty="0"/>
              <a:t>is easy to learn and use compared with other programming languages. It is developer-friendly and high level programming language</a:t>
            </a:r>
            <a:r>
              <a:rPr lang="en-US" sz="2400" dirty="0" smtClean="0"/>
              <a:t>.</a:t>
            </a:r>
          </a:p>
          <a:p>
            <a:r>
              <a:rPr lang="en-US" sz="2800" b="1" dirty="0" smtClean="0"/>
              <a:t>Interpreted </a:t>
            </a:r>
            <a:r>
              <a:rPr lang="en-US" sz="2800" b="1" dirty="0"/>
              <a:t>Language</a:t>
            </a:r>
          </a:p>
          <a:p>
            <a:pPr algn="just">
              <a:buNone/>
            </a:pPr>
            <a:r>
              <a:rPr lang="en-US" sz="2800" dirty="0" smtClean="0"/>
              <a:t>	</a:t>
            </a:r>
            <a:r>
              <a:rPr lang="en-US" sz="2400" dirty="0" smtClean="0"/>
              <a:t>Python </a:t>
            </a:r>
            <a:r>
              <a:rPr lang="en-US" sz="2400" dirty="0"/>
              <a:t>is an interpreted language because no need of compilation. This makes debugging easy and thus suitable for beginners</a:t>
            </a:r>
            <a:r>
              <a:rPr lang="en-US" sz="2400" dirty="0" smtClean="0"/>
              <a:t>.</a:t>
            </a:r>
          </a:p>
          <a:p>
            <a:r>
              <a:rPr lang="en-US" sz="2800" b="1" dirty="0" smtClean="0"/>
              <a:t>Cross-platform </a:t>
            </a:r>
            <a:r>
              <a:rPr lang="en-US" sz="2800" b="1" dirty="0"/>
              <a:t>Language</a:t>
            </a:r>
          </a:p>
          <a:p>
            <a:pPr algn="just">
              <a:buNone/>
            </a:pPr>
            <a:r>
              <a:rPr lang="en-US" sz="2800" dirty="0" smtClean="0"/>
              <a:t>	</a:t>
            </a:r>
            <a:r>
              <a:rPr lang="en-US" sz="2400" dirty="0" smtClean="0"/>
              <a:t>Python </a:t>
            </a:r>
            <a:r>
              <a:rPr lang="en-US" sz="2400" dirty="0"/>
              <a:t>can run equally on different platforms such as Windows, Linux, Unix and Macintosh etc. So, we can say that Python is a portable language.</a:t>
            </a:r>
          </a:p>
          <a:p>
            <a:endParaRPr lang="en-US" sz="2800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57232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5083D-C3BD-4EAE-B8DF-0B4E64B58CA8}" type="datetime2">
              <a:rPr lang="en-US" smtClean="0"/>
              <a:t>Friday, January 9,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225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0A83C0"/>
                </a:solidFill>
              </a:rPr>
              <a:t>		Python </a:t>
            </a:r>
            <a:r>
              <a:rPr lang="en-US" sz="3600" b="1" dirty="0" smtClean="0">
                <a:solidFill>
                  <a:srgbClr val="E9B115"/>
                </a:solidFill>
              </a:rPr>
              <a:t>Features                </a:t>
            </a:r>
            <a:r>
              <a:rPr lang="en-US" sz="2400" b="1" dirty="0" smtClean="0"/>
              <a:t>Cont…</a:t>
            </a:r>
            <a:endParaRPr lang="en-US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8229600" cy="5357850"/>
          </a:xfrm>
        </p:spPr>
        <p:txBody>
          <a:bodyPr>
            <a:normAutofit lnSpcReduction="10000"/>
          </a:bodyPr>
          <a:lstStyle/>
          <a:p>
            <a:r>
              <a:rPr lang="en-US" sz="2800" b="1" dirty="0" smtClean="0"/>
              <a:t>Free and Open Source</a:t>
            </a:r>
          </a:p>
          <a:p>
            <a:pPr algn="just">
              <a:buNone/>
            </a:pPr>
            <a:r>
              <a:rPr lang="en-US" sz="2800" dirty="0" smtClean="0"/>
              <a:t>	</a:t>
            </a:r>
            <a:r>
              <a:rPr lang="en-US" sz="2600" dirty="0" smtClean="0"/>
              <a:t>The Python interpreter is developed under an open-source license, making it free to install, use, and distribute.</a:t>
            </a:r>
          </a:p>
          <a:p>
            <a:r>
              <a:rPr lang="en-US" sz="2800" b="1" dirty="0" smtClean="0"/>
              <a:t>Object-Oriented Language</a:t>
            </a:r>
          </a:p>
          <a:p>
            <a:pPr algn="just">
              <a:buNone/>
            </a:pPr>
            <a:r>
              <a:rPr lang="en-US" sz="2800" dirty="0" smtClean="0"/>
              <a:t>	</a:t>
            </a:r>
            <a:r>
              <a:rPr lang="en-US" sz="2600" dirty="0" smtClean="0"/>
              <a:t>Python supports object oriented language and concepts of classes and objects come into existence.</a:t>
            </a:r>
          </a:p>
          <a:p>
            <a:r>
              <a:rPr lang="en-US" sz="2800" b="1" dirty="0" smtClean="0"/>
              <a:t>GUI Programming Support</a:t>
            </a:r>
          </a:p>
          <a:p>
            <a:pPr>
              <a:buNone/>
            </a:pPr>
            <a:r>
              <a:rPr lang="en-US" sz="2800" dirty="0" smtClean="0"/>
              <a:t>	</a:t>
            </a:r>
            <a:r>
              <a:rPr lang="en-US" sz="2600" dirty="0" smtClean="0"/>
              <a:t>Graphical user interfaces can be developed using Python.</a:t>
            </a:r>
          </a:p>
          <a:p>
            <a:r>
              <a:rPr lang="en-US" sz="2800" b="1" dirty="0" smtClean="0"/>
              <a:t>Integrated</a:t>
            </a:r>
          </a:p>
          <a:p>
            <a:pPr>
              <a:buNone/>
            </a:pPr>
            <a:r>
              <a:rPr lang="en-US" sz="2800" dirty="0" smtClean="0"/>
              <a:t>	</a:t>
            </a:r>
            <a:r>
              <a:rPr lang="en-US" sz="2400" dirty="0" smtClean="0"/>
              <a:t>It can be easily integrated with languages like C, C++, and JAVA etc.</a:t>
            </a:r>
            <a:endParaRPr lang="en-US" sz="2400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071546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59A67-EBED-4919-9210-65A4A2DCBF07}" type="datetime2">
              <a:rPr lang="en-US" smtClean="0"/>
              <a:t>Friday, January 9,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483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142852"/>
            <a:ext cx="8229600" cy="796908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0A83C0"/>
                </a:solidFill>
              </a:rPr>
              <a:t>Python </a:t>
            </a:r>
            <a:r>
              <a:rPr lang="en-US" sz="3600" b="1" dirty="0" smtClean="0">
                <a:solidFill>
                  <a:srgbClr val="E9B115"/>
                </a:solidFill>
              </a:rPr>
              <a:t>Applications</a:t>
            </a:r>
            <a:endParaRPr lang="en-US" sz="3600" b="1" dirty="0"/>
          </a:p>
        </p:txBody>
      </p:sp>
      <p:pic>
        <p:nvPicPr>
          <p:cNvPr id="5122" name="Picture 2" descr="C:\Users\Exam\Downloads\pythonTutorials1-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071546"/>
            <a:ext cx="8072494" cy="5429288"/>
          </a:xfrm>
          <a:prstGeom prst="rect">
            <a:avLst/>
          </a:prstGeom>
          <a:noFill/>
        </p:spPr>
      </p:pic>
      <p:cxnSp>
        <p:nvCxnSpPr>
          <p:cNvPr id="6" name="Straight Connector 5"/>
          <p:cNvCxnSpPr/>
          <p:nvPr/>
        </p:nvCxnSpPr>
        <p:spPr>
          <a:xfrm>
            <a:off x="0" y="857232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5DB1E-84C9-453F-8D5D-B127EC9E951B}" type="datetime2">
              <a:rPr lang="en-US" smtClean="0"/>
              <a:t>Friday, January 9, 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131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Comments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8229600" cy="535785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400" dirty="0" smtClean="0"/>
              <a:t>In general, Comments are used in a programming language to describe the program or to hide the some part of code from the interpreter.</a:t>
            </a:r>
          </a:p>
          <a:p>
            <a:pPr algn="just">
              <a:buNone/>
            </a:pPr>
            <a:endParaRPr lang="en-US" sz="2800" dirty="0" smtClean="0"/>
          </a:p>
          <a:p>
            <a:pPr algn="just"/>
            <a:r>
              <a:rPr lang="en-US" sz="2400" dirty="0" smtClean="0"/>
              <a:t>Comments in Python can be used to explain any program code. It can also be used to hide the code as well.</a:t>
            </a:r>
          </a:p>
          <a:p>
            <a:pPr algn="just">
              <a:buNone/>
            </a:pPr>
            <a:endParaRPr lang="en-US" sz="2400" dirty="0" smtClean="0"/>
          </a:p>
          <a:p>
            <a:pPr algn="just"/>
            <a:r>
              <a:rPr lang="en-US" sz="2400" dirty="0" smtClean="0"/>
              <a:t>Comment is not a part of the program, but it enhances the interactivity of the program and makes the program readable.</a:t>
            </a:r>
          </a:p>
          <a:p>
            <a:pPr algn="just"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Python supports two types of comments:</a:t>
            </a:r>
          </a:p>
          <a:p>
            <a:r>
              <a:rPr lang="en-US" sz="2400" dirty="0" smtClean="0"/>
              <a:t>Single Line Comment</a:t>
            </a:r>
          </a:p>
          <a:p>
            <a:r>
              <a:rPr lang="en-US" sz="2400" dirty="0" smtClean="0"/>
              <a:t>Multi Line Comment</a:t>
            </a:r>
            <a:endParaRPr lang="en-US" sz="24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000108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FC83B-1E5B-4C0E-915F-5850D067E96D}" type="datetime2">
              <a:rPr lang="en-US" smtClean="0"/>
              <a:t>Friday, January 9,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                  Comments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                        </a:t>
            </a:r>
            <a:r>
              <a:rPr lang="en-US" sz="2000" b="1" dirty="0" smtClean="0"/>
              <a:t>Cont..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000108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14282" y="1000109"/>
            <a:ext cx="8715436" cy="269304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2845A2"/>
                </a:solidFill>
              </a:rPr>
              <a:t>Single Line Comment:</a:t>
            </a:r>
            <a:endParaRPr lang="en-US" sz="2200" dirty="0" smtClean="0">
              <a:solidFill>
                <a:srgbClr val="2845A2"/>
              </a:solidFill>
            </a:endParaRPr>
          </a:p>
          <a:p>
            <a:pPr>
              <a:buNone/>
            </a:pPr>
            <a:r>
              <a:rPr lang="en-US" sz="2100" dirty="0" smtClean="0"/>
              <a:t>In case user wants to specify a single line comment, then comment must start with </a:t>
            </a:r>
            <a:r>
              <a:rPr lang="en-US" sz="2100" b="1" dirty="0" smtClean="0">
                <a:solidFill>
                  <a:srgbClr val="0A83C0"/>
                </a:solidFill>
              </a:rPr>
              <a:t>‘#’</a:t>
            </a:r>
          </a:p>
          <a:p>
            <a:pPr>
              <a:buNone/>
            </a:pPr>
            <a:r>
              <a:rPr lang="en-US" sz="2100" b="1" dirty="0" smtClean="0"/>
              <a:t>Example:</a:t>
            </a:r>
            <a:endParaRPr lang="en-US" sz="2100" dirty="0" smtClean="0"/>
          </a:p>
          <a:p>
            <a:pPr>
              <a:buNone/>
            </a:pPr>
            <a:r>
              <a:rPr lang="en-US" sz="2100" dirty="0" smtClean="0">
                <a:solidFill>
                  <a:schemeClr val="accent1"/>
                </a:solidFill>
              </a:rPr>
              <a:t># This is single line comment </a:t>
            </a:r>
          </a:p>
          <a:p>
            <a:pPr>
              <a:buNone/>
            </a:pPr>
            <a:r>
              <a:rPr lang="en-US" sz="2100" dirty="0" smtClean="0"/>
              <a:t>print ("Hello Python“)  </a:t>
            </a:r>
          </a:p>
          <a:p>
            <a:pPr>
              <a:buNone/>
            </a:pPr>
            <a:r>
              <a:rPr lang="en-US" sz="2100" b="1" dirty="0" smtClean="0"/>
              <a:t>Output:</a:t>
            </a:r>
            <a:endParaRPr lang="en-US" sz="2100" dirty="0" smtClean="0"/>
          </a:p>
          <a:p>
            <a:pPr>
              <a:buNone/>
            </a:pPr>
            <a:r>
              <a:rPr lang="en-US" sz="2100" dirty="0" smtClean="0"/>
              <a:t>Hello Python</a:t>
            </a:r>
            <a:endParaRPr lang="en-US" sz="2100" dirty="0"/>
          </a:p>
        </p:txBody>
      </p:sp>
      <p:sp>
        <p:nvSpPr>
          <p:cNvPr id="8" name="TextBox 7"/>
          <p:cNvSpPr txBox="1"/>
          <p:nvPr/>
        </p:nvSpPr>
        <p:spPr>
          <a:xfrm>
            <a:off x="214282" y="3786191"/>
            <a:ext cx="8715436" cy="30008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100" dirty="0" smtClean="0"/>
              <a:t>Multi lined comment can be given inside triple quotes.</a:t>
            </a:r>
          </a:p>
          <a:p>
            <a:pPr>
              <a:buNone/>
            </a:pPr>
            <a:r>
              <a:rPr lang="en-US" sz="2100" b="1" dirty="0" smtClean="0"/>
              <a:t>Example: </a:t>
            </a:r>
          </a:p>
          <a:p>
            <a:pPr>
              <a:buNone/>
            </a:pPr>
            <a:r>
              <a:rPr lang="en-US" sz="2100" dirty="0" smtClean="0">
                <a:solidFill>
                  <a:schemeClr val="accent1"/>
                </a:solidFill>
              </a:rPr>
              <a:t>“ “ “</a:t>
            </a:r>
          </a:p>
          <a:p>
            <a:pPr>
              <a:buNone/>
            </a:pPr>
            <a:r>
              <a:rPr lang="en-US" sz="2100" dirty="0" smtClean="0">
                <a:solidFill>
                  <a:schemeClr val="accent1"/>
                </a:solidFill>
              </a:rPr>
              <a:t>This is </a:t>
            </a:r>
          </a:p>
          <a:p>
            <a:pPr>
              <a:buNone/>
            </a:pPr>
            <a:r>
              <a:rPr lang="en-US" sz="2100" dirty="0" smtClean="0">
                <a:solidFill>
                  <a:schemeClr val="accent1"/>
                </a:solidFill>
              </a:rPr>
              <a:t>    Multiline </a:t>
            </a:r>
          </a:p>
          <a:p>
            <a:pPr>
              <a:buNone/>
            </a:pPr>
            <a:r>
              <a:rPr lang="en-US" sz="2100" dirty="0" smtClean="0">
                <a:solidFill>
                  <a:schemeClr val="accent1"/>
                </a:solidFill>
              </a:rPr>
              <a:t>    Comment</a:t>
            </a:r>
            <a:endParaRPr lang="en-US" sz="2100" dirty="0">
              <a:solidFill>
                <a:schemeClr val="accent1"/>
              </a:solidFill>
            </a:endParaRPr>
          </a:p>
          <a:p>
            <a:pPr>
              <a:buNone/>
            </a:pPr>
            <a:r>
              <a:rPr lang="en-US" sz="2100" dirty="0" smtClean="0">
                <a:solidFill>
                  <a:schemeClr val="accent1"/>
                </a:solidFill>
              </a:rPr>
              <a:t>“ “ “  </a:t>
            </a:r>
            <a:endParaRPr lang="en-US" sz="2100" dirty="0" smtClean="0">
              <a:solidFill>
                <a:schemeClr val="accent1"/>
              </a:solidFill>
            </a:endParaRPr>
          </a:p>
          <a:p>
            <a:pPr>
              <a:buNone/>
            </a:pPr>
            <a:r>
              <a:rPr lang="en-US" sz="2100" dirty="0" smtClean="0">
                <a:solidFill>
                  <a:schemeClr val="accent1"/>
                </a:solidFill>
              </a:rPr>
              <a:t>Or ‘’’ hello</a:t>
            </a:r>
          </a:p>
          <a:p>
            <a:pPr>
              <a:buNone/>
            </a:pPr>
            <a:r>
              <a:rPr lang="en-US" sz="2100" dirty="0" smtClean="0">
                <a:solidFill>
                  <a:schemeClr val="accent1"/>
                </a:solidFill>
              </a:rPr>
              <a:t>‘’’</a:t>
            </a:r>
            <a:endParaRPr lang="en-US" sz="21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67BBA-91A5-4DF5-89D2-60D79051C836}" type="datetime2">
              <a:rPr lang="en-US" smtClean="0"/>
              <a:t>Friday, January 9, 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142852"/>
            <a:ext cx="8229600" cy="796908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Variable Declaration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 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000108"/>
            <a:ext cx="8229600" cy="5500726"/>
          </a:xfrm>
        </p:spPr>
        <p:txBody>
          <a:bodyPr>
            <a:normAutofit/>
          </a:bodyPr>
          <a:lstStyle/>
          <a:p>
            <a:r>
              <a:rPr lang="en-US" sz="2400" dirty="0" smtClean="0"/>
              <a:t>A variable is a named memory location in which we can store values for the particular program. </a:t>
            </a:r>
          </a:p>
          <a:p>
            <a:endParaRPr lang="en-US" sz="2400" dirty="0" smtClean="0"/>
          </a:p>
          <a:p>
            <a:r>
              <a:rPr lang="en-US" sz="2400" dirty="0" smtClean="0"/>
              <a:t>In other words, Variable is a name which is used to refer memory location. Variable also known as identifier and used to hold value.</a:t>
            </a:r>
          </a:p>
          <a:p>
            <a:pPr>
              <a:buNone/>
            </a:pPr>
            <a:endParaRPr lang="en-US" sz="2400" dirty="0" smtClean="0"/>
          </a:p>
          <a:p>
            <a:r>
              <a:rPr lang="en-US" sz="2400" dirty="0" smtClean="0"/>
              <a:t>In Python, We don't need to declare explicitly variable in Python. When we assign any value to the variable that variable is declared automatically.</a:t>
            </a:r>
            <a:br>
              <a:rPr lang="en-US" sz="2400" dirty="0" smtClean="0"/>
            </a:br>
            <a:endParaRPr lang="en-US" sz="2400" dirty="0" smtClean="0"/>
          </a:p>
          <a:p>
            <a:r>
              <a:rPr lang="en-US" sz="2400" dirty="0" smtClean="0"/>
              <a:t>In Python, We don't need to specify the type of variable because Python is a loosely typed language.</a:t>
            </a:r>
            <a:endParaRPr lang="en-US" sz="2400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57232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D25F-61D4-41D5-B223-257FCE801782}" type="datetime2">
              <a:rPr lang="en-US" smtClean="0"/>
              <a:t>Friday, January 9,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142852"/>
            <a:ext cx="8229600" cy="796908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          Variable Declaration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</a:t>
            </a:r>
            <a:r>
              <a:rPr lang="en-US" sz="5400" b="1" dirty="0" smtClean="0">
                <a:solidFill>
                  <a:srgbClr val="0A83C0"/>
                </a:solidFill>
              </a:rPr>
              <a:t>          </a:t>
            </a:r>
            <a:r>
              <a:rPr lang="en-US" sz="2000" b="1" dirty="0" smtClean="0"/>
              <a:t>Cont..</a:t>
            </a:r>
            <a:r>
              <a:rPr lang="en-US" sz="2000" b="1" dirty="0" smtClean="0">
                <a:solidFill>
                  <a:srgbClr val="0A83C0"/>
                </a:solidFill>
              </a:rPr>
              <a:t> </a:t>
            </a:r>
            <a:endParaRPr lang="en-US" sz="2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928670"/>
            <a:ext cx="8229600" cy="5715040"/>
          </a:xfrm>
        </p:spPr>
        <p:txBody>
          <a:bodyPr>
            <a:normAutofit/>
          </a:bodyPr>
          <a:lstStyle/>
          <a:p>
            <a:pPr algn="just"/>
            <a:r>
              <a:rPr lang="en-US" sz="2400" dirty="0" smtClean="0"/>
              <a:t>In loosely typed language no need to specify the type of variable because the variable automatically changes it's data type based on assigned value.</a:t>
            </a:r>
          </a:p>
          <a:p>
            <a:pPr>
              <a:buNone/>
            </a:pPr>
            <a:r>
              <a:rPr lang="en-US" sz="2600" b="1" dirty="0" smtClean="0"/>
              <a:t>Rules for naming variable:</a:t>
            </a:r>
            <a:endParaRPr lang="en-US" sz="2600" dirty="0" smtClean="0"/>
          </a:p>
          <a:p>
            <a:r>
              <a:rPr lang="en-US" sz="2400" dirty="0" smtClean="0"/>
              <a:t>Variable names can be a group of both letters and digits, but they have to begin with a letter or an underscore.</a:t>
            </a:r>
          </a:p>
          <a:p>
            <a:r>
              <a:rPr lang="en-US" sz="2400" dirty="0" smtClean="0"/>
              <a:t>It is recommended to use lowercase letters for variable name. ‘SUM’ and ‘sum’ both are two different variables.</a:t>
            </a:r>
          </a:p>
          <a:p>
            <a:pPr>
              <a:buNone/>
            </a:pPr>
            <a:endParaRPr lang="en-US" sz="2600" dirty="0" smtClean="0"/>
          </a:p>
          <a:p>
            <a:pPr>
              <a:buNone/>
            </a:pPr>
            <a:endParaRPr lang="en-US" sz="2600" dirty="0" smtClean="0"/>
          </a:p>
          <a:p>
            <a:pPr>
              <a:buNone/>
            </a:pPr>
            <a:endParaRPr lang="en-US" sz="2600" b="1" dirty="0" smtClean="0"/>
          </a:p>
          <a:p>
            <a:pPr>
              <a:buNone/>
            </a:pPr>
            <a:endParaRPr lang="en-US" sz="2400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57232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14348" y="4286256"/>
            <a:ext cx="342902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200" b="1" dirty="0" smtClean="0"/>
              <a:t>Example: </a:t>
            </a:r>
            <a:r>
              <a:rPr lang="en-US" sz="2200" b="1" dirty="0" smtClean="0">
                <a:solidFill>
                  <a:srgbClr val="0070C0"/>
                </a:solidFill>
              </a:rPr>
              <a:t>Vardemo.py</a:t>
            </a:r>
          </a:p>
          <a:p>
            <a:pPr>
              <a:buNone/>
            </a:pPr>
            <a:r>
              <a:rPr lang="en-US" sz="2200" dirty="0" smtClean="0"/>
              <a:t>a=10 </a:t>
            </a:r>
            <a:r>
              <a:rPr lang="en-US" sz="2200" dirty="0" smtClean="0">
                <a:solidFill>
                  <a:schemeClr val="accent6">
                    <a:lumMod val="75000"/>
                  </a:schemeClr>
                </a:solidFill>
              </a:rPr>
              <a:t>#integer </a:t>
            </a:r>
          </a:p>
          <a:p>
            <a:pPr>
              <a:buNone/>
            </a:pPr>
            <a:r>
              <a:rPr lang="en-US" sz="2200" dirty="0" smtClean="0"/>
              <a:t>b="</a:t>
            </a:r>
            <a:r>
              <a:rPr lang="en-US" sz="2200" dirty="0" err="1" smtClean="0"/>
              <a:t>StudyGlance</a:t>
            </a:r>
            <a:r>
              <a:rPr lang="en-US" sz="2200" dirty="0" smtClean="0"/>
              <a:t>" </a:t>
            </a:r>
            <a:r>
              <a:rPr lang="en-US" sz="2200" dirty="0" smtClean="0">
                <a:solidFill>
                  <a:schemeClr val="accent6">
                    <a:lumMod val="75000"/>
                  </a:schemeClr>
                </a:solidFill>
              </a:rPr>
              <a:t>#string </a:t>
            </a:r>
          </a:p>
          <a:p>
            <a:pPr>
              <a:buNone/>
            </a:pPr>
            <a:r>
              <a:rPr lang="en-US" sz="2200" dirty="0" smtClean="0"/>
              <a:t>c=12.5 </a:t>
            </a:r>
            <a:r>
              <a:rPr lang="en-US" sz="2200" dirty="0" smtClean="0">
                <a:solidFill>
                  <a:schemeClr val="accent6">
                    <a:lumMod val="75000"/>
                  </a:schemeClr>
                </a:solidFill>
              </a:rPr>
              <a:t>#float </a:t>
            </a:r>
          </a:p>
          <a:p>
            <a:pPr>
              <a:buNone/>
            </a:pPr>
            <a:r>
              <a:rPr lang="en-US" sz="2200" dirty="0" smtClean="0"/>
              <a:t>print(a) </a:t>
            </a:r>
          </a:p>
          <a:p>
            <a:pPr>
              <a:buNone/>
            </a:pPr>
            <a:r>
              <a:rPr lang="en-US" sz="2200" dirty="0" smtClean="0"/>
              <a:t>print(b) </a:t>
            </a:r>
          </a:p>
          <a:p>
            <a:pPr>
              <a:buNone/>
            </a:pPr>
            <a:r>
              <a:rPr lang="en-US" sz="2200" dirty="0" smtClean="0"/>
              <a:t>print(c)</a:t>
            </a:r>
            <a:endParaRPr lang="en-US" sz="2200" dirty="0"/>
          </a:p>
        </p:txBody>
      </p:sp>
      <p:sp>
        <p:nvSpPr>
          <p:cNvPr id="6" name="TextBox 5"/>
          <p:cNvSpPr txBox="1"/>
          <p:nvPr/>
        </p:nvSpPr>
        <p:spPr>
          <a:xfrm>
            <a:off x="5500694" y="4572008"/>
            <a:ext cx="2789610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200" b="1" dirty="0" smtClean="0"/>
              <a:t>output:</a:t>
            </a:r>
            <a:endParaRPr lang="en-US" sz="2200" dirty="0" smtClean="0"/>
          </a:p>
          <a:p>
            <a:pPr>
              <a:buNone/>
            </a:pPr>
            <a:r>
              <a:rPr lang="en-US" sz="2200" b="1" dirty="0" smtClean="0"/>
              <a:t>$python3 Vardemo.py</a:t>
            </a:r>
            <a:endParaRPr lang="en-US" sz="2200" dirty="0" smtClean="0"/>
          </a:p>
          <a:p>
            <a:pPr>
              <a:buNone/>
            </a:pPr>
            <a:r>
              <a:rPr lang="en-US" sz="2200" dirty="0" smtClean="0"/>
              <a:t>10</a:t>
            </a:r>
          </a:p>
          <a:p>
            <a:pPr>
              <a:buNone/>
            </a:pPr>
            <a:r>
              <a:rPr lang="en-US" sz="2200" dirty="0" err="1" smtClean="0"/>
              <a:t>StudyGlance</a:t>
            </a:r>
            <a:r>
              <a:rPr lang="en-US" sz="2200" dirty="0" smtClean="0"/>
              <a:t> </a:t>
            </a:r>
          </a:p>
          <a:p>
            <a:pPr>
              <a:buNone/>
            </a:pPr>
            <a:r>
              <a:rPr lang="en-US" sz="2200" dirty="0" smtClean="0"/>
              <a:t>12.5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88B38-9CAB-4DE9-9D7B-1B18ACD88FA5}" type="datetime2">
              <a:rPr lang="en-US" smtClean="0"/>
              <a:t>Friday, January 9, 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142852"/>
            <a:ext cx="8229600" cy="796908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          Variable Declaration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</a:t>
            </a:r>
            <a:r>
              <a:rPr lang="en-US" sz="5400" b="1" dirty="0" smtClean="0">
                <a:solidFill>
                  <a:srgbClr val="0A83C0"/>
                </a:solidFill>
              </a:rPr>
              <a:t>          </a:t>
            </a:r>
            <a:r>
              <a:rPr lang="en-US" sz="2000" b="1" dirty="0" smtClean="0"/>
              <a:t>Cont..</a:t>
            </a:r>
            <a:r>
              <a:rPr lang="en-US" sz="2000" b="1" dirty="0" smtClean="0">
                <a:solidFill>
                  <a:srgbClr val="0A83C0"/>
                </a:solidFill>
              </a:rPr>
              <a:t> </a:t>
            </a:r>
            <a:endParaRPr lang="en-US" sz="2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928670"/>
            <a:ext cx="8229600" cy="5715040"/>
          </a:xfrm>
        </p:spPr>
        <p:txBody>
          <a:bodyPr>
            <a:normAutofit/>
          </a:bodyPr>
          <a:lstStyle/>
          <a:p>
            <a:pPr algn="just"/>
            <a:r>
              <a:rPr lang="en-US" sz="2400" dirty="0" smtClean="0"/>
              <a:t>Python allows us to assign a value to multiple variables and multiple values to multiple variables in a single statement which is also known as multiple assignment.</a:t>
            </a:r>
          </a:p>
          <a:p>
            <a:pPr algn="just"/>
            <a:r>
              <a:rPr lang="en-US" sz="2000" b="1" dirty="0" smtClean="0"/>
              <a:t>Assign single value to multiple variables :</a:t>
            </a:r>
          </a:p>
          <a:p>
            <a:pPr>
              <a:buNone/>
            </a:pPr>
            <a:endParaRPr lang="en-US" sz="2200" dirty="0" smtClean="0"/>
          </a:p>
          <a:p>
            <a:pPr>
              <a:buNone/>
            </a:pPr>
            <a:endParaRPr lang="en-US" sz="2200" b="1" dirty="0" smtClean="0"/>
          </a:p>
          <a:p>
            <a:pPr>
              <a:buNone/>
            </a:pPr>
            <a:endParaRPr lang="en-US" sz="2200" dirty="0" smtClean="0"/>
          </a:p>
          <a:p>
            <a:pPr>
              <a:buNone/>
            </a:pPr>
            <a:endParaRPr lang="en-US" sz="2200" dirty="0" smtClean="0"/>
          </a:p>
          <a:p>
            <a:pPr>
              <a:buNone/>
            </a:pPr>
            <a:endParaRPr lang="en-US" sz="2000" b="1" dirty="0" smtClean="0"/>
          </a:p>
          <a:p>
            <a:r>
              <a:rPr lang="en-US" sz="2000" b="1" dirty="0" smtClean="0"/>
              <a:t>Assign multiple values to multiple variables :</a:t>
            </a:r>
            <a:endParaRPr lang="en-US" sz="2000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57232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14348" y="2500306"/>
            <a:ext cx="3429024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200" b="1" dirty="0" smtClean="0">
                <a:solidFill>
                  <a:srgbClr val="E9B115"/>
                </a:solidFill>
              </a:rPr>
              <a:t>Example:</a:t>
            </a:r>
            <a:r>
              <a:rPr lang="en-US" sz="2200" b="1" dirty="0" smtClean="0"/>
              <a:t> </a:t>
            </a:r>
            <a:r>
              <a:rPr lang="en-US" sz="2200" b="1" dirty="0" smtClean="0">
                <a:solidFill>
                  <a:srgbClr val="0070C0"/>
                </a:solidFill>
              </a:rPr>
              <a:t>Vardemo1.py</a:t>
            </a:r>
          </a:p>
          <a:p>
            <a:pPr>
              <a:buNone/>
            </a:pPr>
            <a:r>
              <a:rPr lang="en-US" sz="2400" dirty="0" smtClean="0"/>
              <a:t>x=y=z=50 </a:t>
            </a:r>
          </a:p>
          <a:p>
            <a:pPr>
              <a:buNone/>
            </a:pPr>
            <a:r>
              <a:rPr lang="en-US" sz="2400" dirty="0" smtClean="0"/>
              <a:t>print x </a:t>
            </a:r>
          </a:p>
          <a:p>
            <a:pPr>
              <a:buNone/>
            </a:pPr>
            <a:r>
              <a:rPr lang="en-US" sz="2400" dirty="0" smtClean="0"/>
              <a:t>print y </a:t>
            </a:r>
          </a:p>
          <a:p>
            <a:pPr>
              <a:buNone/>
            </a:pPr>
            <a:r>
              <a:rPr lang="en-US" sz="2400" dirty="0" smtClean="0"/>
              <a:t>print z </a:t>
            </a:r>
            <a:endParaRPr lang="en-US" sz="2200" dirty="0"/>
          </a:p>
        </p:txBody>
      </p:sp>
      <p:sp>
        <p:nvSpPr>
          <p:cNvPr id="6" name="TextBox 5"/>
          <p:cNvSpPr txBox="1"/>
          <p:nvPr/>
        </p:nvSpPr>
        <p:spPr>
          <a:xfrm>
            <a:off x="4714876" y="2571744"/>
            <a:ext cx="2932278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200" b="1" dirty="0" smtClean="0">
                <a:solidFill>
                  <a:srgbClr val="E9B115"/>
                </a:solidFill>
              </a:rPr>
              <a:t>output:</a:t>
            </a:r>
            <a:endParaRPr lang="en-US" sz="2200" dirty="0" smtClean="0">
              <a:solidFill>
                <a:srgbClr val="E9B115"/>
              </a:solidFill>
            </a:endParaRPr>
          </a:p>
          <a:p>
            <a:pPr>
              <a:buNone/>
            </a:pPr>
            <a:r>
              <a:rPr lang="en-US" sz="2200" b="1" dirty="0" smtClean="0"/>
              <a:t>$python3 Vardemo1.py</a:t>
            </a:r>
            <a:endParaRPr lang="en-US" sz="2200" dirty="0" smtClean="0"/>
          </a:p>
          <a:p>
            <a:pPr>
              <a:buNone/>
            </a:pPr>
            <a:r>
              <a:rPr lang="en-US" sz="2200" dirty="0" smtClean="0"/>
              <a:t>50</a:t>
            </a:r>
          </a:p>
          <a:p>
            <a:pPr>
              <a:buNone/>
            </a:pPr>
            <a:r>
              <a:rPr lang="en-US" sz="2200" dirty="0" smtClean="0"/>
              <a:t>50 </a:t>
            </a:r>
          </a:p>
          <a:p>
            <a:pPr>
              <a:buNone/>
            </a:pPr>
            <a:r>
              <a:rPr lang="en-US" sz="2200" dirty="0" smtClean="0"/>
              <a:t>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5786" y="4786322"/>
            <a:ext cx="3429024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200" b="1" dirty="0" smtClean="0">
                <a:solidFill>
                  <a:srgbClr val="E9B115"/>
                </a:solidFill>
              </a:rPr>
              <a:t>Example:</a:t>
            </a:r>
            <a:r>
              <a:rPr lang="en-US" sz="2200" b="1" dirty="0" smtClean="0"/>
              <a:t> </a:t>
            </a:r>
            <a:r>
              <a:rPr lang="en-US" sz="2200" b="1" dirty="0" smtClean="0">
                <a:solidFill>
                  <a:srgbClr val="0070C0"/>
                </a:solidFill>
              </a:rPr>
              <a:t>Vardemo2.py</a:t>
            </a:r>
          </a:p>
          <a:p>
            <a:pPr>
              <a:buNone/>
            </a:pPr>
            <a:r>
              <a:rPr lang="en-US" sz="2400" dirty="0" err="1" smtClean="0"/>
              <a:t>a,b,c</a:t>
            </a:r>
            <a:r>
              <a:rPr lang="en-US" sz="2400" dirty="0" smtClean="0"/>
              <a:t>=5,10,15 </a:t>
            </a:r>
          </a:p>
          <a:p>
            <a:pPr>
              <a:buNone/>
            </a:pPr>
            <a:r>
              <a:rPr lang="en-US" sz="2400" dirty="0" smtClean="0"/>
              <a:t>print a </a:t>
            </a:r>
          </a:p>
          <a:p>
            <a:pPr>
              <a:buNone/>
            </a:pPr>
            <a:r>
              <a:rPr lang="en-US" sz="2400" dirty="0" smtClean="0"/>
              <a:t>print b </a:t>
            </a:r>
          </a:p>
          <a:p>
            <a:pPr>
              <a:buNone/>
            </a:pPr>
            <a:r>
              <a:rPr lang="en-US" sz="2400" dirty="0" smtClean="0"/>
              <a:t>print c</a:t>
            </a:r>
            <a:endParaRPr lang="en-US" sz="2200" dirty="0"/>
          </a:p>
        </p:txBody>
      </p:sp>
      <p:sp>
        <p:nvSpPr>
          <p:cNvPr id="8" name="TextBox 7"/>
          <p:cNvSpPr txBox="1"/>
          <p:nvPr/>
        </p:nvSpPr>
        <p:spPr>
          <a:xfrm>
            <a:off x="4786314" y="4857760"/>
            <a:ext cx="2932278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200" b="1" dirty="0" smtClean="0">
                <a:solidFill>
                  <a:srgbClr val="E9B115"/>
                </a:solidFill>
              </a:rPr>
              <a:t>output:</a:t>
            </a:r>
            <a:endParaRPr lang="en-US" sz="2200" dirty="0" smtClean="0">
              <a:solidFill>
                <a:srgbClr val="E9B115"/>
              </a:solidFill>
            </a:endParaRPr>
          </a:p>
          <a:p>
            <a:pPr>
              <a:buNone/>
            </a:pPr>
            <a:r>
              <a:rPr lang="en-US" sz="2200" b="1" dirty="0" smtClean="0"/>
              <a:t>$python3 Vardemo2.py</a:t>
            </a:r>
            <a:endParaRPr lang="en-US" sz="2200" dirty="0" smtClean="0"/>
          </a:p>
          <a:p>
            <a:pPr>
              <a:buNone/>
            </a:pPr>
            <a:r>
              <a:rPr lang="en-US" sz="2200" dirty="0" smtClean="0"/>
              <a:t>5</a:t>
            </a:r>
          </a:p>
          <a:p>
            <a:pPr>
              <a:buNone/>
            </a:pPr>
            <a:r>
              <a:rPr lang="en-US" sz="2200" dirty="0" smtClean="0"/>
              <a:t>10 </a:t>
            </a:r>
          </a:p>
          <a:p>
            <a:pPr>
              <a:buNone/>
            </a:pPr>
            <a:r>
              <a:rPr lang="en-US" sz="2200" dirty="0" smtClean="0"/>
              <a:t>15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CFB6D-4060-4086-BB3B-32B06BB1BAA0}" type="datetime2">
              <a:rPr lang="en-US" smtClean="0"/>
              <a:t>Friday, January 9, 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0A83C0"/>
                </a:solidFill>
              </a:rPr>
              <a:t>	</a:t>
            </a:r>
            <a:r>
              <a:rPr lang="en-US" sz="3600" b="1" dirty="0" smtClean="0">
                <a:solidFill>
                  <a:srgbClr val="E9B115"/>
                </a:solidFill>
              </a:rPr>
              <a:t>Data Types </a:t>
            </a:r>
            <a:r>
              <a:rPr lang="en-US" sz="3600" b="1" dirty="0" smtClean="0"/>
              <a:t>in</a:t>
            </a:r>
            <a:r>
              <a:rPr lang="en-US" sz="3600" dirty="0" smtClean="0"/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8229600" cy="5357850"/>
          </a:xfrm>
        </p:spPr>
        <p:txBody>
          <a:bodyPr>
            <a:normAutofit/>
          </a:bodyPr>
          <a:lstStyle/>
          <a:p>
            <a:pPr algn="just"/>
            <a:r>
              <a:rPr lang="en-US" sz="2400" dirty="0" smtClean="0"/>
              <a:t>In general, Data Types specifies what type of data will be stored in variables. Variables can hold values of different data types. </a:t>
            </a:r>
          </a:p>
          <a:p>
            <a:pPr algn="just">
              <a:buNone/>
            </a:pPr>
            <a:endParaRPr lang="en-US" sz="2400" dirty="0" smtClean="0"/>
          </a:p>
          <a:p>
            <a:pPr algn="just"/>
            <a:r>
              <a:rPr lang="en-US" sz="2400" dirty="0" smtClean="0"/>
              <a:t>Python is a dynamically typed or loosely typed language, hence we need not define the type of the variable while declaring it. </a:t>
            </a:r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The interpreter implicitly binds the value with its type.</a:t>
            </a:r>
          </a:p>
          <a:p>
            <a:pPr algn="just">
              <a:buNone/>
            </a:pPr>
            <a:endParaRPr lang="en-US" sz="2400" dirty="0" smtClean="0"/>
          </a:p>
          <a:p>
            <a:r>
              <a:rPr lang="en-US" sz="2400" dirty="0" smtClean="0"/>
              <a:t>Python provides us the </a:t>
            </a:r>
            <a:r>
              <a:rPr lang="en-US" sz="2400" b="1" dirty="0" smtClean="0"/>
              <a:t>type ()</a:t>
            </a:r>
            <a:r>
              <a:rPr lang="en-US" sz="2400" dirty="0" smtClean="0"/>
              <a:t> function which enables us to check the type of the variable.</a:t>
            </a:r>
            <a:endParaRPr lang="en-US" sz="2400" b="1" dirty="0" smtClean="0"/>
          </a:p>
          <a:p>
            <a:pPr>
              <a:buNone/>
            </a:pPr>
            <a:endParaRPr lang="en-US" sz="2400" b="1" dirty="0" smtClean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071546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1047B-AA9E-440F-9B4E-2F5A2BB7337A}" type="datetime2">
              <a:rPr lang="en-US" smtClean="0"/>
              <a:t>Friday, January 9,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0A83C0"/>
                </a:solidFill>
              </a:rPr>
              <a:t>	       </a:t>
            </a:r>
            <a:r>
              <a:rPr lang="en-US" sz="3600" b="1" dirty="0" smtClean="0">
                <a:solidFill>
                  <a:srgbClr val="E9B115"/>
                </a:solidFill>
              </a:rPr>
              <a:t>Data Types </a:t>
            </a:r>
            <a:r>
              <a:rPr lang="en-US" sz="3600" b="1" dirty="0" smtClean="0"/>
              <a:t>in</a:t>
            </a:r>
            <a:r>
              <a:rPr lang="en-US" sz="3600" dirty="0" smtClean="0"/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</a:t>
            </a:r>
            <a:r>
              <a:rPr lang="en-US" sz="3600" b="1" dirty="0" smtClean="0"/>
              <a:t>            </a:t>
            </a:r>
            <a:r>
              <a:rPr lang="en-US" sz="1800" b="1" dirty="0" smtClean="0"/>
              <a:t>Cont..</a:t>
            </a:r>
            <a:endParaRPr lang="en-US" sz="1800" b="1" dirty="0" smtClean="0">
              <a:solidFill>
                <a:srgbClr val="0A83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142984"/>
            <a:ext cx="8643998" cy="535785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Python provides following </a:t>
            </a:r>
            <a:r>
              <a:rPr lang="en-US" sz="2400" b="1" dirty="0" smtClean="0"/>
              <a:t>standard data types</a:t>
            </a:r>
            <a:r>
              <a:rPr lang="en-US" sz="2400" dirty="0" smtClean="0"/>
              <a:t>, those are</a:t>
            </a:r>
            <a:endParaRPr lang="en-US" sz="2400" b="1" dirty="0" smtClean="0"/>
          </a:p>
          <a:p>
            <a:pPr lvl="1">
              <a:buFont typeface="Wingdings" pitchFamily="2" charset="2"/>
              <a:buChar char="ü"/>
            </a:pPr>
            <a:r>
              <a:rPr lang="en-US" sz="2400" b="1" dirty="0" smtClean="0"/>
              <a:t>Numbers</a:t>
            </a:r>
          </a:p>
          <a:p>
            <a:pPr lvl="1">
              <a:buFont typeface="Wingdings" pitchFamily="2" charset="2"/>
              <a:buChar char="ü"/>
            </a:pPr>
            <a:r>
              <a:rPr lang="en-US" sz="2400" b="1" dirty="0" smtClean="0"/>
              <a:t>String</a:t>
            </a:r>
          </a:p>
          <a:p>
            <a:pPr>
              <a:buNone/>
            </a:pPr>
            <a:endParaRPr lang="en-US" sz="2400" b="1" dirty="0" smtClean="0"/>
          </a:p>
          <a:p>
            <a:pPr>
              <a:buNone/>
            </a:pPr>
            <a:r>
              <a:rPr lang="en-US" sz="2400" b="1" dirty="0" smtClean="0"/>
              <a:t>Numbers:</a:t>
            </a:r>
          </a:p>
          <a:p>
            <a:r>
              <a:rPr lang="en-US" sz="2400" dirty="0" smtClean="0"/>
              <a:t>Number stores numeric values. Python creates Number type variable when a number is assigned to a variable.</a:t>
            </a:r>
          </a:p>
          <a:p>
            <a:pPr>
              <a:buNone/>
            </a:pPr>
            <a:r>
              <a:rPr lang="en-US" sz="2400" dirty="0" smtClean="0"/>
              <a:t>There are three numeric types in Python: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400" dirty="0" smtClean="0"/>
              <a:t>int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400" dirty="0" smtClean="0"/>
              <a:t>float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400" dirty="0" smtClean="0"/>
              <a:t>Complex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071546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389B8-1271-4513-A0F6-3BA51708587B}" type="datetime2">
              <a:rPr lang="en-US" smtClean="0"/>
              <a:t>Friday, January 9,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                 Data Types </a:t>
            </a:r>
            <a:r>
              <a:rPr lang="en-US" sz="3600" b="1" dirty="0" smtClean="0"/>
              <a:t>in</a:t>
            </a:r>
            <a:r>
              <a:rPr lang="en-US" sz="3600" dirty="0" smtClean="0"/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</a:t>
            </a:r>
            <a:r>
              <a:rPr lang="en-US" sz="3600" b="1" dirty="0" smtClean="0"/>
              <a:t>            </a:t>
            </a:r>
            <a:r>
              <a:rPr lang="en-US" sz="1800" b="1" dirty="0" smtClean="0"/>
              <a:t>Cont..</a:t>
            </a:r>
            <a:endParaRPr lang="en-US" sz="3600" b="1" dirty="0" smtClean="0">
              <a:solidFill>
                <a:srgbClr val="0A83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142984"/>
            <a:ext cx="8643998" cy="5357850"/>
          </a:xfrm>
        </p:spPr>
        <p:txBody>
          <a:bodyPr>
            <a:normAutofit/>
          </a:bodyPr>
          <a:lstStyle/>
          <a:p>
            <a:pPr marL="857250" lvl="1" indent="-457200">
              <a:buNone/>
            </a:pPr>
            <a:endParaRPr lang="en-US" sz="2600" dirty="0" smtClean="0"/>
          </a:p>
          <a:p>
            <a:pPr>
              <a:buNone/>
            </a:pPr>
            <a:r>
              <a:rPr lang="en-US" sz="2600" dirty="0" smtClean="0"/>
              <a:t> </a:t>
            </a:r>
          </a:p>
          <a:p>
            <a:pPr>
              <a:buNone/>
            </a:pPr>
            <a:r>
              <a:rPr lang="en-US" sz="800" dirty="0" smtClean="0"/>
              <a:t> </a:t>
            </a:r>
          </a:p>
          <a:p>
            <a:pPr algn="just">
              <a:buNone/>
            </a:pPr>
            <a:endParaRPr lang="en-US" sz="800" dirty="0" smtClean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071546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2844" y="3071810"/>
            <a:ext cx="5429288" cy="181588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200" b="1" dirty="0" smtClean="0">
                <a:solidFill>
                  <a:srgbClr val="0A83C0"/>
                </a:solidFill>
              </a:rPr>
              <a:t>2. float:</a:t>
            </a:r>
            <a:endParaRPr lang="en-US" sz="2200" dirty="0" smtClean="0">
              <a:solidFill>
                <a:srgbClr val="0A83C0"/>
              </a:solidFill>
            </a:endParaRPr>
          </a:p>
          <a:p>
            <a:r>
              <a:rPr lang="en-US" sz="2400" dirty="0" smtClean="0"/>
              <a:t>Float or "floating point number" is a number, positive or negative, containing one or more decimals.</a:t>
            </a:r>
            <a:endParaRPr lang="en-US" sz="2200" dirty="0" smtClean="0"/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929322" y="3071810"/>
            <a:ext cx="2786082" cy="178510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200" b="1" u="sng" dirty="0" smtClean="0">
                <a:solidFill>
                  <a:srgbClr val="FFC000"/>
                </a:solidFill>
              </a:rPr>
              <a:t>Example:</a:t>
            </a:r>
            <a:endParaRPr lang="en-US" sz="2200" b="1" dirty="0" smtClean="0">
              <a:solidFill>
                <a:srgbClr val="FFC000"/>
              </a:solidFill>
            </a:endParaRPr>
          </a:p>
          <a:p>
            <a:r>
              <a:rPr lang="en-US" sz="2200" dirty="0" smtClean="0"/>
              <a:t>X=1.0</a:t>
            </a:r>
          </a:p>
          <a:p>
            <a:r>
              <a:rPr lang="en-US" sz="2200" dirty="0" smtClean="0"/>
              <a:t>Y=12.3</a:t>
            </a:r>
          </a:p>
          <a:p>
            <a:r>
              <a:rPr lang="en-US" sz="2200" dirty="0" smtClean="0"/>
              <a:t>Z=-13.4</a:t>
            </a:r>
          </a:p>
          <a:p>
            <a:endParaRPr lang="en-US" sz="22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142844" y="5072074"/>
            <a:ext cx="5429288" cy="14465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200" b="1" dirty="0" smtClean="0">
                <a:solidFill>
                  <a:srgbClr val="0A83C0"/>
                </a:solidFill>
              </a:rPr>
              <a:t>3. complex:</a:t>
            </a:r>
            <a:endParaRPr lang="en-US" sz="2200" dirty="0" smtClean="0">
              <a:solidFill>
                <a:srgbClr val="0A83C0"/>
              </a:solidFill>
            </a:endParaRPr>
          </a:p>
          <a:p>
            <a:r>
              <a:rPr lang="en-US" sz="2400" dirty="0" smtClean="0"/>
              <a:t>Complex numbers are written with a "j" as the imaginary part.</a:t>
            </a:r>
            <a:endParaRPr lang="en-US" sz="2200" dirty="0" smtClean="0"/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929322" y="5072074"/>
            <a:ext cx="2786082" cy="14465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200" b="1" u="sng" dirty="0" smtClean="0">
                <a:solidFill>
                  <a:srgbClr val="FFC000"/>
                </a:solidFill>
              </a:rPr>
              <a:t>Example:</a:t>
            </a:r>
            <a:endParaRPr lang="en-US" sz="2200" b="1" dirty="0" smtClean="0">
              <a:solidFill>
                <a:srgbClr val="FFC000"/>
              </a:solidFill>
            </a:endParaRPr>
          </a:p>
          <a:p>
            <a:pPr>
              <a:buNone/>
            </a:pPr>
            <a:r>
              <a:rPr lang="pl-PL" sz="2200" dirty="0" smtClean="0"/>
              <a:t>A=2+5j</a:t>
            </a:r>
          </a:p>
          <a:p>
            <a:pPr>
              <a:buNone/>
            </a:pPr>
            <a:r>
              <a:rPr lang="pl-PL" sz="2200" dirty="0" smtClean="0"/>
              <a:t>B=-3+4j</a:t>
            </a:r>
          </a:p>
          <a:p>
            <a:pPr>
              <a:buNone/>
            </a:pPr>
            <a:r>
              <a:rPr lang="pl-PL" sz="2200" dirty="0" smtClean="0"/>
              <a:t>C=-6j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43" y="1142984"/>
            <a:ext cx="5568501" cy="172354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200" b="1" dirty="0" smtClean="0">
                <a:solidFill>
                  <a:srgbClr val="0A83C0"/>
                </a:solidFill>
              </a:rPr>
              <a:t>1. int:</a:t>
            </a:r>
            <a:endParaRPr lang="en-US" sz="2200" dirty="0" smtClean="0">
              <a:solidFill>
                <a:srgbClr val="0A83C0"/>
              </a:solidFill>
            </a:endParaRPr>
          </a:p>
          <a:p>
            <a:r>
              <a:rPr lang="en-US" sz="2200" dirty="0" smtClean="0"/>
              <a:t>Int, or integer, is a whole number, positive or negative, without decimals, of unlimited length.</a:t>
            </a:r>
          </a:p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857884" y="1142982"/>
            <a:ext cx="2857520" cy="166199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200" b="1" u="sng" dirty="0" smtClean="0">
                <a:solidFill>
                  <a:srgbClr val="FFC000"/>
                </a:solidFill>
              </a:rPr>
              <a:t>Example:</a:t>
            </a:r>
            <a:endParaRPr lang="en-US" sz="2200" b="1" dirty="0" smtClean="0">
              <a:solidFill>
                <a:srgbClr val="FFC000"/>
              </a:solidFill>
            </a:endParaRPr>
          </a:p>
          <a:p>
            <a:pPr>
              <a:buNone/>
            </a:pPr>
            <a:r>
              <a:rPr lang="en-US" sz="2200" dirty="0" smtClean="0"/>
              <a:t> a=10</a:t>
            </a:r>
          </a:p>
          <a:p>
            <a:pPr>
              <a:buNone/>
            </a:pPr>
            <a:r>
              <a:rPr lang="en-US" sz="2200" dirty="0" smtClean="0"/>
              <a:t>b=-12</a:t>
            </a:r>
          </a:p>
          <a:p>
            <a:pPr>
              <a:buNone/>
            </a:pPr>
            <a:r>
              <a:rPr lang="en-US" sz="2200" dirty="0" smtClean="0"/>
              <a:t>c=123456789</a:t>
            </a:r>
            <a:endParaRPr lang="en-US" sz="2000" dirty="0" smtClean="0"/>
          </a:p>
          <a:p>
            <a:pPr>
              <a:buNone/>
            </a:pPr>
            <a:endParaRPr lang="en-US" sz="1400" dirty="0" smtClean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94FC0-DE70-4BF8-96D5-20F6D478BE03}" type="datetime2">
              <a:rPr lang="en-US" smtClean="0"/>
              <a:t>Friday, January 9, 2026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71414"/>
            <a:ext cx="8229600" cy="642942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                 Data Types </a:t>
            </a:r>
            <a:r>
              <a:rPr lang="en-US" sz="3600" b="1" dirty="0" smtClean="0"/>
              <a:t>in</a:t>
            </a:r>
            <a:r>
              <a:rPr lang="en-US" sz="3600" dirty="0" smtClean="0"/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</a:t>
            </a:r>
            <a:r>
              <a:rPr lang="en-US" sz="3600" b="1" dirty="0" smtClean="0"/>
              <a:t>            </a:t>
            </a:r>
            <a:r>
              <a:rPr lang="en-US" sz="1800" b="1" dirty="0" smtClean="0"/>
              <a:t>Cont..</a:t>
            </a:r>
            <a:endParaRPr lang="en-US" sz="3600" b="1" dirty="0" smtClean="0">
              <a:solidFill>
                <a:srgbClr val="0A83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928670"/>
            <a:ext cx="8229600" cy="5715040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rPr lang="en-US" sz="2400" b="1" dirty="0" smtClean="0"/>
              <a:t>String:</a:t>
            </a:r>
            <a:endParaRPr lang="en-US" sz="2400" dirty="0" smtClean="0"/>
          </a:p>
          <a:p>
            <a:pPr algn="just"/>
            <a:r>
              <a:rPr lang="en-US" sz="2400" dirty="0" smtClean="0"/>
              <a:t>The string can be defined as the sequence of characters represented in the quotation marks. In python, we can use single, double, or triple quotes to define a string.</a:t>
            </a:r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In the case of string handling, the operator + is used to concatenate two strings as the operation </a:t>
            </a:r>
            <a:r>
              <a:rPr lang="en-US" sz="2400" i="1" dirty="0" smtClean="0"/>
              <a:t>"hello"+" python"</a:t>
            </a:r>
            <a:r>
              <a:rPr lang="en-US" sz="2400" dirty="0" smtClean="0"/>
              <a:t> returns </a:t>
            </a:r>
            <a:r>
              <a:rPr lang="en-US" sz="2400" i="1" dirty="0" smtClean="0"/>
              <a:t>"hello python"</a:t>
            </a:r>
            <a:r>
              <a:rPr lang="en-US" sz="2400" dirty="0" smtClean="0"/>
              <a:t>.</a:t>
            </a:r>
          </a:p>
          <a:p>
            <a:pPr>
              <a:buNone/>
            </a:pPr>
            <a:r>
              <a:rPr lang="en-US" sz="2600" dirty="0" smtClean="0"/>
              <a:t> </a:t>
            </a:r>
          </a:p>
          <a:p>
            <a:pPr>
              <a:buNone/>
            </a:pPr>
            <a:r>
              <a:rPr lang="en-US" sz="800" dirty="0" smtClean="0"/>
              <a:t> </a:t>
            </a:r>
          </a:p>
          <a:p>
            <a:pPr algn="just">
              <a:buNone/>
            </a:pPr>
            <a:endParaRPr lang="en-US" sz="800" dirty="0" smtClean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57232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00100" y="4429132"/>
            <a:ext cx="5857916" cy="153888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200" b="1" u="sng" dirty="0" smtClean="0">
                <a:solidFill>
                  <a:srgbClr val="FFC000"/>
                </a:solidFill>
              </a:rPr>
              <a:t>Example:</a:t>
            </a:r>
            <a:endParaRPr lang="en-US" sz="2200" b="1" dirty="0" smtClean="0">
              <a:solidFill>
                <a:srgbClr val="FFC000"/>
              </a:solidFill>
            </a:endParaRPr>
          </a:p>
          <a:p>
            <a:r>
              <a:rPr lang="en-US" sz="2400" dirty="0" smtClean="0"/>
              <a:t>S1=‘Welcome’  </a:t>
            </a:r>
            <a:r>
              <a:rPr lang="en-US" sz="24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#using single quotes</a:t>
            </a:r>
          </a:p>
          <a:p>
            <a:r>
              <a:rPr lang="en-US" sz="2400" dirty="0" smtClean="0"/>
              <a:t>S2=“To” 	 </a:t>
            </a:r>
            <a:r>
              <a:rPr lang="en-US" sz="24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#using double quotes</a:t>
            </a:r>
          </a:p>
          <a:p>
            <a:r>
              <a:rPr lang="en-US" sz="2400" dirty="0" smtClean="0"/>
              <a:t>S3=‘’’Python’’’  </a:t>
            </a:r>
            <a:r>
              <a:rPr lang="en-US" sz="24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#using triple quotes</a:t>
            </a:r>
            <a:endParaRPr lang="en-US" sz="2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92457-2DD9-4234-AEBE-481754758603}" type="datetime2">
              <a:rPr lang="en-US" smtClean="0"/>
              <a:t>Friday, January 9,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71414"/>
            <a:ext cx="8229600" cy="642942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                 Data Types </a:t>
            </a:r>
            <a:r>
              <a:rPr lang="en-US" sz="3600" b="1" dirty="0" smtClean="0"/>
              <a:t>in</a:t>
            </a:r>
            <a:r>
              <a:rPr lang="en-US" sz="3600" dirty="0" smtClean="0"/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</a:t>
            </a:r>
            <a:r>
              <a:rPr lang="en-US" sz="3600" b="1" dirty="0" smtClean="0"/>
              <a:t>            </a:t>
            </a:r>
            <a:r>
              <a:rPr lang="en-US" sz="1800" b="1" dirty="0" smtClean="0"/>
              <a:t>Cont..</a:t>
            </a:r>
            <a:endParaRPr lang="en-US" sz="3600" b="1" dirty="0" smtClean="0">
              <a:solidFill>
                <a:srgbClr val="0A83C0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57232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28596" y="900714"/>
            <a:ext cx="5857916" cy="338554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200" b="1" u="sng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Example:</a:t>
            </a:r>
            <a:r>
              <a:rPr lang="en-US" sz="2200" b="1" dirty="0" smtClean="0">
                <a:solidFill>
                  <a:srgbClr val="FFC000"/>
                </a:solidFill>
              </a:rPr>
              <a:t>	“</a:t>
            </a:r>
            <a:r>
              <a:rPr lang="en-US" sz="22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datatypesdemo.py</a:t>
            </a:r>
            <a:r>
              <a:rPr lang="en-US" sz="2200" b="1" dirty="0" smtClean="0">
                <a:solidFill>
                  <a:srgbClr val="FFC000"/>
                </a:solidFill>
              </a:rPr>
              <a:t>”</a:t>
            </a:r>
          </a:p>
          <a:p>
            <a:r>
              <a:rPr lang="en-US" sz="2400" dirty="0" smtClean="0"/>
              <a:t>a=10  </a:t>
            </a:r>
          </a:p>
          <a:p>
            <a:r>
              <a:rPr lang="en-US" sz="2400" dirty="0" smtClean="0"/>
              <a:t>b=“Python"  </a:t>
            </a:r>
          </a:p>
          <a:p>
            <a:r>
              <a:rPr lang="en-US" sz="2400" dirty="0" smtClean="0"/>
              <a:t>c = 10.5</a:t>
            </a:r>
          </a:p>
          <a:p>
            <a:r>
              <a:rPr lang="en-US" sz="2400" dirty="0" smtClean="0"/>
              <a:t>d=2.14j</a:t>
            </a:r>
          </a:p>
          <a:p>
            <a:r>
              <a:rPr lang="en-US" sz="2400" dirty="0" smtClean="0"/>
              <a:t>print("Data type of Variable a :",type(a))   </a:t>
            </a:r>
          </a:p>
          <a:p>
            <a:r>
              <a:rPr lang="en-US" sz="2400" dirty="0" smtClean="0"/>
              <a:t>print("Data type of Variable b :",type(b))   </a:t>
            </a:r>
          </a:p>
          <a:p>
            <a:r>
              <a:rPr lang="en-US" sz="2400" dirty="0" smtClean="0"/>
              <a:t>print("Data type of Variable c :",type(c)) </a:t>
            </a:r>
          </a:p>
          <a:p>
            <a:r>
              <a:rPr lang="en-US" sz="2400" dirty="0" smtClean="0"/>
              <a:t>print("Data type of Variable d :",type(d))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3143240" y="4357695"/>
            <a:ext cx="5857916" cy="227754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200" b="1" u="sng" dirty="0" smtClean="0">
                <a:solidFill>
                  <a:srgbClr val="FFC000"/>
                </a:solidFill>
              </a:rPr>
              <a:t>Output:</a:t>
            </a:r>
            <a:endParaRPr lang="en-US" sz="2200" b="1" dirty="0" smtClean="0">
              <a:solidFill>
                <a:srgbClr val="FFC000"/>
              </a:solidFill>
            </a:endParaRPr>
          </a:p>
          <a:p>
            <a:r>
              <a:rPr lang="en-US" sz="2400" b="1" dirty="0" smtClean="0"/>
              <a:t>python3 datatypesdemo.py </a:t>
            </a:r>
            <a:endParaRPr lang="en-US" sz="2400" dirty="0" smtClean="0"/>
          </a:p>
          <a:p>
            <a:r>
              <a:rPr lang="en-US" sz="2400" b="1" dirty="0" smtClean="0"/>
              <a:t> </a:t>
            </a:r>
            <a:r>
              <a:rPr lang="en-US" sz="2400" dirty="0" err="1" smtClean="0"/>
              <a:t>Datatype</a:t>
            </a:r>
            <a:r>
              <a:rPr lang="en-US" sz="2400" dirty="0" smtClean="0"/>
              <a:t> of Variable a : &lt;class ‘</a:t>
            </a:r>
            <a:r>
              <a:rPr lang="en-US" sz="2400" dirty="0" err="1" smtClean="0"/>
              <a:t>int</a:t>
            </a:r>
            <a:r>
              <a:rPr lang="en-US" sz="2400" dirty="0" smtClean="0"/>
              <a:t>’&gt;</a:t>
            </a:r>
          </a:p>
          <a:p>
            <a:r>
              <a:rPr lang="en-US" sz="2400" dirty="0" err="1" smtClean="0"/>
              <a:t>Datatype</a:t>
            </a:r>
            <a:r>
              <a:rPr lang="en-US" sz="2400" dirty="0" smtClean="0"/>
              <a:t> of Variable b : &lt;class ‘</a:t>
            </a:r>
            <a:r>
              <a:rPr lang="en-US" sz="2400" dirty="0" err="1" smtClean="0"/>
              <a:t>str</a:t>
            </a:r>
            <a:r>
              <a:rPr lang="en-US" sz="2400" dirty="0" smtClean="0"/>
              <a:t>’&gt;</a:t>
            </a:r>
          </a:p>
          <a:p>
            <a:r>
              <a:rPr lang="en-US" sz="2400" dirty="0" err="1" smtClean="0"/>
              <a:t>Datatype</a:t>
            </a:r>
            <a:r>
              <a:rPr lang="en-US" sz="2400" dirty="0" smtClean="0"/>
              <a:t> of Variable c : &lt;class ‘float’&gt;</a:t>
            </a:r>
          </a:p>
          <a:p>
            <a:r>
              <a:rPr lang="en-US" sz="2400" dirty="0" err="1" smtClean="0"/>
              <a:t>Datatype</a:t>
            </a:r>
            <a:r>
              <a:rPr lang="en-US" sz="2400" dirty="0" smtClean="0"/>
              <a:t> of Variable d : &lt;class ‘complex’&gt;</a:t>
            </a:r>
            <a:endParaRPr lang="en-US" sz="2200" dirty="0" smtClean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E502C-4374-421E-84C5-73441F79A45C}" type="datetime2">
              <a:rPr lang="en-US" smtClean="0"/>
              <a:t>Friday, January 9,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142852"/>
            <a:ext cx="8229600" cy="796908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Type Conversion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142984"/>
            <a:ext cx="8572560" cy="5357850"/>
          </a:xfrm>
        </p:spPr>
        <p:txBody>
          <a:bodyPr>
            <a:normAutofit/>
          </a:bodyPr>
          <a:lstStyle/>
          <a:p>
            <a:pPr algn="just"/>
            <a:r>
              <a:rPr lang="en-US" sz="2300" dirty="0" smtClean="0"/>
              <a:t>Python provides Explicit type conversion functions to directly convert one data type to another. It is also called as </a:t>
            </a:r>
            <a:r>
              <a:rPr lang="en-US" sz="2300" b="1" dirty="0" smtClean="0"/>
              <a:t>Type Casting</a:t>
            </a:r>
            <a:r>
              <a:rPr lang="en-US" sz="2300" dirty="0" smtClean="0"/>
              <a:t> in Python</a:t>
            </a:r>
          </a:p>
          <a:p>
            <a:r>
              <a:rPr lang="en-US" sz="2300" dirty="0" smtClean="0"/>
              <a:t>Python supports following functions</a:t>
            </a:r>
          </a:p>
          <a:p>
            <a:pPr marL="857250" lvl="1" indent="-457200" fontAlgn="base">
              <a:buFont typeface="+mj-lt"/>
              <a:buAutoNum type="arabicPeriod"/>
            </a:pPr>
            <a:r>
              <a:rPr lang="en-US" sz="2000" b="1" dirty="0" smtClean="0">
                <a:solidFill>
                  <a:srgbClr val="0A83C0"/>
                </a:solidFill>
              </a:rPr>
              <a:t>int ()</a:t>
            </a:r>
            <a:r>
              <a:rPr lang="en-US" sz="2000" dirty="0" smtClean="0">
                <a:solidFill>
                  <a:srgbClr val="0A83C0"/>
                </a:solidFill>
              </a:rPr>
              <a:t> : </a:t>
            </a:r>
            <a:r>
              <a:rPr lang="en-US" sz="2000" dirty="0" smtClean="0"/>
              <a:t>This function converts</a:t>
            </a:r>
            <a:r>
              <a:rPr lang="en-US" sz="2000" b="1" dirty="0" smtClean="0"/>
              <a:t> any data type to integer.</a:t>
            </a:r>
            <a:endParaRPr lang="en-US" sz="2000" dirty="0" smtClean="0"/>
          </a:p>
          <a:p>
            <a:pPr marL="857250" lvl="1" indent="-457200" fontAlgn="base">
              <a:buFont typeface="+mj-lt"/>
              <a:buAutoNum type="arabicPeriod"/>
            </a:pPr>
            <a:r>
              <a:rPr lang="en-US" sz="2000" b="1" dirty="0" smtClean="0">
                <a:solidFill>
                  <a:srgbClr val="0A83C0"/>
                </a:solidFill>
              </a:rPr>
              <a:t>float()</a:t>
            </a:r>
            <a:r>
              <a:rPr lang="en-US" sz="2000" dirty="0" smtClean="0">
                <a:solidFill>
                  <a:srgbClr val="0A83C0"/>
                </a:solidFill>
              </a:rPr>
              <a:t> : </a:t>
            </a:r>
            <a:r>
              <a:rPr lang="en-US" sz="2000" dirty="0" smtClean="0"/>
              <a:t>This function is used to convert </a:t>
            </a:r>
            <a:r>
              <a:rPr lang="en-US" sz="2000" b="1" dirty="0" smtClean="0"/>
              <a:t>any data type to a floating point number.</a:t>
            </a:r>
            <a:endParaRPr lang="en-US" sz="2000" dirty="0" smtClean="0"/>
          </a:p>
          <a:p>
            <a:pPr marL="857250" lvl="1" indent="-457200">
              <a:buFont typeface="+mj-lt"/>
              <a:buAutoNum type="arabicPeriod"/>
            </a:pPr>
            <a:r>
              <a:rPr lang="en-US" sz="2000" b="1" dirty="0" smtClean="0">
                <a:solidFill>
                  <a:srgbClr val="0A83C0"/>
                </a:solidFill>
              </a:rPr>
              <a:t>str() </a:t>
            </a:r>
            <a:r>
              <a:rPr lang="en-US" sz="2000" dirty="0" smtClean="0">
                <a:solidFill>
                  <a:srgbClr val="0A83C0"/>
                </a:solidFill>
              </a:rPr>
              <a:t>: </a:t>
            </a:r>
            <a:r>
              <a:rPr lang="en-US" sz="2000" dirty="0" smtClean="0"/>
              <a:t>This function is used to convert </a:t>
            </a:r>
            <a:r>
              <a:rPr lang="en-US" sz="2000" b="1" dirty="0" smtClean="0"/>
              <a:t>any data type to a string.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2867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57158" y="4214819"/>
            <a:ext cx="4357718" cy="227754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200" b="1" u="sng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Example:</a:t>
            </a:r>
            <a:r>
              <a:rPr lang="en-US" sz="2200" b="1" dirty="0" smtClean="0">
                <a:solidFill>
                  <a:srgbClr val="FFC000"/>
                </a:solidFill>
              </a:rPr>
              <a:t>“</a:t>
            </a:r>
            <a:r>
              <a:rPr lang="en-US" sz="22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Typeconversiondemo.py</a:t>
            </a:r>
            <a:r>
              <a:rPr lang="en-US" sz="2200" b="1" dirty="0" smtClean="0">
                <a:solidFill>
                  <a:srgbClr val="FFC000"/>
                </a:solidFill>
              </a:rPr>
              <a:t>”</a:t>
            </a:r>
          </a:p>
          <a:p>
            <a:r>
              <a:rPr lang="en-US" sz="2000" dirty="0" smtClean="0"/>
              <a:t>x = int(2.8)</a:t>
            </a:r>
          </a:p>
          <a:p>
            <a:r>
              <a:rPr lang="en-US" sz="2000" dirty="0" smtClean="0"/>
              <a:t>y = int("3")</a:t>
            </a:r>
          </a:p>
          <a:p>
            <a:r>
              <a:rPr lang="en-US" sz="2000" dirty="0" smtClean="0"/>
              <a:t>z = float(2)</a:t>
            </a:r>
          </a:p>
          <a:p>
            <a:r>
              <a:rPr lang="en-US" sz="2000" dirty="0" smtClean="0"/>
              <a:t>s = </a:t>
            </a:r>
            <a:r>
              <a:rPr lang="en-US" sz="2000" dirty="0" err="1" smtClean="0"/>
              <a:t>str</a:t>
            </a:r>
            <a:r>
              <a:rPr lang="en-US" sz="2000" dirty="0" smtClean="0"/>
              <a:t>(10)</a:t>
            </a:r>
          </a:p>
          <a:p>
            <a:r>
              <a:rPr lang="en-US" sz="2000" dirty="0" smtClean="0"/>
              <a:t>print(x);print(y)</a:t>
            </a:r>
          </a:p>
          <a:p>
            <a:r>
              <a:rPr lang="en-US" sz="2000" dirty="0" smtClean="0"/>
              <a:t>print(z); print(s)</a:t>
            </a: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4857752" y="4214818"/>
            <a:ext cx="4143404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200" b="1" u="sng" dirty="0" smtClean="0">
                <a:solidFill>
                  <a:srgbClr val="FFC000"/>
                </a:solidFill>
              </a:rPr>
              <a:t>Output:</a:t>
            </a:r>
            <a:endParaRPr lang="en-US" sz="2200" b="1" dirty="0" smtClean="0">
              <a:solidFill>
                <a:srgbClr val="FFC000"/>
              </a:solidFill>
            </a:endParaRPr>
          </a:p>
          <a:p>
            <a:r>
              <a:rPr lang="en-US" sz="2000" b="1" dirty="0" smtClean="0"/>
              <a:t>python3 typeconversiondemo.py</a:t>
            </a:r>
          </a:p>
          <a:p>
            <a:r>
              <a:rPr lang="en-US" sz="2000" dirty="0" smtClean="0"/>
              <a:t>2</a:t>
            </a:r>
          </a:p>
          <a:p>
            <a:r>
              <a:rPr lang="en-US" sz="2000" dirty="0" smtClean="0"/>
              <a:t>3</a:t>
            </a:r>
          </a:p>
          <a:p>
            <a:r>
              <a:rPr lang="en-US" sz="2000" dirty="0" smtClean="0"/>
              <a:t>2.0</a:t>
            </a:r>
          </a:p>
          <a:p>
            <a:r>
              <a:rPr lang="en-US" sz="2000" dirty="0" smtClean="0"/>
              <a:t>10 </a:t>
            </a:r>
            <a:r>
              <a:rPr lang="en-US" sz="2400" b="1" dirty="0" smtClean="0"/>
              <a:t> </a:t>
            </a:r>
            <a:endParaRPr lang="en-US" sz="2200" dirty="0" smtClean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1447E-4BB4-4608-98EE-04A188554856}" type="datetime2">
              <a:rPr lang="en-US" smtClean="0"/>
              <a:t>Friday, January 9, 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142852"/>
            <a:ext cx="8229600" cy="796908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Operators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142984"/>
            <a:ext cx="8572560" cy="535785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The operator can be defined as a symbol which is responsible for a particular operation between two operands. </a:t>
            </a:r>
          </a:p>
          <a:p>
            <a:r>
              <a:rPr lang="en-US" sz="2400" dirty="0" smtClean="0"/>
              <a:t>Python provides a variety of operators described as follows.</a:t>
            </a:r>
          </a:p>
          <a:p>
            <a:pPr>
              <a:buNone/>
            </a:pPr>
            <a:endParaRPr lang="en-US" sz="2400" b="1" dirty="0" smtClean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2867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28596" y="2571744"/>
            <a:ext cx="7715304" cy="278608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 smtClean="0">
                <a:solidFill>
                  <a:srgbClr val="0A83C0"/>
                </a:solidFill>
              </a:rPr>
              <a:t>Arithmetic operators :</a:t>
            </a:r>
            <a:endParaRPr lang="en-US" sz="2200" b="1" dirty="0" smtClean="0"/>
          </a:p>
          <a:p>
            <a:r>
              <a:rPr lang="en-US" sz="2000" b="1" dirty="0" smtClean="0"/>
              <a:t>+</a:t>
            </a:r>
            <a:r>
              <a:rPr lang="en-US" sz="2000" dirty="0" smtClean="0"/>
              <a:t> (addition)		</a:t>
            </a:r>
            <a:r>
              <a:rPr lang="en-US" sz="2000" b="1" dirty="0" err="1" smtClean="0">
                <a:solidFill>
                  <a:srgbClr val="E9B115"/>
                </a:solidFill>
              </a:rPr>
              <a:t>eg</a:t>
            </a:r>
            <a:r>
              <a:rPr lang="en-US" sz="2000" b="1" dirty="0" smtClean="0">
                <a:solidFill>
                  <a:srgbClr val="E9B115"/>
                </a:solidFill>
              </a:rPr>
              <a:t>:</a:t>
            </a:r>
            <a:r>
              <a:rPr lang="en-US" sz="2000" dirty="0" smtClean="0"/>
              <a:t> a=20; b=10 then a </a:t>
            </a:r>
            <a:r>
              <a:rPr lang="en-US" sz="2000" b="1" dirty="0" smtClean="0"/>
              <a:t>+</a:t>
            </a:r>
            <a:r>
              <a:rPr lang="en-US" sz="2000" dirty="0" smtClean="0"/>
              <a:t> b=30</a:t>
            </a:r>
          </a:p>
          <a:p>
            <a:r>
              <a:rPr lang="en-US" sz="2000" b="1" dirty="0" smtClean="0"/>
              <a:t>-</a:t>
            </a:r>
            <a:r>
              <a:rPr lang="en-US" sz="2000" dirty="0" smtClean="0"/>
              <a:t> (subtraction)		</a:t>
            </a:r>
            <a:r>
              <a:rPr lang="en-US" sz="2000" b="1" dirty="0" err="1" smtClean="0">
                <a:solidFill>
                  <a:srgbClr val="E9B115"/>
                </a:solidFill>
              </a:rPr>
              <a:t>eg</a:t>
            </a:r>
            <a:r>
              <a:rPr lang="en-US" sz="2000" b="1" dirty="0" smtClean="0">
                <a:solidFill>
                  <a:srgbClr val="E9B115"/>
                </a:solidFill>
              </a:rPr>
              <a:t>:</a:t>
            </a:r>
            <a:r>
              <a:rPr lang="en-US" sz="2000" b="1" dirty="0" smtClean="0"/>
              <a:t> </a:t>
            </a:r>
            <a:r>
              <a:rPr lang="en-US" sz="2000" dirty="0" smtClean="0"/>
              <a:t>a=20; b=10 then a </a:t>
            </a:r>
            <a:r>
              <a:rPr lang="en-US" sz="2000" b="1" dirty="0" smtClean="0"/>
              <a:t>-</a:t>
            </a:r>
            <a:r>
              <a:rPr lang="en-US" sz="2000" dirty="0" smtClean="0"/>
              <a:t> b=10</a:t>
            </a:r>
          </a:p>
          <a:p>
            <a:r>
              <a:rPr lang="en-US" sz="2000" b="1" dirty="0" smtClean="0"/>
              <a:t>*</a:t>
            </a:r>
            <a:r>
              <a:rPr lang="en-US" sz="2000" dirty="0" smtClean="0"/>
              <a:t>(multiplication)		</a:t>
            </a:r>
            <a:r>
              <a:rPr lang="en-US" sz="2000" b="1" dirty="0" err="1" smtClean="0">
                <a:solidFill>
                  <a:srgbClr val="E9B115"/>
                </a:solidFill>
              </a:rPr>
              <a:t>eg</a:t>
            </a:r>
            <a:r>
              <a:rPr lang="en-US" sz="2000" b="1" dirty="0" smtClean="0">
                <a:solidFill>
                  <a:srgbClr val="E9B115"/>
                </a:solidFill>
              </a:rPr>
              <a:t>:</a:t>
            </a:r>
            <a:r>
              <a:rPr lang="en-US" sz="2000" dirty="0" smtClean="0"/>
              <a:t> a=20; b=10 then a </a:t>
            </a:r>
            <a:r>
              <a:rPr lang="en-US" sz="2000" b="1" dirty="0" smtClean="0"/>
              <a:t>*</a:t>
            </a:r>
            <a:r>
              <a:rPr lang="en-US" sz="2000" dirty="0" smtClean="0"/>
              <a:t> b=200</a:t>
            </a:r>
          </a:p>
          <a:p>
            <a:r>
              <a:rPr lang="en-US" sz="2000" b="1" dirty="0" smtClean="0"/>
              <a:t>/</a:t>
            </a:r>
            <a:r>
              <a:rPr lang="en-US" sz="2000" dirty="0" smtClean="0"/>
              <a:t> (divide)		</a:t>
            </a:r>
            <a:r>
              <a:rPr lang="en-US" sz="2000" b="1" dirty="0" err="1" smtClean="0">
                <a:solidFill>
                  <a:srgbClr val="E9B115"/>
                </a:solidFill>
              </a:rPr>
              <a:t>eg</a:t>
            </a:r>
            <a:r>
              <a:rPr lang="en-US" sz="2000" b="1" dirty="0" smtClean="0">
                <a:solidFill>
                  <a:srgbClr val="E9B115"/>
                </a:solidFill>
              </a:rPr>
              <a:t>:</a:t>
            </a:r>
            <a:r>
              <a:rPr lang="en-US" sz="2000" dirty="0" smtClean="0"/>
              <a:t> a=20; b=10 then a </a:t>
            </a:r>
            <a:r>
              <a:rPr lang="en-US" sz="2000" b="1" dirty="0" smtClean="0"/>
              <a:t>/</a:t>
            </a:r>
            <a:r>
              <a:rPr lang="en-US" sz="2000" dirty="0" smtClean="0"/>
              <a:t> b=2</a:t>
            </a:r>
          </a:p>
          <a:p>
            <a:r>
              <a:rPr lang="en-US" sz="2000" b="1" dirty="0" smtClean="0"/>
              <a:t>%</a:t>
            </a:r>
            <a:r>
              <a:rPr lang="en-US" sz="2000" dirty="0" smtClean="0"/>
              <a:t>( reminder)		</a:t>
            </a:r>
            <a:r>
              <a:rPr lang="en-US" sz="2000" b="1" dirty="0" err="1" smtClean="0">
                <a:solidFill>
                  <a:srgbClr val="E9B115"/>
                </a:solidFill>
              </a:rPr>
              <a:t>eg</a:t>
            </a:r>
            <a:r>
              <a:rPr lang="en-US" sz="2000" b="1" dirty="0" smtClean="0">
                <a:solidFill>
                  <a:srgbClr val="E9B115"/>
                </a:solidFill>
              </a:rPr>
              <a:t>:</a:t>
            </a:r>
            <a:r>
              <a:rPr lang="en-US" sz="2000" dirty="0" smtClean="0"/>
              <a:t> a=20; b=10 then a </a:t>
            </a:r>
            <a:r>
              <a:rPr lang="en-US" sz="2000" b="1" dirty="0" smtClean="0"/>
              <a:t>%</a:t>
            </a:r>
            <a:r>
              <a:rPr lang="en-US" sz="2000" dirty="0" smtClean="0"/>
              <a:t> b=0</a:t>
            </a:r>
          </a:p>
          <a:p>
            <a:r>
              <a:rPr lang="en-US" sz="2000" b="1" dirty="0" smtClean="0"/>
              <a:t>//</a:t>
            </a:r>
            <a:r>
              <a:rPr lang="en-US" sz="2000" dirty="0" smtClean="0"/>
              <a:t> (floor division)		</a:t>
            </a:r>
            <a:r>
              <a:rPr lang="en-US" sz="2000" b="1" dirty="0" err="1" smtClean="0">
                <a:solidFill>
                  <a:srgbClr val="E9B115"/>
                </a:solidFill>
              </a:rPr>
              <a:t>eg</a:t>
            </a:r>
            <a:r>
              <a:rPr lang="en-US" sz="2000" b="1" dirty="0" smtClean="0">
                <a:solidFill>
                  <a:srgbClr val="E9B115"/>
                </a:solidFill>
              </a:rPr>
              <a:t>:</a:t>
            </a:r>
            <a:r>
              <a:rPr lang="en-US" sz="2000" dirty="0" smtClean="0"/>
              <a:t> a=24; b=7 then a </a:t>
            </a:r>
            <a:r>
              <a:rPr lang="en-US" sz="2000" b="1" dirty="0" smtClean="0"/>
              <a:t>//</a:t>
            </a:r>
            <a:r>
              <a:rPr lang="en-US" sz="2000" dirty="0" smtClean="0"/>
              <a:t> b=3</a:t>
            </a:r>
          </a:p>
          <a:p>
            <a:r>
              <a:rPr lang="en-US" sz="2000" b="1" dirty="0" smtClean="0"/>
              <a:t>**</a:t>
            </a:r>
            <a:r>
              <a:rPr lang="en-US" sz="2000" dirty="0" smtClean="0"/>
              <a:t> (exponent)		</a:t>
            </a:r>
            <a:r>
              <a:rPr lang="en-US" sz="2000" b="1" dirty="0" err="1" smtClean="0">
                <a:solidFill>
                  <a:srgbClr val="E9B115"/>
                </a:solidFill>
              </a:rPr>
              <a:t>eg</a:t>
            </a:r>
            <a:r>
              <a:rPr lang="en-US" sz="2000" b="1" dirty="0" smtClean="0">
                <a:solidFill>
                  <a:srgbClr val="E9B115"/>
                </a:solidFill>
              </a:rPr>
              <a:t>:</a:t>
            </a:r>
            <a:r>
              <a:rPr lang="en-US" sz="2000" dirty="0" smtClean="0"/>
              <a:t> a=2; b=3 then a </a:t>
            </a:r>
            <a:r>
              <a:rPr lang="en-US" sz="2000" b="1" dirty="0" smtClean="0"/>
              <a:t>**</a:t>
            </a:r>
            <a:r>
              <a:rPr lang="en-US" sz="2000" dirty="0" smtClean="0"/>
              <a:t> b=8</a:t>
            </a:r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428596" y="5429264"/>
            <a:ext cx="7715304" cy="10464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0A83C0"/>
                </a:solidFill>
              </a:rPr>
              <a:t>Membership operators :</a:t>
            </a:r>
            <a:endParaRPr lang="en-US" sz="2200" b="1" dirty="0" smtClean="0"/>
          </a:p>
          <a:p>
            <a:r>
              <a:rPr lang="en-US" sz="2000" b="1" dirty="0" smtClean="0"/>
              <a:t>in</a:t>
            </a:r>
            <a:r>
              <a:rPr lang="en-US" sz="2000" dirty="0" smtClean="0"/>
              <a:t> (True, If the value is present in the data structure)</a:t>
            </a:r>
          </a:p>
          <a:p>
            <a:r>
              <a:rPr lang="en-US" sz="2000" b="1" dirty="0" smtClean="0"/>
              <a:t>not in</a:t>
            </a:r>
            <a:r>
              <a:rPr lang="en-US" sz="2000" dirty="0" smtClean="0"/>
              <a:t>  (True, If the value is not present in the data structure)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E4220-F8A5-42C9-941B-8E7009ADB14E}" type="datetime2">
              <a:rPr lang="en-US" smtClean="0"/>
              <a:t>Friday, January 9, 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142852"/>
            <a:ext cx="8229600" cy="796908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                   Operators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            </a:t>
            </a:r>
            <a:r>
              <a:rPr lang="en-US" sz="1800" b="1" dirty="0" smtClean="0"/>
              <a:t>Cont…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2867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28596" y="1000108"/>
            <a:ext cx="3500462" cy="227754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0A83C0"/>
                </a:solidFill>
              </a:rPr>
              <a:t>Comparison operators :</a:t>
            </a:r>
            <a:endParaRPr lang="en-US" sz="2200" b="1" dirty="0" smtClean="0"/>
          </a:p>
          <a:p>
            <a:r>
              <a:rPr lang="en-US" sz="2000" b="1" dirty="0" smtClean="0"/>
              <a:t>==</a:t>
            </a:r>
            <a:r>
              <a:rPr lang="en-US" sz="2000" dirty="0" smtClean="0"/>
              <a:t> (Equal to)</a:t>
            </a:r>
          </a:p>
          <a:p>
            <a:r>
              <a:rPr lang="en-US" sz="2000" b="1" dirty="0" smtClean="0"/>
              <a:t>!=</a:t>
            </a:r>
            <a:r>
              <a:rPr lang="en-US" sz="2000" dirty="0" smtClean="0"/>
              <a:t> (Not equal to)</a:t>
            </a:r>
          </a:p>
          <a:p>
            <a:r>
              <a:rPr lang="en-US" sz="2000" b="1" dirty="0" smtClean="0"/>
              <a:t>&lt;=</a:t>
            </a:r>
            <a:r>
              <a:rPr lang="en-US" sz="2000" dirty="0" smtClean="0"/>
              <a:t> (Less than or equal)</a:t>
            </a:r>
          </a:p>
          <a:p>
            <a:r>
              <a:rPr lang="en-US" sz="2000" b="1" dirty="0" smtClean="0"/>
              <a:t>&gt;=</a:t>
            </a:r>
            <a:r>
              <a:rPr lang="en-US" sz="2000" dirty="0" smtClean="0"/>
              <a:t> (Greater than or equal)</a:t>
            </a:r>
          </a:p>
          <a:p>
            <a:r>
              <a:rPr lang="en-US" sz="2000" b="1" dirty="0" smtClean="0"/>
              <a:t>&lt;</a:t>
            </a:r>
            <a:r>
              <a:rPr lang="en-US" sz="2000" dirty="0" smtClean="0"/>
              <a:t> (Less than)</a:t>
            </a:r>
          </a:p>
          <a:p>
            <a:r>
              <a:rPr lang="en-US" sz="2000" b="1" dirty="0" smtClean="0"/>
              <a:t>&gt;</a:t>
            </a:r>
            <a:r>
              <a:rPr lang="en-US" sz="2000" dirty="0" smtClean="0"/>
              <a:t> (Greater than)</a:t>
            </a: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428596" y="3429000"/>
            <a:ext cx="4429156" cy="28931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0A83C0"/>
                </a:solidFill>
              </a:rPr>
              <a:t>Assignment operators :</a:t>
            </a:r>
            <a:endParaRPr lang="en-US" sz="2200" b="1" dirty="0" smtClean="0"/>
          </a:p>
          <a:p>
            <a:r>
              <a:rPr lang="en-US" sz="2000" b="1" dirty="0" smtClean="0"/>
              <a:t>=</a:t>
            </a:r>
            <a:r>
              <a:rPr lang="en-US" sz="2000" dirty="0" smtClean="0"/>
              <a:t> (Assigns to)</a:t>
            </a:r>
          </a:p>
          <a:p>
            <a:r>
              <a:rPr lang="en-US" sz="2000" b="1" dirty="0" smtClean="0"/>
              <a:t>+=</a:t>
            </a:r>
            <a:r>
              <a:rPr lang="en-US" sz="2000" dirty="0" smtClean="0"/>
              <a:t> (Assignment after Addition)</a:t>
            </a:r>
          </a:p>
          <a:p>
            <a:r>
              <a:rPr lang="en-US" sz="2000" b="1" dirty="0" smtClean="0"/>
              <a:t>-= </a:t>
            </a:r>
            <a:r>
              <a:rPr lang="en-US" sz="2000" dirty="0" smtClean="0"/>
              <a:t>(Assignment after Subtraction)</a:t>
            </a:r>
          </a:p>
          <a:p>
            <a:r>
              <a:rPr lang="en-US" sz="2000" b="1" dirty="0" smtClean="0"/>
              <a:t>*=</a:t>
            </a:r>
            <a:r>
              <a:rPr lang="en-US" sz="2000" dirty="0" smtClean="0"/>
              <a:t> (Assignment after Multiplication)</a:t>
            </a:r>
          </a:p>
          <a:p>
            <a:r>
              <a:rPr lang="en-US" sz="2000" b="1" dirty="0" smtClean="0"/>
              <a:t>/=</a:t>
            </a:r>
            <a:r>
              <a:rPr lang="en-US" sz="2000" dirty="0" smtClean="0"/>
              <a:t> (Assignment after Division)</a:t>
            </a:r>
          </a:p>
          <a:p>
            <a:r>
              <a:rPr lang="en-US" sz="2000" b="1" dirty="0" smtClean="0"/>
              <a:t>%=</a:t>
            </a:r>
            <a:r>
              <a:rPr lang="en-US" sz="2000" dirty="0" smtClean="0"/>
              <a:t> (Assignment after Modulus)</a:t>
            </a:r>
          </a:p>
          <a:p>
            <a:r>
              <a:rPr lang="en-US" sz="2000" b="1" dirty="0" smtClean="0"/>
              <a:t>**=</a:t>
            </a:r>
            <a:r>
              <a:rPr lang="en-US" sz="2000" dirty="0" smtClean="0"/>
              <a:t> (Assignment after Exponent)</a:t>
            </a:r>
          </a:p>
          <a:p>
            <a:r>
              <a:rPr lang="en-US" sz="2000" b="1" dirty="0" smtClean="0"/>
              <a:t>//= </a:t>
            </a:r>
            <a:r>
              <a:rPr lang="en-US" sz="2000" dirty="0" smtClean="0"/>
              <a:t>(Assignment after floor division)</a:t>
            </a:r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4214810" y="1000108"/>
            <a:ext cx="3500462" cy="227754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0A83C0"/>
                </a:solidFill>
              </a:rPr>
              <a:t>Bitwise operators :</a:t>
            </a:r>
            <a:endParaRPr lang="en-US" sz="2200" b="1" dirty="0" smtClean="0"/>
          </a:p>
          <a:p>
            <a:r>
              <a:rPr lang="en-US" sz="2000" b="1" dirty="0" smtClean="0"/>
              <a:t>&amp; </a:t>
            </a:r>
            <a:r>
              <a:rPr lang="en-US" sz="2000" dirty="0" smtClean="0"/>
              <a:t>(binary and)</a:t>
            </a:r>
          </a:p>
          <a:p>
            <a:r>
              <a:rPr lang="en-US" sz="2000" b="1" dirty="0" smtClean="0"/>
              <a:t>|</a:t>
            </a:r>
            <a:r>
              <a:rPr lang="en-US" sz="2000" dirty="0" smtClean="0"/>
              <a:t> (binary or)</a:t>
            </a:r>
          </a:p>
          <a:p>
            <a:r>
              <a:rPr lang="en-US" sz="2000" b="1" dirty="0" smtClean="0"/>
              <a:t>^</a:t>
            </a:r>
            <a:r>
              <a:rPr lang="en-US" sz="2000" dirty="0" smtClean="0"/>
              <a:t> (binary </a:t>
            </a:r>
            <a:r>
              <a:rPr lang="en-US" sz="2000" dirty="0" err="1" smtClean="0"/>
              <a:t>xor</a:t>
            </a:r>
            <a:r>
              <a:rPr lang="en-US" sz="2000" dirty="0" smtClean="0"/>
              <a:t>)</a:t>
            </a:r>
          </a:p>
          <a:p>
            <a:r>
              <a:rPr lang="en-US" sz="2000" b="1" dirty="0" smtClean="0"/>
              <a:t>~</a:t>
            </a:r>
            <a:r>
              <a:rPr lang="en-US" sz="2000" dirty="0" smtClean="0"/>
              <a:t> (negation)</a:t>
            </a:r>
          </a:p>
          <a:p>
            <a:r>
              <a:rPr lang="en-US" sz="2000" b="1" dirty="0" smtClean="0"/>
              <a:t>&lt;&lt;</a:t>
            </a:r>
            <a:r>
              <a:rPr lang="en-US" sz="2000" dirty="0" smtClean="0"/>
              <a:t> (left shift)</a:t>
            </a:r>
          </a:p>
          <a:p>
            <a:r>
              <a:rPr lang="en-US" sz="2000" b="1" dirty="0" smtClean="0"/>
              <a:t>&gt;&gt;</a:t>
            </a:r>
            <a:r>
              <a:rPr lang="en-US" sz="2000" dirty="0" smtClean="0"/>
              <a:t> (right shift)</a:t>
            </a:r>
            <a:endParaRPr 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5000628" y="3357562"/>
            <a:ext cx="4000528" cy="135421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0A83C0"/>
                </a:solidFill>
              </a:rPr>
              <a:t>Logical operators :</a:t>
            </a:r>
            <a:endParaRPr lang="en-US" sz="2200" b="1" dirty="0" smtClean="0"/>
          </a:p>
          <a:p>
            <a:r>
              <a:rPr lang="en-US" sz="2000" b="1" dirty="0" smtClean="0"/>
              <a:t>and</a:t>
            </a:r>
            <a:r>
              <a:rPr lang="en-US" sz="2000" dirty="0" smtClean="0"/>
              <a:t> (logical and)</a:t>
            </a:r>
          </a:p>
          <a:p>
            <a:r>
              <a:rPr lang="en-US" sz="2000" b="1" dirty="0" smtClean="0"/>
              <a:t>or</a:t>
            </a:r>
            <a:r>
              <a:rPr lang="en-US" sz="2000" dirty="0" smtClean="0"/>
              <a:t> (logical or)</a:t>
            </a:r>
          </a:p>
          <a:p>
            <a:r>
              <a:rPr lang="en-US" sz="2000" b="1" dirty="0" smtClean="0"/>
              <a:t>not </a:t>
            </a:r>
            <a:r>
              <a:rPr lang="en-US" sz="2000" dirty="0" smtClean="0"/>
              <a:t>(logical not)</a:t>
            </a:r>
            <a:endParaRPr 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5000628" y="4786322"/>
            <a:ext cx="4000528" cy="196977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0A83C0"/>
                </a:solidFill>
              </a:rPr>
              <a:t>Identity operators :</a:t>
            </a:r>
            <a:endParaRPr lang="en-US" sz="2200" b="1" dirty="0" smtClean="0"/>
          </a:p>
          <a:p>
            <a:r>
              <a:rPr lang="en-US" sz="2000" b="1" dirty="0" smtClean="0"/>
              <a:t>is</a:t>
            </a:r>
            <a:r>
              <a:rPr lang="en-US" sz="2000" dirty="0" smtClean="0"/>
              <a:t> (Returns true if both variables are the same object)</a:t>
            </a:r>
          </a:p>
          <a:p>
            <a:r>
              <a:rPr lang="en-US" sz="2000" dirty="0" smtClean="0"/>
              <a:t> </a:t>
            </a:r>
          </a:p>
          <a:p>
            <a:r>
              <a:rPr lang="en-US" sz="2000" b="1" dirty="0" smtClean="0"/>
              <a:t>is not</a:t>
            </a:r>
            <a:r>
              <a:rPr lang="en-US" sz="2000" dirty="0" smtClean="0"/>
              <a:t> (Returns true if both variables are not the same object)</a:t>
            </a:r>
            <a:endParaRPr lang="en-US" sz="20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A8985-7402-44AE-830A-2C99B3FE4027}" type="datetime2">
              <a:rPr lang="en-US" smtClean="0"/>
              <a:t>Friday, January 9, 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76811-D97F-47E7-B0CA-B1148B86A0B8}" type="datetime2">
              <a:rPr lang="en-US" smtClean="0"/>
              <a:t>Friday, January 9,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036" y="260648"/>
            <a:ext cx="4445228" cy="288032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0265" y="3429000"/>
            <a:ext cx="4800047" cy="230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01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76811-D97F-47E7-B0CA-B1148B86A0B8}" type="datetime2">
              <a:rPr lang="en-US" smtClean="0"/>
              <a:t>Friday, January 9,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736" y="764704"/>
            <a:ext cx="4824535" cy="4264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289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504" y="1556792"/>
            <a:ext cx="3886400" cy="2376264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76811-D97F-47E7-B0CA-B1148B86A0B8}" type="datetime2">
              <a:rPr lang="en-US" smtClean="0"/>
              <a:t>Friday, January 9,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3933056"/>
            <a:ext cx="3456384" cy="216024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1399" y="1556792"/>
            <a:ext cx="3606985" cy="194421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0056" y="4005064"/>
            <a:ext cx="4248368" cy="194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083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Done!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 err="1" smtClean="0"/>
              <a:t>Aaj</a:t>
            </a:r>
            <a:r>
              <a:rPr lang="en-US" u="sng" dirty="0" smtClean="0"/>
              <a:t> </a:t>
            </a:r>
            <a:r>
              <a:rPr lang="en-US" u="sng" dirty="0" err="1" smtClean="0"/>
              <a:t>ka</a:t>
            </a:r>
            <a:r>
              <a:rPr lang="en-US" u="sng" dirty="0" smtClean="0"/>
              <a:t> </a:t>
            </a:r>
            <a:r>
              <a:rPr lang="en-US" u="sng" dirty="0" err="1" smtClean="0"/>
              <a:t>Gyan</a:t>
            </a:r>
            <a:r>
              <a:rPr lang="en-US" u="sng" dirty="0" smtClean="0"/>
              <a:t>:</a:t>
            </a:r>
          </a:p>
          <a:p>
            <a:endParaRPr lang="en-US" u="sng" dirty="0" smtClean="0"/>
          </a:p>
          <a:p>
            <a:pPr marL="0" indent="0" algn="ctr">
              <a:buNone/>
            </a:pPr>
            <a:r>
              <a:rPr lang="en-US" sz="5000" dirty="0"/>
              <a:t>“The more you practice, the better you understand.”</a:t>
            </a:r>
            <a:endParaRPr lang="en-IN" sz="5000" u="sng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72306-48F9-49BD-A6CA-CEA8150CF09D}" type="datetime2">
              <a:rPr lang="en-US" smtClean="0"/>
              <a:t>Friday, January 9,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20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783</TotalTime>
  <Words>1103</Words>
  <Application>Microsoft Office PowerPoint</Application>
  <PresentationFormat>On-screen Show (4:3)</PresentationFormat>
  <Paragraphs>304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Wingdings</vt:lpstr>
      <vt:lpstr>Office Theme</vt:lpstr>
      <vt:lpstr>Python Basics</vt:lpstr>
      <vt:lpstr>Content</vt:lpstr>
      <vt:lpstr>What Is Python?</vt:lpstr>
      <vt:lpstr>Python Features</vt:lpstr>
      <vt:lpstr>  Python Features                Cont…</vt:lpstr>
      <vt:lpstr>Python Applications</vt:lpstr>
      <vt:lpstr>Comments in Python</vt:lpstr>
      <vt:lpstr>                  Comments in Python                        Cont..</vt:lpstr>
      <vt:lpstr>Variable Declaration in Python </vt:lpstr>
      <vt:lpstr>          Variable Declaration in Python          Cont.. </vt:lpstr>
      <vt:lpstr>          Variable Declaration in Python          Cont.. </vt:lpstr>
      <vt:lpstr> Data Types in Python</vt:lpstr>
      <vt:lpstr>        Data Types in Python            Cont..</vt:lpstr>
      <vt:lpstr>                 Data Types in Python            Cont..</vt:lpstr>
      <vt:lpstr>                 Data Types in Python            Cont..</vt:lpstr>
      <vt:lpstr>                 Data Types in Python            Cont..</vt:lpstr>
      <vt:lpstr>Type Conversion in Python</vt:lpstr>
      <vt:lpstr>Operators in Python</vt:lpstr>
      <vt:lpstr>                   Operators in Python            Cont…</vt:lpstr>
      <vt:lpstr>PowerPoint Presentation</vt:lpstr>
      <vt:lpstr>PowerPoint Presentation</vt:lpstr>
      <vt:lpstr>PowerPoint Presentation</vt:lpstr>
      <vt:lpstr>Done!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Python!</dc:title>
  <dc:creator>Exam</dc:creator>
  <cp:lastModifiedBy>PalikaC</cp:lastModifiedBy>
  <cp:revision>119</cp:revision>
  <dcterms:created xsi:type="dcterms:W3CDTF">2020-06-10T05:05:50Z</dcterms:created>
  <dcterms:modified xsi:type="dcterms:W3CDTF">2026-01-09T06:31:05Z</dcterms:modified>
</cp:coreProperties>
</file>