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9" r:id="rId4"/>
    <p:sldId id="302" r:id="rId5"/>
    <p:sldId id="290" r:id="rId6"/>
    <p:sldId id="303" r:id="rId7"/>
    <p:sldId id="291" r:id="rId8"/>
    <p:sldId id="292" r:id="rId9"/>
    <p:sldId id="304" r:id="rId10"/>
    <p:sldId id="279" r:id="rId11"/>
    <p:sldId id="280" r:id="rId12"/>
    <p:sldId id="293" r:id="rId13"/>
    <p:sldId id="294" r:id="rId14"/>
    <p:sldId id="295" r:id="rId15"/>
    <p:sldId id="296" r:id="rId16"/>
    <p:sldId id="297" r:id="rId17"/>
    <p:sldId id="298" r:id="rId18"/>
    <p:sldId id="299" r:id="rId19"/>
    <p:sldId id="300" r:id="rId20"/>
    <p:sldId id="301" r:id="rId21"/>
    <p:sldId id="305" r:id="rId2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A83C0"/>
    <a:srgbClr val="E9B115"/>
    <a:srgbClr val="2845A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3" d="100"/>
          <a:sy n="63" d="100"/>
        </p:scale>
        <p:origin x="138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B96348D-CBF3-45CE-AC51-769C2203D1B6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618E36A-D260-42E8-AE69-589A167AF4F7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11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16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18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19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618E36A-D260-42E8-AE69-589A167AF4F7}" type="slidenum">
              <a:rPr lang="en-US" smtClean="0"/>
              <a:pPr/>
              <a:t>20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9DB85-5EE8-4E80-AD27-8C22B74789B3}" type="datetimeFigureOut">
              <a:rPr lang="en-US" smtClean="0"/>
              <a:pPr/>
              <a:t>1/30/2026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C55F5E-5CC4-48A2-94FE-FDC3CB0B79E9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14348" y="928670"/>
            <a:ext cx="7772400" cy="1470025"/>
          </a:xfrm>
        </p:spPr>
        <p:txBody>
          <a:bodyPr>
            <a:normAutofit/>
          </a:bodyPr>
          <a:lstStyle/>
          <a:p>
            <a:r>
              <a:rPr lang="en-US" b="1" dirty="0" smtClean="0">
                <a:solidFill>
                  <a:srgbClr val="E9B115"/>
                </a:solidFill>
              </a:rPr>
              <a:t>Strings </a:t>
            </a:r>
            <a:r>
              <a:rPr lang="en-US" b="1" dirty="0" smtClean="0"/>
              <a:t>in </a:t>
            </a:r>
            <a:r>
              <a:rPr lang="en-US" b="1" dirty="0" smtClean="0">
                <a:solidFill>
                  <a:srgbClr val="0A83C0"/>
                </a:solidFill>
              </a:rPr>
              <a:t>Python</a:t>
            </a:r>
            <a:endParaRPr lang="en-US" b="1" dirty="0">
              <a:solidFill>
                <a:srgbClr val="0A83C0"/>
              </a:solidFill>
            </a:endParaRPr>
          </a:p>
        </p:txBody>
      </p:sp>
      <p:sp>
        <p:nvSpPr>
          <p:cNvPr id="1026" name="AutoShape 2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Python Logo png download - 640*480 - Free Transparent Python png ...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029" name="Picture 5" descr="C:\Users\Exam\Downloads\download (2)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428992" y="2786058"/>
            <a:ext cx="2143125" cy="2143125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2357430"/>
            <a:ext cx="8229600" cy="1143000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String</a:t>
            </a:r>
            <a:r>
              <a:rPr lang="en-US" sz="3600" dirty="0" smtClean="0"/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Declaration</a:t>
            </a:r>
            <a:endParaRPr lang="en-US" sz="3600" b="1" dirty="0">
              <a:solidFill>
                <a:srgbClr val="2845A2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Strings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229600" cy="5357850"/>
          </a:xfrm>
        </p:spPr>
        <p:txBody>
          <a:bodyPr>
            <a:normAutofit/>
          </a:bodyPr>
          <a:lstStyle/>
          <a:p>
            <a:pPr algn="just"/>
            <a:r>
              <a:rPr lang="en-US" sz="2400" dirty="0" smtClean="0"/>
              <a:t>In python, strings can be created by enclosing the character or the sequence of characters in the quotes. </a:t>
            </a:r>
          </a:p>
          <a:p>
            <a:pPr algn="just"/>
            <a:r>
              <a:rPr lang="en-US" sz="2400" dirty="0" smtClean="0"/>
              <a:t>Python allows us to use single quotes, double quotes, or triple quotes to create strings.</a:t>
            </a:r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r>
              <a:rPr lang="en-US" sz="2400" dirty="0" smtClean="0"/>
              <a:t>In python, strings are treated as the sequence of characters which means that python doesn't support the character data type instead a single character written as </a:t>
            </a:r>
            <a:r>
              <a:rPr lang="en-US" sz="2400" b="1" dirty="0" smtClean="0"/>
              <a:t>'p'</a:t>
            </a:r>
            <a:r>
              <a:rPr lang="en-US" sz="2400" dirty="0" smtClean="0"/>
              <a:t> is treated as the string of length 1.</a:t>
            </a:r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57224" y="2857496"/>
            <a:ext cx="40719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rgbClr val="0A83C0"/>
                </a:solidFill>
                <a:latin typeface="Consolas"/>
              </a:rPr>
              <a:t>Example: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'Hello Python'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"Hello Python"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sz="2000" dirty="0" smtClean="0">
                <a:solidFill>
                  <a:srgbClr val="008000"/>
                </a:solidFill>
                <a:latin typeface="Consolas"/>
              </a:rPr>
              <a:t>'''Hello Python''' </a:t>
            </a:r>
            <a:endParaRPr lang="en-US" sz="20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 txBox="1">
            <a:spLocks/>
          </p:cNvSpPr>
          <p:nvPr/>
        </p:nvSpPr>
        <p:spPr>
          <a:xfrm>
            <a:off x="642910" y="2643182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9B115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String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  <a:latin typeface="+mj-lt"/>
                <a:ea typeface="+mj-ea"/>
                <a:cs typeface="+mj-cs"/>
              </a:rPr>
              <a:t>Indexing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2845A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String Indexing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357850"/>
          </a:xfrm>
        </p:spPr>
        <p:txBody>
          <a:bodyPr>
            <a:normAutofit fontScale="92500" lnSpcReduction="10000"/>
          </a:bodyPr>
          <a:lstStyle/>
          <a:p>
            <a:r>
              <a:rPr lang="en-US" sz="2400" dirty="0" smtClean="0"/>
              <a:t>Like other programming languages, the indexing of the python strings starts from 0. </a:t>
            </a:r>
            <a:r>
              <a:rPr lang="en-US" sz="2400" b="1" dirty="0" smtClean="0"/>
              <a:t>For example</a:t>
            </a:r>
            <a:r>
              <a:rPr lang="en-US" sz="2400" dirty="0" smtClean="0"/>
              <a:t>, the string "HELLO" is indexed as given in the below figure.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en-US" sz="24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400" dirty="0" smtClean="0">
                <a:solidFill>
                  <a:srgbClr val="FF00FF"/>
                </a:solidFill>
                <a:latin typeface="Consolas"/>
              </a:rPr>
              <a:t>"HELLO" </a:t>
            </a:r>
            <a:endParaRPr lang="en-US" sz="2400" dirty="0" smtClean="0"/>
          </a:p>
          <a:p>
            <a:pPr>
              <a:buNone/>
            </a:pPr>
            <a:r>
              <a:rPr lang="en-US" sz="2400" dirty="0" smtClean="0"/>
              <a:t/>
            </a:r>
            <a:br>
              <a:rPr lang="en-US" sz="2400" dirty="0" smtClean="0"/>
            </a:br>
            <a:r>
              <a:rPr lang="pt-BR" sz="2400" dirty="0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pt-BR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pt-BR" sz="2400" dirty="0" smtClean="0">
                <a:solidFill>
                  <a:srgbClr val="800080"/>
                </a:solidFill>
                <a:latin typeface="Consolas"/>
              </a:rPr>
              <a:t>0</a:t>
            </a:r>
            <a:r>
              <a:rPr lang="pt-BR" sz="2400" dirty="0" smtClean="0">
                <a:solidFill>
                  <a:srgbClr val="000000"/>
                </a:solidFill>
                <a:latin typeface="Consolas"/>
              </a:rPr>
              <a:t>]=H</a:t>
            </a:r>
            <a:r>
              <a:rPr lang="pt-BR" sz="2400" dirty="0" smtClean="0">
                <a:latin typeface="Consolas"/>
              </a:rPr>
              <a:t> </a:t>
            </a:r>
          </a:p>
          <a:p>
            <a:pPr>
              <a:buNone/>
            </a:pPr>
            <a:r>
              <a:rPr lang="pt-BR" sz="2400" dirty="0" smtClean="0">
                <a:solidFill>
                  <a:srgbClr val="008080"/>
                </a:solidFill>
                <a:latin typeface="Consolas"/>
              </a:rPr>
              <a:t>	str</a:t>
            </a:r>
            <a:r>
              <a:rPr lang="pt-BR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pt-BR" sz="2400" dirty="0" smtClean="0">
                <a:solidFill>
                  <a:srgbClr val="800080"/>
                </a:solidFill>
                <a:latin typeface="Consolas"/>
              </a:rPr>
              <a:t>1</a:t>
            </a:r>
            <a:r>
              <a:rPr lang="pt-BR" sz="2400" dirty="0" smtClean="0">
                <a:solidFill>
                  <a:srgbClr val="000000"/>
                </a:solidFill>
                <a:latin typeface="Consolas"/>
              </a:rPr>
              <a:t>]=E</a:t>
            </a:r>
            <a:r>
              <a:rPr lang="pt-BR" sz="2400" dirty="0" smtClean="0">
                <a:latin typeface="Consolas"/>
              </a:rPr>
              <a:t> </a:t>
            </a:r>
          </a:p>
          <a:p>
            <a:pPr>
              <a:buNone/>
            </a:pPr>
            <a:r>
              <a:rPr lang="pt-BR" sz="2400" dirty="0" smtClean="0">
                <a:solidFill>
                  <a:srgbClr val="008080"/>
                </a:solidFill>
                <a:latin typeface="Consolas"/>
              </a:rPr>
              <a:t>	str</a:t>
            </a:r>
            <a:r>
              <a:rPr lang="pt-BR" sz="24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pt-BR" sz="2400" dirty="0" smtClean="0">
                <a:solidFill>
                  <a:srgbClr val="800080"/>
                </a:solidFill>
                <a:latin typeface="Consolas"/>
              </a:rPr>
              <a:t>4</a:t>
            </a:r>
            <a:r>
              <a:rPr lang="pt-BR" sz="2400" dirty="0" smtClean="0">
                <a:solidFill>
                  <a:srgbClr val="000000"/>
                </a:solidFill>
                <a:latin typeface="Consolas"/>
              </a:rPr>
              <a:t>]=O</a:t>
            </a:r>
            <a:r>
              <a:rPr lang="pt-BR" sz="2400" dirty="0" smtClean="0">
                <a:latin typeface="Consolas"/>
              </a:rPr>
              <a:t> </a:t>
            </a:r>
            <a:endParaRPr lang="en-US" sz="2400" dirty="0" smtClean="0"/>
          </a:p>
          <a:p>
            <a:r>
              <a:rPr lang="en-US" sz="2400" dirty="0" smtClean="0"/>
              <a:t>Python allows negative indexing for its sequences.</a:t>
            </a:r>
          </a:p>
          <a:p>
            <a:r>
              <a:rPr lang="en-US" sz="2400" dirty="0" smtClean="0"/>
              <a:t>The index of -1 refers to the last item, -2 to the second last item and so on.</a:t>
            </a:r>
          </a:p>
          <a:p>
            <a:pPr>
              <a:buNone/>
            </a:pPr>
            <a:r>
              <a:rPr lang="en-US" sz="2400" dirty="0" smtClean="0"/>
              <a:t>	</a:t>
            </a:r>
            <a:r>
              <a:rPr lang="it-IT" sz="2400" dirty="0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it-IT" sz="2400" dirty="0" smtClean="0">
                <a:solidFill>
                  <a:srgbClr val="000000"/>
                </a:solidFill>
                <a:latin typeface="Consolas"/>
              </a:rPr>
              <a:t>[-</a:t>
            </a:r>
            <a:r>
              <a:rPr lang="it-IT" sz="2400" dirty="0" smtClean="0">
                <a:solidFill>
                  <a:srgbClr val="800080"/>
                </a:solidFill>
                <a:latin typeface="Consolas"/>
              </a:rPr>
              <a:t>1</a:t>
            </a:r>
            <a:r>
              <a:rPr lang="it-IT" sz="2400" dirty="0" smtClean="0">
                <a:solidFill>
                  <a:srgbClr val="000000"/>
                </a:solidFill>
                <a:latin typeface="Consolas"/>
              </a:rPr>
              <a:t>]=O</a:t>
            </a:r>
            <a:r>
              <a:rPr lang="it-IT" sz="2400" dirty="0" smtClean="0">
                <a:latin typeface="Consolas"/>
              </a:rPr>
              <a:t> </a:t>
            </a:r>
          </a:p>
          <a:p>
            <a:pPr>
              <a:buNone/>
            </a:pPr>
            <a:r>
              <a:rPr lang="it-IT" sz="2400" dirty="0" smtClean="0">
                <a:solidFill>
                  <a:srgbClr val="008080"/>
                </a:solidFill>
                <a:latin typeface="Consolas"/>
              </a:rPr>
              <a:t>	str</a:t>
            </a:r>
            <a:r>
              <a:rPr lang="it-IT" sz="2400" dirty="0" smtClean="0">
                <a:solidFill>
                  <a:srgbClr val="000000"/>
                </a:solidFill>
                <a:latin typeface="Consolas"/>
              </a:rPr>
              <a:t>[-</a:t>
            </a:r>
            <a:r>
              <a:rPr lang="it-IT" sz="2400" dirty="0" smtClean="0">
                <a:solidFill>
                  <a:srgbClr val="800080"/>
                </a:solidFill>
                <a:latin typeface="Consolas"/>
              </a:rPr>
              <a:t>2</a:t>
            </a:r>
            <a:r>
              <a:rPr lang="it-IT" sz="2400" dirty="0" smtClean="0">
                <a:solidFill>
                  <a:srgbClr val="000000"/>
                </a:solidFill>
                <a:latin typeface="Consolas"/>
              </a:rPr>
              <a:t>]=L</a:t>
            </a:r>
            <a:r>
              <a:rPr lang="it-IT" sz="2400" dirty="0" smtClean="0">
                <a:latin typeface="Consolas"/>
              </a:rPr>
              <a:t> </a:t>
            </a:r>
          </a:p>
          <a:p>
            <a:pPr>
              <a:buNone/>
            </a:pPr>
            <a:r>
              <a:rPr lang="it-IT" sz="2400" dirty="0" smtClean="0">
                <a:solidFill>
                  <a:srgbClr val="008080"/>
                </a:solidFill>
                <a:latin typeface="Consolas"/>
              </a:rPr>
              <a:t>	str</a:t>
            </a:r>
            <a:r>
              <a:rPr lang="it-IT" sz="2400" dirty="0" smtClean="0">
                <a:solidFill>
                  <a:srgbClr val="000000"/>
                </a:solidFill>
                <a:latin typeface="Consolas"/>
              </a:rPr>
              <a:t>[-</a:t>
            </a:r>
            <a:r>
              <a:rPr lang="it-IT" sz="2400" dirty="0" smtClean="0">
                <a:solidFill>
                  <a:srgbClr val="800080"/>
                </a:solidFill>
                <a:latin typeface="Consolas"/>
              </a:rPr>
              <a:t>4</a:t>
            </a:r>
            <a:r>
              <a:rPr lang="it-IT" sz="2400" dirty="0" smtClean="0">
                <a:solidFill>
                  <a:srgbClr val="000000"/>
                </a:solidFill>
                <a:latin typeface="Consolas"/>
              </a:rPr>
              <a:t>]=E</a:t>
            </a:r>
            <a:r>
              <a:rPr lang="it-IT" sz="2400" dirty="0" smtClean="0">
                <a:latin typeface="Consolas"/>
              </a:rPr>
              <a:t> </a:t>
            </a:r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string index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86117" y="2285992"/>
            <a:ext cx="4500594" cy="1000132"/>
          </a:xfrm>
          <a:prstGeom prst="rect">
            <a:avLst/>
          </a:prstGeom>
          <a:noFill/>
        </p:spPr>
      </p:pic>
      <p:pic>
        <p:nvPicPr>
          <p:cNvPr id="1028" name="Picture 4" descr="string index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214678" y="5000636"/>
            <a:ext cx="4533900" cy="857256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10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 txBox="1">
            <a:spLocks/>
          </p:cNvSpPr>
          <p:nvPr/>
        </p:nvSpPr>
        <p:spPr>
          <a:xfrm>
            <a:off x="428596" y="271462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9B115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String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  <a:latin typeface="+mj-lt"/>
                <a:ea typeface="+mj-ea"/>
                <a:cs typeface="+mj-cs"/>
              </a:rPr>
              <a:t>Operators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2845A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String Operators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1142984"/>
            <a:ext cx="8429684" cy="5357850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85794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57158" y="928670"/>
          <a:ext cx="8501122" cy="5735153"/>
        </p:xfrm>
        <a:graphic>
          <a:graphicData uri="http://schemas.openxmlformats.org/drawingml/2006/table">
            <a:tbl>
              <a:tblPr/>
              <a:tblGrid>
                <a:gridCol w="98546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1565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85752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+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concatenation operator used to join the strings.</a:t>
                      </a:r>
                      <a:endParaRPr lang="en-US" sz="2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5854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*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repetition operator. It concatenates the multiple copies of the same string.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5854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[ ]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slice operator. It is used to access the sub-strings of a particular string.</a:t>
                      </a:r>
                      <a:endParaRPr lang="en-US" sz="2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5854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 smtClean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[ : ]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range slice operator. It is used to access the characters from the specified range.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58353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in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known as membership operator. It returns if a particular sub-string is present in the specified string.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893146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not in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also a membership operator and does the exact reverse of in. It returns true if a particular substring is not present in the specified string.</a:t>
                      </a:r>
                      <a:endParaRPr lang="en-US" sz="200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893146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r/R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used to specify the raw string. To define any string as a raw string, the character r or R is followed by the string. Such as "hello \n python".</a:t>
                      </a:r>
                      <a:endParaRPr lang="en-US" sz="2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858353"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b="1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%</a:t>
                      </a:r>
                      <a:endParaRPr lang="en-US" sz="2000" b="1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158750" algn="l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+mn-lt"/>
                          <a:ea typeface="Times New Roman"/>
                          <a:cs typeface="Times New Roman"/>
                        </a:rPr>
                        <a:t>It is used to perform string formatting. It makes use of the format specifies used in C programming like %d or %f to map their values in python. </a:t>
                      </a:r>
                      <a:endParaRPr lang="en-US" sz="2000" dirty="0">
                        <a:latin typeface="+mn-lt"/>
                        <a:ea typeface="Calibri"/>
                        <a:cs typeface="Times New Roman"/>
                      </a:endParaRPr>
                    </a:p>
                  </a:txBody>
                  <a:tcPr marL="64350" marR="6435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0"/>
            <a:ext cx="8229600" cy="796908"/>
          </a:xfrm>
        </p:spPr>
        <p:txBody>
          <a:bodyPr>
            <a:normAutofit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      String Operators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		</a:t>
            </a:r>
            <a:r>
              <a:rPr lang="en-US" sz="2000" b="1" dirty="0" smtClean="0"/>
              <a:t>cont…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96" y="928670"/>
            <a:ext cx="8429684" cy="5357850"/>
          </a:xfrm>
        </p:spPr>
        <p:txBody>
          <a:bodyPr>
            <a:normAutofit/>
          </a:bodyPr>
          <a:lstStyle/>
          <a:p>
            <a:endParaRPr lang="en-US" sz="2400" dirty="0" smtClean="0"/>
          </a:p>
          <a:p>
            <a:pPr algn="just"/>
            <a:endParaRPr lang="en-US" sz="2400" dirty="0" smtClean="0"/>
          </a:p>
          <a:p>
            <a:pPr algn="just"/>
            <a:endParaRPr lang="en-US" sz="2400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785794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285720" y="785794"/>
            <a:ext cx="8858280" cy="313932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rgbClr val="0A83C0"/>
                </a:solidFill>
                <a:latin typeface="Consolas"/>
              </a:rPr>
              <a:t>Example: </a:t>
            </a:r>
            <a:r>
              <a:rPr lang="en-US" b="1" dirty="0" smtClean="0">
                <a:latin typeface="Consolas"/>
              </a:rPr>
              <a:t>“stropdemo.py”</a:t>
            </a:r>
            <a:endParaRPr lang="en-US" b="1" dirty="0" smtClean="0">
              <a:solidFill>
                <a:srgbClr val="0A83C0"/>
              </a:solidFill>
              <a:latin typeface="Consolas"/>
            </a:endParaRP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"Hello" 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" World" 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(str1*</a:t>
            </a:r>
            <a:r>
              <a:rPr lang="en-US" dirty="0" smtClean="0">
                <a:solidFill>
                  <a:srgbClr val="800080"/>
                </a:solidFill>
                <a:latin typeface="Consolas"/>
              </a:rPr>
              <a:t>3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prints </a:t>
            </a:r>
            <a:r>
              <a:rPr lang="en-US" dirty="0" err="1" smtClean="0">
                <a:solidFill>
                  <a:srgbClr val="008000"/>
                </a:solidFill>
                <a:latin typeface="Consolas"/>
              </a:rPr>
              <a:t>HelloHelloHello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 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(str1+str2)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prints Hello world 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(str1[</a:t>
            </a:r>
            <a:r>
              <a:rPr lang="en-US" dirty="0" smtClean="0">
                <a:solidFill>
                  <a:srgbClr val="800080"/>
                </a:solidFill>
                <a:latin typeface="Consolas"/>
              </a:rPr>
              <a:t>4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])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prints o 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(str1[</a:t>
            </a:r>
            <a:r>
              <a:rPr lang="en-US" dirty="0" smtClean="0">
                <a:solidFill>
                  <a:srgbClr val="800080"/>
                </a:solidFill>
                <a:latin typeface="Consolas"/>
              </a:rPr>
              <a:t>2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:</a:t>
            </a:r>
            <a:r>
              <a:rPr lang="en-US" dirty="0" smtClean="0">
                <a:solidFill>
                  <a:srgbClr val="800080"/>
                </a:solidFill>
                <a:latin typeface="Consolas"/>
              </a:rPr>
              <a:t>4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])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prints </a:t>
            </a:r>
            <a:r>
              <a:rPr lang="en-US" dirty="0" err="1" smtClean="0">
                <a:solidFill>
                  <a:srgbClr val="008000"/>
                </a:solidFill>
                <a:latin typeface="Consolas"/>
              </a:rPr>
              <a:t>ll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 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'w'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in 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str1)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prints false as w is not present in str1 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'</a:t>
            </a:r>
            <a:r>
              <a:rPr lang="en-US" dirty="0" err="1" smtClean="0">
                <a:solidFill>
                  <a:srgbClr val="FF00FF"/>
                </a:solidFill>
                <a:latin typeface="Consolas"/>
              </a:rPr>
              <a:t>Wo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'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not in 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str2)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prints false as </a:t>
            </a:r>
            <a:r>
              <a:rPr lang="en-US" dirty="0" err="1" smtClean="0">
                <a:solidFill>
                  <a:srgbClr val="008000"/>
                </a:solidFill>
                <a:latin typeface="Consolas"/>
              </a:rPr>
              <a:t>Wo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 is present in str2. 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err="1" smtClean="0">
                <a:solidFill>
                  <a:srgbClr val="000000"/>
                </a:solidFill>
                <a:latin typeface="Consolas"/>
              </a:rPr>
              <a:t>r</a:t>
            </a:r>
            <a:r>
              <a:rPr lang="en-US" dirty="0" err="1" smtClean="0">
                <a:solidFill>
                  <a:srgbClr val="FF00FF"/>
                </a:solidFill>
                <a:latin typeface="Consolas"/>
              </a:rPr>
              <a:t>'Hello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\n world'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prints Hello\n world as it is written </a:t>
            </a:r>
          </a:p>
          <a:p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"The string str1 : %s"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%(str1))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prints The string </a:t>
            </a:r>
            <a:r>
              <a:rPr lang="en-US" dirty="0" err="1" smtClean="0">
                <a:solidFill>
                  <a:srgbClr val="008000"/>
                </a:solidFill>
                <a:latin typeface="Consolas"/>
              </a:rPr>
              <a:t>str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 : Hello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285720" y="4020824"/>
            <a:ext cx="6143668" cy="286232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  </a:t>
            </a:r>
            <a:r>
              <a:rPr lang="en-US" sz="2000" b="1" dirty="0" smtClean="0"/>
              <a:t>python</a:t>
            </a:r>
            <a:r>
              <a:rPr lang="en-US" sz="2000" dirty="0" smtClean="0"/>
              <a:t> ifdemo.py</a:t>
            </a:r>
          </a:p>
          <a:p>
            <a:r>
              <a:rPr lang="en-US" sz="2000" dirty="0" err="1" smtClean="0"/>
              <a:t>HelloHelloHello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Hello World </a:t>
            </a:r>
          </a:p>
          <a:p>
            <a:r>
              <a:rPr lang="en-US" sz="2000" dirty="0" smtClean="0"/>
              <a:t>o </a:t>
            </a:r>
          </a:p>
          <a:p>
            <a:r>
              <a:rPr lang="en-US" sz="2000" dirty="0" err="1" smtClean="0"/>
              <a:t>ll</a:t>
            </a:r>
            <a:r>
              <a:rPr lang="en-US" sz="2000" dirty="0" smtClean="0"/>
              <a:t> </a:t>
            </a:r>
          </a:p>
          <a:p>
            <a:r>
              <a:rPr lang="en-US" sz="2000" dirty="0" smtClean="0"/>
              <a:t>False </a:t>
            </a:r>
          </a:p>
          <a:p>
            <a:r>
              <a:rPr lang="en-US" sz="2000" dirty="0" smtClean="0"/>
              <a:t>False </a:t>
            </a:r>
          </a:p>
          <a:p>
            <a:r>
              <a:rPr lang="en-US" sz="2000" dirty="0" smtClean="0"/>
              <a:t>Hello\n world </a:t>
            </a:r>
          </a:p>
          <a:p>
            <a:r>
              <a:rPr lang="en-US" sz="2000" dirty="0" smtClean="0"/>
              <a:t>The string str1 : Hello</a:t>
            </a:r>
            <a:endParaRPr lang="en-US" sz="14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/>
          <p:cNvSpPr txBox="1">
            <a:spLocks/>
          </p:cNvSpPr>
          <p:nvPr/>
        </p:nvSpPr>
        <p:spPr>
          <a:xfrm>
            <a:off x="557242" y="2714620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 algn="ctr">
              <a:spcBef>
                <a:spcPct val="0"/>
              </a:spcBef>
            </a:pPr>
            <a:r>
              <a:rPr kumimoji="0" lang="en-US" sz="3600" b="1" i="0" u="none" strike="noStrike" kern="1200" cap="none" spc="0" normalizeH="0" baseline="0" noProof="0" dirty="0" smtClean="0">
                <a:ln>
                  <a:noFill/>
                </a:ln>
                <a:solidFill>
                  <a:srgbClr val="E9B115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String</a:t>
            </a:r>
            <a:r>
              <a:rPr kumimoji="0" lang="en-US" sz="3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j-ea"/>
                <a:cs typeface="+mj-cs"/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  <a:latin typeface="+mj-lt"/>
                <a:ea typeface="+mj-ea"/>
                <a:cs typeface="+mj-cs"/>
              </a:rPr>
              <a:t>Functions &amp; Methods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2845A2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/>
          </a:bodyPr>
          <a:lstStyle/>
          <a:p>
            <a:r>
              <a:rPr lang="en-US" sz="3300" b="1" dirty="0" smtClean="0">
                <a:solidFill>
                  <a:srgbClr val="E9B115"/>
                </a:solidFill>
              </a:rPr>
              <a:t>String Functions &amp; Methods </a:t>
            </a:r>
            <a:r>
              <a:rPr lang="en-US" sz="3300" b="1" dirty="0" smtClean="0"/>
              <a:t>in</a:t>
            </a:r>
            <a:r>
              <a:rPr lang="en-US" sz="3300" b="1" dirty="0" smtClean="0">
                <a:solidFill>
                  <a:srgbClr val="E9B115"/>
                </a:solidFill>
              </a:rPr>
              <a:t> </a:t>
            </a:r>
            <a:r>
              <a:rPr lang="en-US" sz="3300" b="1" dirty="0" smtClean="0">
                <a:solidFill>
                  <a:srgbClr val="0A83C0"/>
                </a:solidFill>
              </a:rPr>
              <a:t>Python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58" y="1142984"/>
            <a:ext cx="8501122" cy="5500726"/>
          </a:xfrm>
        </p:spPr>
        <p:txBody>
          <a:bodyPr>
            <a:normAutofit/>
          </a:bodyPr>
          <a:lstStyle/>
          <a:p>
            <a:r>
              <a:rPr lang="en-US" sz="2400" dirty="0" smtClean="0"/>
              <a:t>Python provides various in-built functions &amp; methods that are used for string handling. Those are</a:t>
            </a:r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endParaRPr lang="en-US" sz="2400" dirty="0" smtClean="0"/>
          </a:p>
          <a:p>
            <a:pPr>
              <a:buNone/>
            </a:pPr>
            <a:r>
              <a:rPr lang="en-US" sz="2400" b="1" dirty="0" smtClean="0">
                <a:solidFill>
                  <a:srgbClr val="0A83C0"/>
                </a:solidFill>
              </a:rPr>
              <a:t>☞</a:t>
            </a:r>
            <a:r>
              <a:rPr lang="en-US" sz="2400" b="1" dirty="0" smtClean="0"/>
              <a:t> </a:t>
            </a:r>
            <a:r>
              <a:rPr lang="en-US" sz="2400" b="1" u="sng" dirty="0" smtClean="0">
                <a:solidFill>
                  <a:srgbClr val="0A83C0"/>
                </a:solidFill>
              </a:rPr>
              <a:t>len():</a:t>
            </a:r>
            <a:r>
              <a:rPr lang="en-US" sz="2400" dirty="0" smtClean="0">
                <a:solidFill>
                  <a:srgbClr val="0A83C0"/>
                </a:solidFill>
              </a:rPr>
              <a:t> </a:t>
            </a:r>
          </a:p>
          <a:p>
            <a:pPr algn="just"/>
            <a:r>
              <a:rPr lang="en-US" sz="2400" dirty="0" smtClean="0"/>
              <a:t>In python, len() function returns length of the given string. </a:t>
            </a:r>
          </a:p>
          <a:p>
            <a:pPr>
              <a:buNone/>
            </a:pPr>
            <a:r>
              <a:rPr lang="en-US" sz="2400" b="1" u="sng" dirty="0" smtClean="0"/>
              <a:t>Syntax:</a:t>
            </a:r>
            <a:r>
              <a:rPr lang="en-US" sz="2400" dirty="0" smtClean="0">
                <a:solidFill>
                  <a:srgbClr val="008080"/>
                </a:solidFill>
                <a:latin typeface="Consolas"/>
              </a:rPr>
              <a:t>		len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400" dirty="0" smtClean="0">
                <a:solidFill>
                  <a:srgbClr val="FF0000"/>
                </a:solidFill>
                <a:latin typeface="Consolas"/>
              </a:rPr>
              <a:t>string</a:t>
            </a:r>
            <a:r>
              <a:rPr lang="en-US" sz="2400" dirty="0" smtClean="0">
                <a:solidFill>
                  <a:srgbClr val="000000"/>
                </a:solidFill>
                <a:latin typeface="Consolas"/>
              </a:rPr>
              <a:t>)</a:t>
            </a:r>
            <a:r>
              <a:rPr lang="en-US" sz="2400" dirty="0" smtClean="0">
                <a:latin typeface="Consolas"/>
              </a:rPr>
              <a:t> </a:t>
            </a:r>
          </a:p>
          <a:p>
            <a:endParaRPr lang="en-US" sz="2400" dirty="0" smtClean="0"/>
          </a:p>
          <a:p>
            <a:pPr>
              <a:buNone/>
            </a:pPr>
            <a:endParaRPr lang="en-US" sz="24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57224" y="2000240"/>
            <a:ext cx="2000264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200" dirty="0" smtClean="0"/>
              <a:t> len()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lower()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upper()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replace()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join()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split()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071934" y="2000240"/>
            <a:ext cx="2000264" cy="24622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en-US" sz="2200" dirty="0" smtClean="0"/>
              <a:t> find() 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index()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isalnum()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isdigit()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isnumeric()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islower()</a:t>
            </a:r>
          </a:p>
          <a:p>
            <a:pPr>
              <a:buFont typeface="Arial" pitchFamily="34" charset="0"/>
              <a:buChar char="•"/>
            </a:pPr>
            <a:r>
              <a:rPr lang="en-US" sz="2200" dirty="0" smtClean="0"/>
              <a:t> isupper()</a:t>
            </a:r>
            <a:endParaRPr lang="en-US" sz="2200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5572140"/>
            <a:ext cx="35719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strlendemo.py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 Language"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len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(str1))</a:t>
            </a:r>
            <a:r>
              <a:rPr lang="en-US" sz="2000" dirty="0" smtClean="0">
                <a:latin typeface="Consolas"/>
              </a:rPr>
              <a:t> </a:t>
            </a:r>
            <a:endParaRPr lang="en-US" sz="2000" dirty="0"/>
          </a:p>
        </p:txBody>
      </p:sp>
      <p:sp>
        <p:nvSpPr>
          <p:cNvPr id="9" name="TextBox 8"/>
          <p:cNvSpPr txBox="1"/>
          <p:nvPr/>
        </p:nvSpPr>
        <p:spPr>
          <a:xfrm>
            <a:off x="4429124" y="5572140"/>
            <a:ext cx="335758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u="sng" dirty="0" smtClean="0">
                <a:solidFill>
                  <a:srgbClr val="FFC000"/>
                </a:solidFill>
              </a:rPr>
              <a:t>Output:</a:t>
            </a:r>
            <a:endParaRPr lang="en-US" sz="2000" b="1" dirty="0" smtClean="0">
              <a:solidFill>
                <a:srgbClr val="FFC000"/>
              </a:solidFill>
            </a:endParaRPr>
          </a:p>
          <a:p>
            <a:r>
              <a:rPr lang="en-US" sz="2000" b="1" dirty="0" smtClean="0"/>
              <a:t>python</a:t>
            </a:r>
            <a:r>
              <a:rPr lang="en-US" sz="2000" dirty="0" smtClean="0"/>
              <a:t> strlendemo.py</a:t>
            </a:r>
          </a:p>
          <a:p>
            <a:pPr>
              <a:buNone/>
            </a:pPr>
            <a:r>
              <a:rPr lang="en-US" sz="2000" dirty="0" smtClean="0"/>
              <a:t>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 animBg="1"/>
      <p:bldP spid="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lower ():</a:t>
            </a:r>
          </a:p>
          <a:p>
            <a:r>
              <a:rPr lang="en-US" sz="2200" dirty="0" smtClean="0"/>
              <a:t>In python, lower() method returns all characters of given string in lowercase.</a:t>
            </a:r>
          </a:p>
          <a:p>
            <a:pPr>
              <a:buNone/>
            </a:pPr>
            <a:r>
              <a:rPr lang="en-US" sz="2200" b="1" u="sng" dirty="0" smtClean="0"/>
              <a:t>Syntax:</a:t>
            </a:r>
            <a:endParaRPr lang="en-US" sz="2200" dirty="0" smtClean="0"/>
          </a:p>
          <a:p>
            <a:pPr>
              <a:buNone/>
            </a:pP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	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 smtClean="0">
                <a:latin typeface="Consolas"/>
              </a:rPr>
              <a:t>lower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 smtClean="0">
                <a:latin typeface="Consolas"/>
              </a:rPr>
              <a:t>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upper ():</a:t>
            </a:r>
          </a:p>
          <a:p>
            <a:r>
              <a:rPr lang="en-US" sz="2000" dirty="0" smtClean="0"/>
              <a:t>In python, upper() method returns all characters of given string in uppercase.</a:t>
            </a:r>
          </a:p>
          <a:p>
            <a:pPr>
              <a:buNone/>
            </a:pPr>
            <a:r>
              <a:rPr lang="en-US" sz="2000" b="1" u="sng" dirty="0" smtClean="0"/>
              <a:t>Syntax:</a:t>
            </a:r>
            <a:endParaRPr lang="en-US" sz="2000" dirty="0" smtClean="0"/>
          </a:p>
          <a:p>
            <a:pPr>
              <a:buNone/>
            </a:pPr>
            <a:r>
              <a:rPr lang="en-US" sz="1800" dirty="0" smtClean="0">
                <a:solidFill>
                  <a:srgbClr val="008080"/>
                </a:solidFill>
                <a:latin typeface="Consolas"/>
              </a:rPr>
              <a:t>	</a:t>
            </a:r>
            <a:r>
              <a:rPr lang="en-US" sz="18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1800" dirty="0" err="1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1800" dirty="0" err="1" smtClean="0">
                <a:latin typeface="Consolas"/>
              </a:rPr>
              <a:t>upper</a:t>
            </a:r>
            <a:r>
              <a:rPr lang="en-US" sz="1800" dirty="0" smtClean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1800" dirty="0" smtClean="0">
                <a:latin typeface="Consolas"/>
              </a:rPr>
              <a:t>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0034" y="3000372"/>
            <a:ext cx="35719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strlowerdemo.py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str1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FF00FF"/>
                </a:solidFill>
                <a:latin typeface="Consolas"/>
              </a:rPr>
              <a:t>PyTHOn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str1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lower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())</a:t>
            </a:r>
            <a:endParaRPr lang="en-US" sz="2000" dirty="0"/>
          </a:p>
        </p:txBody>
      </p:sp>
      <p:sp>
        <p:nvSpPr>
          <p:cNvPr id="12" name="TextBox 11"/>
          <p:cNvSpPr txBox="1"/>
          <p:nvPr/>
        </p:nvSpPr>
        <p:spPr>
          <a:xfrm>
            <a:off x="4357686" y="3000372"/>
            <a:ext cx="335758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u="sng" dirty="0" smtClean="0">
                <a:solidFill>
                  <a:srgbClr val="FFC000"/>
                </a:solidFill>
              </a:rPr>
              <a:t>Output:</a:t>
            </a:r>
            <a:endParaRPr lang="en-US" sz="2000" b="1" dirty="0" smtClean="0">
              <a:solidFill>
                <a:srgbClr val="FFC000"/>
              </a:solidFill>
            </a:endParaRPr>
          </a:p>
          <a:p>
            <a:r>
              <a:rPr lang="en-US" sz="2000" b="1" dirty="0" smtClean="0"/>
              <a:t>python</a:t>
            </a:r>
            <a:r>
              <a:rPr lang="en-US" sz="2000" dirty="0" smtClean="0"/>
              <a:t> strlowerdemo.py</a:t>
            </a:r>
          </a:p>
          <a:p>
            <a:pPr>
              <a:buNone/>
            </a:pPr>
            <a:r>
              <a:rPr lang="en-US" sz="2000" dirty="0" smtClean="0"/>
              <a:t>python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2910" y="5500702"/>
            <a:ext cx="3571900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strupperdemo.py</a:t>
            </a:r>
            <a:endParaRPr lang="en-US" sz="2000" dirty="0" smtClean="0"/>
          </a:p>
          <a:p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FF00FF"/>
                </a:solidFill>
                <a:latin typeface="Consolas"/>
              </a:rPr>
              <a:t>PyTHOn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upper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())</a:t>
            </a:r>
            <a:endParaRPr lang="en-US" sz="2000" dirty="0"/>
          </a:p>
        </p:txBody>
      </p:sp>
      <p:sp>
        <p:nvSpPr>
          <p:cNvPr id="14" name="TextBox 13"/>
          <p:cNvSpPr txBox="1"/>
          <p:nvPr/>
        </p:nvSpPr>
        <p:spPr>
          <a:xfrm>
            <a:off x="4714876" y="5500702"/>
            <a:ext cx="335758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u="sng" dirty="0" smtClean="0">
                <a:solidFill>
                  <a:srgbClr val="FFC000"/>
                </a:solidFill>
              </a:rPr>
              <a:t>Output:</a:t>
            </a:r>
            <a:endParaRPr lang="en-US" sz="2000" b="1" dirty="0" smtClean="0">
              <a:solidFill>
                <a:srgbClr val="FFC000"/>
              </a:solidFill>
            </a:endParaRPr>
          </a:p>
          <a:p>
            <a:r>
              <a:rPr lang="en-US" sz="2000" b="1" dirty="0" smtClean="0"/>
              <a:t>python</a:t>
            </a:r>
            <a:r>
              <a:rPr lang="en-US" sz="2000" dirty="0" smtClean="0"/>
              <a:t> strupperdemo.py</a:t>
            </a:r>
          </a:p>
          <a:p>
            <a:pPr>
              <a:buNone/>
            </a:pPr>
            <a:r>
              <a:rPr lang="en-US" sz="2000" dirty="0" smtClean="0"/>
              <a:t>PYTHON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replace()</a:t>
            </a:r>
          </a:p>
          <a:p>
            <a:r>
              <a:rPr lang="en-US" sz="2400" dirty="0" smtClean="0"/>
              <a:t>In python, replace() method replaces the old sequence of characters with the new sequence.</a:t>
            </a:r>
          </a:p>
          <a:p>
            <a:pPr>
              <a:buNone/>
            </a:pPr>
            <a:r>
              <a:rPr lang="en-US" sz="2200" b="1" u="sng" dirty="0" smtClean="0"/>
              <a:t>Syntax: </a:t>
            </a:r>
            <a:r>
              <a:rPr lang="en-US" sz="2000" b="1" dirty="0" smtClean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.replace(old, 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new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[, 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count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])</a:t>
            </a:r>
            <a:r>
              <a:rPr lang="en-US" sz="2000" dirty="0" smtClean="0">
                <a:latin typeface="Consolas"/>
              </a:rPr>
              <a:t>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643182"/>
            <a:ext cx="5429288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strreplacedemo.py</a:t>
            </a:r>
            <a:endParaRPr lang="en-US" sz="2000" dirty="0" smtClean="0"/>
          </a:p>
          <a:p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"Java is Object-Oriented Java"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.replace(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FF00FF"/>
                </a:solidFill>
                <a:latin typeface="Consolas"/>
              </a:rPr>
              <a:t>Java"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err="1" smtClean="0">
                <a:solidFill>
                  <a:srgbClr val="FF00FF"/>
                </a:solidFill>
                <a:latin typeface="Consolas"/>
              </a:rPr>
              <a:t>"Python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"Old String: \</a:t>
            </a:r>
            <a:r>
              <a:rPr lang="en-US" sz="2000" dirty="0" err="1" smtClean="0">
                <a:solidFill>
                  <a:srgbClr val="FF00FF"/>
                </a:solidFill>
                <a:latin typeface="Consolas"/>
              </a:rPr>
              <a:t>n"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"New String: \n"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,str2)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.replace(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"Java"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1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"\n Old String: \</a:t>
            </a:r>
            <a:r>
              <a:rPr lang="en-US" sz="2000" dirty="0" err="1" smtClean="0">
                <a:solidFill>
                  <a:srgbClr val="FF00FF"/>
                </a:solidFill>
                <a:latin typeface="Consolas"/>
              </a:rPr>
              <a:t>n"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"New String: \n"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,str3)</a:t>
            </a:r>
            <a:r>
              <a:rPr lang="en-US" sz="2000" dirty="0" smtClean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3042" y="5214950"/>
            <a:ext cx="6929486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	</a:t>
            </a:r>
            <a:r>
              <a:rPr lang="en-US" sz="2000" b="1" dirty="0" smtClean="0"/>
              <a:t>python</a:t>
            </a:r>
            <a:r>
              <a:rPr lang="en-US" sz="2000" dirty="0" smtClean="0"/>
              <a:t> strreplacedemo.py</a:t>
            </a:r>
          </a:p>
          <a:p>
            <a:pPr>
              <a:buNone/>
            </a:pPr>
            <a:r>
              <a:rPr lang="en-US" sz="2000" dirty="0" smtClean="0"/>
              <a:t>Old String: Java is Object-Oriented and Java  </a:t>
            </a:r>
          </a:p>
          <a:p>
            <a:pPr>
              <a:buNone/>
            </a:pPr>
            <a:r>
              <a:rPr lang="en-US" sz="2000" dirty="0" smtClean="0"/>
              <a:t>New String: Python is Object-Oriented and Python </a:t>
            </a:r>
          </a:p>
          <a:p>
            <a:pPr>
              <a:buNone/>
            </a:pPr>
            <a:r>
              <a:rPr lang="en-US" sz="2000" dirty="0" smtClean="0"/>
              <a:t>Old String: Java is Object-Oriented and Java </a:t>
            </a:r>
          </a:p>
          <a:p>
            <a:pPr>
              <a:buNone/>
            </a:pPr>
            <a:r>
              <a:rPr lang="en-US" sz="2000" dirty="0" smtClean="0"/>
              <a:t>New String: Python is Object-Oriented and Java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split():</a:t>
            </a:r>
          </a:p>
          <a:p>
            <a:r>
              <a:rPr lang="en-US" sz="2200" dirty="0" smtClean="0"/>
              <a:t>In python, split() method splits the string into a comma separated list. The string splits according to the space if the delimiter is not provided.</a:t>
            </a:r>
          </a:p>
          <a:p>
            <a:pPr>
              <a:buNone/>
            </a:pPr>
            <a:r>
              <a:rPr lang="en-US" sz="2200" b="1" u="sng" dirty="0" smtClean="0"/>
              <a:t>Syntax: </a:t>
            </a:r>
            <a:r>
              <a:rPr lang="en-US" sz="2000" b="1" dirty="0" smtClean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split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([sep=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"delimiter"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])</a:t>
            </a:r>
            <a:r>
              <a:rPr lang="en-US" sz="2000" dirty="0" smtClean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0034" y="2643182"/>
            <a:ext cx="7215238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strsplitdemo.py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 is a programming language"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split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()</a:t>
            </a:r>
            <a:endParaRPr lang="en-US" sz="2000" dirty="0" smtClean="0">
              <a:solidFill>
                <a:srgbClr val="008000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(str1);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(str2)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"Python,is,a,programming,language"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split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(sep=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','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(str1);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(str2)</a:t>
            </a:r>
            <a:r>
              <a:rPr lang="en-US" sz="2000" dirty="0" smtClean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32" y="5000636"/>
            <a:ext cx="6929486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	</a:t>
            </a:r>
            <a:r>
              <a:rPr lang="en-US" sz="2000" b="1" dirty="0" smtClean="0"/>
              <a:t>python</a:t>
            </a:r>
            <a:r>
              <a:rPr lang="en-US" sz="2000" dirty="0" smtClean="0"/>
              <a:t> strsplitdemo.py</a:t>
            </a:r>
          </a:p>
          <a:p>
            <a:pPr>
              <a:buNone/>
            </a:pP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Java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is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a programming language </a:t>
            </a:r>
          </a:p>
          <a:p>
            <a:pPr>
              <a:buNone/>
            </a:pP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'Java'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'is'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'a'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'programming'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'language'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] Java,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is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 a, programming, language </a:t>
            </a:r>
          </a:p>
          <a:p>
            <a:pPr>
              <a:buNone/>
            </a:pP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[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'Java'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'is'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'a'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'programming'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'language'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]</a:t>
            </a:r>
            <a:r>
              <a:rPr lang="en-US" sz="2000" dirty="0" smtClean="0">
                <a:latin typeface="Consolas"/>
              </a:rPr>
              <a:t> 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find():</a:t>
            </a:r>
          </a:p>
          <a:p>
            <a:r>
              <a:rPr lang="en-US" sz="2200" dirty="0" smtClean="0"/>
              <a:t>In python, find() method finds substring in the given string and returns index of the first match. It returns -1 if substring does not match.</a:t>
            </a:r>
          </a:p>
          <a:p>
            <a:pPr>
              <a:buNone/>
            </a:pPr>
            <a:r>
              <a:rPr lang="en-US" sz="2200" b="1" u="sng" dirty="0" smtClean="0"/>
              <a:t>Syntax: </a:t>
            </a:r>
            <a:r>
              <a:rPr lang="en-US" sz="2000" b="1" dirty="0" smtClean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sub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[, 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start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[,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end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]])</a:t>
            </a:r>
            <a:r>
              <a:rPr lang="en-US" sz="2000" dirty="0" smtClean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00034" y="2643182"/>
            <a:ext cx="7215238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strfinddemo.py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 is a programming language"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"is"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str3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"java"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str4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5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str5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find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"i"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5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25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(str2,str3,str4,str5)</a:t>
            </a:r>
            <a:r>
              <a:rPr lang="en-US" sz="2000" dirty="0" smtClean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000232" y="5143512"/>
            <a:ext cx="6929486" cy="1015663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 smtClean="0"/>
              <a:t>python</a:t>
            </a:r>
            <a:r>
              <a:rPr lang="en-US" sz="2000" dirty="0" smtClean="0"/>
              <a:t> strfinddemo.py</a:t>
            </a:r>
          </a:p>
          <a:p>
            <a:pPr>
              <a:buNone/>
            </a:pPr>
            <a:r>
              <a:rPr lang="en-US" sz="2000" dirty="0" smtClean="0"/>
              <a:t>7  -1  12   7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index():</a:t>
            </a:r>
          </a:p>
          <a:p>
            <a:r>
              <a:rPr lang="en-US" sz="2200" dirty="0" smtClean="0"/>
              <a:t>In python, index() method is same as the find() method except it returns error on failure. This method returns index of first occurred substring and an error if there is no match found.</a:t>
            </a:r>
          </a:p>
          <a:p>
            <a:pPr>
              <a:buNone/>
            </a:pPr>
            <a:r>
              <a:rPr lang="en-US" sz="2200" b="1" u="sng" dirty="0" smtClean="0"/>
              <a:t>Syntax: </a:t>
            </a:r>
            <a:r>
              <a:rPr lang="en-US" sz="2000" b="1" dirty="0" smtClean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 index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sub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[, 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start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[,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end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]])</a:t>
            </a:r>
            <a:r>
              <a:rPr lang="en-US" sz="2000" dirty="0" smtClean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928934"/>
            <a:ext cx="5929354" cy="3170099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strindexdemo.py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 is a programming language"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index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"is"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(str2)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str3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index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5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(str3)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str4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index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"i"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5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,</a:t>
            </a:r>
            <a:r>
              <a:rPr lang="en-US" sz="2000" dirty="0" smtClean="0">
                <a:solidFill>
                  <a:srgbClr val="800080"/>
                </a:solidFill>
                <a:latin typeface="Consolas"/>
              </a:rPr>
              <a:t>25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(str4)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str5 = str1.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index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"java"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)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(str5)</a:t>
            </a:r>
            <a:r>
              <a:rPr lang="en-US" sz="2000" dirty="0" smtClean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43438" y="4643446"/>
            <a:ext cx="4214842" cy="1938992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 smtClean="0"/>
              <a:t>python</a:t>
            </a:r>
            <a:r>
              <a:rPr lang="en-US" sz="2000" dirty="0" smtClean="0"/>
              <a:t> strindexdemo.py</a:t>
            </a:r>
          </a:p>
          <a:p>
            <a:pPr>
              <a:buNone/>
            </a:pPr>
            <a:r>
              <a:rPr lang="en-US" sz="2000" dirty="0" smtClean="0"/>
              <a:t>7 </a:t>
            </a:r>
          </a:p>
          <a:p>
            <a:pPr>
              <a:buNone/>
            </a:pPr>
            <a:r>
              <a:rPr lang="en-US" sz="2000" dirty="0" smtClean="0"/>
              <a:t>12 </a:t>
            </a:r>
          </a:p>
          <a:p>
            <a:pPr>
              <a:buNone/>
            </a:pPr>
            <a:r>
              <a:rPr lang="en-US" sz="2000" dirty="0" smtClean="0"/>
              <a:t>7 </a:t>
            </a:r>
          </a:p>
          <a:p>
            <a:pPr>
              <a:buNone/>
            </a:pPr>
            <a:r>
              <a:rPr lang="en-US" sz="2000" dirty="0" smtClean="0"/>
              <a:t>Substring not found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isalnum():</a:t>
            </a:r>
          </a:p>
          <a:p>
            <a:r>
              <a:rPr lang="en-US" sz="2200" dirty="0" smtClean="0"/>
              <a:t>In python, isalnum() method checks whether the all characters of the string is alphanumeric or not. </a:t>
            </a:r>
          </a:p>
          <a:p>
            <a:r>
              <a:rPr lang="en-US" sz="2200" dirty="0" smtClean="0"/>
              <a:t>A character which is either a letter or a number is known as alphanumeric. It does not allow special chars even spaces.</a:t>
            </a:r>
          </a:p>
          <a:p>
            <a:pPr>
              <a:buNone/>
            </a:pPr>
            <a:r>
              <a:rPr lang="en-US" sz="2200" b="1" u="sng" dirty="0" smtClean="0"/>
              <a:t>Syntax: </a:t>
            </a:r>
            <a:r>
              <a:rPr lang="en-US" sz="2000" b="1" dirty="0" smtClean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.isalnum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 smtClean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3286124"/>
            <a:ext cx="4071966" cy="347787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straldemo.py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"python123"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"12345"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str4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"python@123"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str5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 123"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(str1. isalnum())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(str2. isalnum())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(str3. isalnum())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(str4. isalnum())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(str5. isalnum())</a:t>
            </a:r>
            <a:r>
              <a:rPr lang="en-US" sz="2000" dirty="0" smtClean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314" y="3857628"/>
            <a:ext cx="4214842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 smtClean="0"/>
              <a:t>python</a:t>
            </a:r>
            <a:r>
              <a:rPr lang="en-US" sz="2000" dirty="0" smtClean="0"/>
              <a:t> straldemo.py</a:t>
            </a:r>
          </a:p>
          <a:p>
            <a:pPr>
              <a:buNone/>
            </a:pPr>
            <a:r>
              <a:rPr lang="da-DK" sz="2000" dirty="0" smtClean="0"/>
              <a:t>True </a:t>
            </a:r>
          </a:p>
          <a:p>
            <a:pPr>
              <a:buNone/>
            </a:pPr>
            <a:r>
              <a:rPr lang="da-DK" sz="2000" dirty="0" smtClean="0"/>
              <a:t>True </a:t>
            </a:r>
          </a:p>
          <a:p>
            <a:pPr>
              <a:buNone/>
            </a:pPr>
            <a:r>
              <a:rPr lang="da-DK" sz="2000" dirty="0" smtClean="0"/>
              <a:t>True </a:t>
            </a:r>
          </a:p>
          <a:p>
            <a:pPr>
              <a:buNone/>
            </a:pPr>
            <a:r>
              <a:rPr lang="da-DK" sz="2000" dirty="0" smtClean="0"/>
              <a:t>False </a:t>
            </a:r>
          </a:p>
          <a:p>
            <a:pPr>
              <a:buNone/>
            </a:pPr>
            <a:r>
              <a:rPr lang="da-DK" sz="2000" dirty="0" smtClean="0"/>
              <a:t>False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836712"/>
            <a:ext cx="8715436" cy="566412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isdigit():</a:t>
            </a:r>
          </a:p>
          <a:p>
            <a:r>
              <a:rPr lang="en-US" sz="2200" dirty="0" smtClean="0"/>
              <a:t>In python, isdigit() method returns True if all the characters in the string are digits. It returns False if no character is digit in the string. </a:t>
            </a:r>
          </a:p>
          <a:p>
            <a:pPr>
              <a:buNone/>
            </a:pPr>
            <a:r>
              <a:rPr lang="en-US" sz="2200" b="1" dirty="0" smtClean="0"/>
              <a:t>						Syntax</a:t>
            </a:r>
            <a:r>
              <a:rPr lang="en-US" sz="2200" b="1" dirty="0" smtClean="0"/>
              <a:t>: </a:t>
            </a:r>
            <a:r>
              <a:rPr lang="en-US" sz="2000" b="1" dirty="0" smtClean="0">
                <a:solidFill>
                  <a:srgbClr val="008080"/>
                </a:solidFill>
                <a:latin typeface="Consolas"/>
              </a:rPr>
              <a:t>	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.isdigit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 smtClean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1916832"/>
            <a:ext cx="4214874" cy="513626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strdigitdemo.py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"12345"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"python123"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"123-45-78"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str4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"IIIV"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str5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"/u00B23" </a:t>
            </a:r>
            <a:r>
              <a:rPr lang="en-US" sz="2000" dirty="0" smtClean="0">
                <a:solidFill>
                  <a:srgbClr val="008000"/>
                </a:solidFill>
                <a:latin typeface="Consolas"/>
              </a:rPr>
              <a:t># </a:t>
            </a:r>
            <a:r>
              <a:rPr lang="en-US" sz="2000" dirty="0" smtClean="0">
                <a:solidFill>
                  <a:srgbClr val="008000"/>
                </a:solidFill>
                <a:latin typeface="Consolas"/>
              </a:rPr>
              <a:t>23 </a:t>
            </a:r>
            <a:r>
              <a:rPr lang="en-US" sz="2000" dirty="0"/>
              <a:t>👉 </a:t>
            </a:r>
            <a:r>
              <a:rPr lang="en-US" sz="2000" dirty="0" smtClean="0">
                <a:solidFill>
                  <a:srgbClr val="00B050"/>
                </a:solidFill>
              </a:rPr>
              <a:t>#Superscript </a:t>
            </a:r>
            <a:r>
              <a:rPr lang="en-US" sz="2000" dirty="0">
                <a:solidFill>
                  <a:srgbClr val="00B050"/>
                </a:solidFill>
              </a:rPr>
              <a:t>digits (like ², ³) are considered </a:t>
            </a:r>
            <a:r>
              <a:rPr lang="en-US" sz="2000" b="1" dirty="0">
                <a:solidFill>
                  <a:srgbClr val="00B050"/>
                </a:solidFill>
              </a:rPr>
              <a:t>digits in Unicode</a:t>
            </a:r>
            <a:r>
              <a:rPr lang="en-US" sz="2000" dirty="0" smtClean="0">
                <a:solidFill>
                  <a:srgbClr val="00B050"/>
                </a:solidFill>
                <a:latin typeface="Consolas"/>
              </a:rPr>
              <a:t> </a:t>
            </a:r>
            <a:endParaRPr lang="en-US" sz="2000" dirty="0" smtClean="0">
              <a:solidFill>
                <a:srgbClr val="00B050"/>
              </a:solidFill>
              <a:latin typeface="Consolas"/>
            </a:endParaRP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str6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"/u00BD" </a:t>
            </a:r>
            <a:r>
              <a:rPr lang="en-US" sz="2000" dirty="0" smtClean="0">
                <a:solidFill>
                  <a:srgbClr val="008000"/>
                </a:solidFill>
                <a:latin typeface="Consolas"/>
              </a:rPr>
              <a:t># 1/2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B050"/>
                </a:solidFill>
                <a:latin typeface="Consolas"/>
              </a:rPr>
              <a:t>#</a:t>
            </a:r>
            <a:r>
              <a:rPr lang="en-US" sz="2000" dirty="0" smtClean="0">
                <a:solidFill>
                  <a:srgbClr val="00B050"/>
                </a:solidFill>
              </a:rPr>
              <a:t>Fraction </a:t>
            </a:r>
            <a:r>
              <a:rPr lang="en-US" sz="2000" dirty="0">
                <a:solidFill>
                  <a:srgbClr val="00B050"/>
                </a:solidFill>
              </a:rPr>
              <a:t>characters are </a:t>
            </a:r>
            <a:r>
              <a:rPr lang="en-US" sz="2000" b="1" dirty="0">
                <a:solidFill>
                  <a:srgbClr val="00B050"/>
                </a:solidFill>
              </a:rPr>
              <a:t>not </a:t>
            </a:r>
            <a:r>
              <a:rPr lang="en-US" sz="2000" b="1" dirty="0" smtClean="0">
                <a:solidFill>
                  <a:srgbClr val="00B050"/>
                </a:solidFill>
              </a:rPr>
              <a:t>digits</a:t>
            </a:r>
          </a:p>
          <a:p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(str1.isdigit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(str2.isdigit())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(str3.isdigit())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(str4.isdigit())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(str5.isdigit())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(str6.isdigit())</a:t>
            </a:r>
            <a:r>
              <a:rPr lang="en-US" sz="2000" dirty="0" smtClean="0">
                <a:latin typeface="Consolas"/>
              </a:rPr>
              <a:t> 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314" y="3857628"/>
            <a:ext cx="4214842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 smtClean="0"/>
              <a:t>python</a:t>
            </a:r>
            <a:r>
              <a:rPr lang="en-US" sz="2000" dirty="0" smtClean="0"/>
              <a:t> strdigitldemo.py</a:t>
            </a:r>
          </a:p>
          <a:p>
            <a:pPr>
              <a:buNone/>
            </a:pPr>
            <a:r>
              <a:rPr lang="da-DK" sz="2000" dirty="0" smtClean="0"/>
              <a:t>True </a:t>
            </a:r>
          </a:p>
          <a:p>
            <a:pPr>
              <a:buNone/>
            </a:pPr>
            <a:r>
              <a:rPr lang="da-DK" sz="2000" dirty="0" smtClean="0"/>
              <a:t>False </a:t>
            </a:r>
          </a:p>
          <a:p>
            <a:pPr>
              <a:buNone/>
            </a:pPr>
            <a:r>
              <a:rPr lang="da-DK" sz="2000" dirty="0" smtClean="0"/>
              <a:t>False </a:t>
            </a:r>
          </a:p>
          <a:p>
            <a:pPr>
              <a:buNone/>
            </a:pPr>
            <a:r>
              <a:rPr lang="da-DK" sz="2000" dirty="0" smtClean="0"/>
              <a:t>False </a:t>
            </a:r>
          </a:p>
          <a:p>
            <a:pPr>
              <a:buNone/>
            </a:pPr>
            <a:r>
              <a:rPr lang="da-DK" sz="2000" dirty="0" smtClean="0"/>
              <a:t>True </a:t>
            </a:r>
          </a:p>
          <a:p>
            <a:pPr>
              <a:buNone/>
            </a:pPr>
            <a:r>
              <a:rPr lang="da-DK" sz="2000" dirty="0" smtClean="0"/>
              <a:t>False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isnumeric():</a:t>
            </a:r>
          </a:p>
          <a:p>
            <a:r>
              <a:rPr lang="en-US" sz="2200" dirty="0" smtClean="0"/>
              <a:t>In python, isnumeric() method checks whether all the characters of the string are numeric characters or not. It returns True if all the characters are numeric, otherwise returns False.</a:t>
            </a:r>
          </a:p>
          <a:p>
            <a:pPr>
              <a:buNone/>
            </a:pPr>
            <a:r>
              <a:rPr lang="en-US" sz="2200" b="1" u="sng" dirty="0" smtClean="0"/>
              <a:t>Syntax: </a:t>
            </a:r>
            <a:r>
              <a:rPr lang="en-US" sz="2000" b="1" dirty="0" smtClean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. isnumeric()</a:t>
            </a:r>
            <a:r>
              <a:rPr lang="en-US" sz="2000" dirty="0" smtClean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928934"/>
            <a:ext cx="4071966" cy="372409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strnumericdemo.py</a:t>
            </a:r>
            <a:endParaRPr lang="en-US" sz="2000" dirty="0" smtClean="0"/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"12345"</a:t>
            </a:r>
            <a:r>
              <a:rPr lang="en-US" dirty="0" smtClean="0">
                <a:latin typeface="Consolas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str2 = 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"python123"</a:t>
            </a:r>
            <a:r>
              <a:rPr lang="en-US" dirty="0" smtClean="0">
                <a:latin typeface="Consolas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str3 = 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"123-45-78"</a:t>
            </a:r>
            <a:r>
              <a:rPr lang="en-US" dirty="0" smtClean="0">
                <a:latin typeface="Consolas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str4 = 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"IIIV"</a:t>
            </a:r>
            <a:r>
              <a:rPr lang="en-US" dirty="0" smtClean="0">
                <a:latin typeface="Consolas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str5 = 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"/u00B23"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23</a:t>
            </a:r>
            <a:r>
              <a:rPr lang="en-US" dirty="0" smtClean="0">
                <a:latin typeface="Consolas"/>
              </a:rPr>
              <a:t> </a:t>
            </a:r>
          </a:p>
          <a:p>
            <a:r>
              <a:rPr lang="en-US" dirty="0" smtClean="0">
                <a:solidFill>
                  <a:srgbClr val="000000"/>
                </a:solidFill>
                <a:latin typeface="Consolas"/>
              </a:rPr>
              <a:t>str6 = </a:t>
            </a:r>
            <a:r>
              <a:rPr lang="en-US" dirty="0" smtClean="0">
                <a:solidFill>
                  <a:srgbClr val="FF00FF"/>
                </a:solidFill>
                <a:latin typeface="Consolas"/>
              </a:rPr>
              <a:t>"/u00BD" </a:t>
            </a:r>
            <a:r>
              <a:rPr lang="en-US" dirty="0" smtClean="0">
                <a:solidFill>
                  <a:srgbClr val="008000"/>
                </a:solidFill>
                <a:latin typeface="Consolas"/>
              </a:rPr>
              <a:t># 1/2</a:t>
            </a:r>
            <a:r>
              <a:rPr lang="en-US" dirty="0" smtClean="0"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(str1.</a:t>
            </a:r>
            <a:r>
              <a:rPr lang="en-US" dirty="0" smtClean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dirty="0" smtClean="0"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(str2.</a:t>
            </a:r>
            <a:r>
              <a:rPr lang="en-US" dirty="0" smtClean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dirty="0" smtClean="0"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(str3.</a:t>
            </a:r>
            <a:r>
              <a:rPr lang="en-US" dirty="0" smtClean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dirty="0" smtClean="0"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(str4.</a:t>
            </a:r>
            <a:r>
              <a:rPr lang="en-US" dirty="0" smtClean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dirty="0" smtClean="0"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(str5.</a:t>
            </a:r>
            <a:r>
              <a:rPr lang="en-US" dirty="0" smtClean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dirty="0" smtClean="0">
                <a:latin typeface="Consolas"/>
              </a:rPr>
              <a:t> </a:t>
            </a:r>
            <a:r>
              <a:rPr lang="en-US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(str6.</a:t>
            </a:r>
            <a:r>
              <a:rPr lang="en-US" dirty="0" smtClean="0">
                <a:solidFill>
                  <a:srgbClr val="008080"/>
                </a:solidFill>
                <a:latin typeface="Consolas"/>
              </a:rPr>
              <a:t>isnumeric</a:t>
            </a:r>
            <a:r>
              <a:rPr lang="en-US" dirty="0" smtClean="0">
                <a:solidFill>
                  <a:srgbClr val="000000"/>
                </a:solidFill>
                <a:latin typeface="Consolas"/>
              </a:rPr>
              <a:t>())</a:t>
            </a:r>
            <a:r>
              <a:rPr lang="en-US" dirty="0" smtClean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314" y="3786190"/>
            <a:ext cx="4214842" cy="2554545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 smtClean="0"/>
              <a:t>python</a:t>
            </a:r>
            <a:r>
              <a:rPr lang="en-US" sz="2000" dirty="0" smtClean="0"/>
              <a:t> strnumericldemo.py</a:t>
            </a:r>
          </a:p>
          <a:p>
            <a:pPr>
              <a:buNone/>
            </a:pPr>
            <a:r>
              <a:rPr lang="da-DK" sz="2000" dirty="0" smtClean="0"/>
              <a:t>True </a:t>
            </a:r>
          </a:p>
          <a:p>
            <a:pPr>
              <a:buNone/>
            </a:pPr>
            <a:r>
              <a:rPr lang="da-DK" sz="2000" dirty="0" smtClean="0"/>
              <a:t>False </a:t>
            </a:r>
          </a:p>
          <a:p>
            <a:pPr>
              <a:buNone/>
            </a:pPr>
            <a:r>
              <a:rPr lang="da-DK" sz="2000" dirty="0" smtClean="0"/>
              <a:t>False </a:t>
            </a:r>
          </a:p>
          <a:p>
            <a:pPr>
              <a:buNone/>
            </a:pPr>
            <a:r>
              <a:rPr lang="da-DK" sz="2000" dirty="0" smtClean="0"/>
              <a:t>False </a:t>
            </a:r>
          </a:p>
          <a:p>
            <a:pPr>
              <a:buNone/>
            </a:pPr>
            <a:r>
              <a:rPr lang="da-DK" sz="2000" dirty="0" smtClean="0"/>
              <a:t>True </a:t>
            </a:r>
          </a:p>
          <a:p>
            <a:pPr>
              <a:buNone/>
            </a:pPr>
            <a:r>
              <a:rPr lang="da-DK" sz="2000" dirty="0" smtClean="0"/>
              <a:t>True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islower():</a:t>
            </a:r>
          </a:p>
          <a:p>
            <a:r>
              <a:rPr lang="en-US" sz="2200" dirty="0" smtClean="0"/>
              <a:t>In python, islower() method returns True if all characters in the string are in lowercase. It returns False if not in lowercase.</a:t>
            </a:r>
          </a:p>
          <a:p>
            <a:pPr>
              <a:buNone/>
            </a:pPr>
            <a:r>
              <a:rPr lang="en-US" sz="2200" b="1" u="sng" dirty="0" smtClean="0"/>
              <a:t>Syntax: </a:t>
            </a:r>
            <a:r>
              <a:rPr lang="en-US" sz="2000" b="1" dirty="0" smtClean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.islower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 smtClean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643182"/>
            <a:ext cx="4071966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strlowerdemo.py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"python"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FF00FF"/>
                </a:solidFill>
                <a:latin typeface="Consolas"/>
              </a:rPr>
              <a:t>PytHOn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str3=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"python3.7.3"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(str1.islower())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(str2.islower())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(str3.islower())</a:t>
            </a:r>
            <a:r>
              <a:rPr lang="en-US" sz="2000" dirty="0" smtClean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314" y="4298114"/>
            <a:ext cx="4214842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 smtClean="0"/>
              <a:t>python</a:t>
            </a:r>
            <a:r>
              <a:rPr lang="en-US" sz="2000" dirty="0" smtClean="0"/>
              <a:t> strlowerldemo.py</a:t>
            </a:r>
          </a:p>
          <a:p>
            <a:pPr>
              <a:buNone/>
            </a:pPr>
            <a:r>
              <a:rPr lang="en-US" sz="2000" dirty="0" smtClean="0"/>
              <a:t>True </a:t>
            </a:r>
          </a:p>
          <a:p>
            <a:pPr>
              <a:buNone/>
            </a:pPr>
            <a:r>
              <a:rPr lang="en-US" sz="2000" dirty="0" smtClean="0"/>
              <a:t>False </a:t>
            </a:r>
          </a:p>
          <a:p>
            <a:pPr>
              <a:buNone/>
            </a:pPr>
            <a:r>
              <a:rPr lang="en-US" sz="2000" dirty="0" smtClean="0"/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6908"/>
          </a:xfrm>
        </p:spPr>
        <p:txBody>
          <a:bodyPr>
            <a:normAutofit fontScale="90000"/>
          </a:bodyPr>
          <a:lstStyle/>
          <a:p>
            <a:r>
              <a:rPr lang="en-US" sz="3600" b="1" dirty="0" smtClean="0">
                <a:solidFill>
                  <a:srgbClr val="E9B115"/>
                </a:solidFill>
              </a:rPr>
              <a:t> String Functions &amp; Methods </a:t>
            </a:r>
            <a:r>
              <a:rPr lang="en-US" sz="3600" b="1" dirty="0" smtClean="0"/>
              <a:t>in</a:t>
            </a:r>
            <a:r>
              <a:rPr lang="en-US" sz="3600" b="1" dirty="0" smtClean="0">
                <a:solidFill>
                  <a:srgbClr val="E9B115"/>
                </a:solidFill>
              </a:rPr>
              <a:t> </a:t>
            </a:r>
            <a:r>
              <a:rPr lang="en-US" sz="3600" b="1" dirty="0" smtClean="0">
                <a:solidFill>
                  <a:srgbClr val="0A83C0"/>
                </a:solidFill>
              </a:rPr>
              <a:t>Python          </a:t>
            </a:r>
            <a:r>
              <a:rPr lang="en-US" sz="2000" b="1" dirty="0" smtClean="0"/>
              <a:t>Cont..</a:t>
            </a:r>
            <a:endParaRPr lang="en-US" sz="3600" b="1" dirty="0" smtClean="0">
              <a:solidFill>
                <a:srgbClr val="0A83C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8564" y="1000108"/>
            <a:ext cx="8715436" cy="5500726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sz="2200" b="1" u="sng" dirty="0" smtClean="0">
                <a:solidFill>
                  <a:srgbClr val="0A83C0"/>
                </a:solidFill>
              </a:rPr>
              <a:t>☞ isupper():</a:t>
            </a:r>
          </a:p>
          <a:p>
            <a:r>
              <a:rPr lang="en-US" sz="2200" dirty="0" smtClean="0"/>
              <a:t>In python string isupper() method returns True if all characters in the string are in uppercase. It returns False if not in uppercase.</a:t>
            </a:r>
          </a:p>
          <a:p>
            <a:pPr>
              <a:buNone/>
            </a:pPr>
            <a:r>
              <a:rPr lang="en-US" sz="2200" b="1" u="sng" dirty="0" smtClean="0"/>
              <a:t>Syntax: </a:t>
            </a:r>
            <a:r>
              <a:rPr lang="en-US" sz="2000" b="1" dirty="0" smtClean="0">
                <a:solidFill>
                  <a:srgbClr val="008080"/>
                </a:solidFill>
                <a:latin typeface="Consolas"/>
              </a:rPr>
              <a:t>		</a:t>
            </a:r>
            <a:r>
              <a:rPr lang="en-US" sz="2000" dirty="0" err="1" smtClean="0">
                <a:solidFill>
                  <a:srgbClr val="008080"/>
                </a:solidFill>
                <a:latin typeface="Consolas"/>
              </a:rPr>
              <a:t>str</a:t>
            </a:r>
            <a:r>
              <a:rPr lang="en-US" sz="2000" dirty="0" err="1" smtClean="0">
                <a:solidFill>
                  <a:srgbClr val="000000"/>
                </a:solidFill>
                <a:latin typeface="Consolas"/>
              </a:rPr>
              <a:t>.isupper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()</a:t>
            </a:r>
            <a:r>
              <a:rPr lang="en-US" sz="2000" dirty="0" smtClean="0">
                <a:latin typeface="Consolas"/>
              </a:rPr>
              <a:t>  </a:t>
            </a: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>
              <a:buNone/>
            </a:pPr>
            <a:endParaRPr lang="en-US" sz="2000" dirty="0" smtClean="0">
              <a:latin typeface="Consolas"/>
            </a:endParaRPr>
          </a:p>
          <a:p>
            <a:pPr lvl="2">
              <a:buNone/>
            </a:pPr>
            <a:endParaRPr lang="en-US" sz="2200" b="1" dirty="0" smtClean="0"/>
          </a:p>
        </p:txBody>
      </p:sp>
      <p:cxnSp>
        <p:nvCxnSpPr>
          <p:cNvPr id="5" name="Straight Connector 4"/>
          <p:cNvCxnSpPr/>
          <p:nvPr/>
        </p:nvCxnSpPr>
        <p:spPr>
          <a:xfrm>
            <a:off x="0" y="1000108"/>
            <a:ext cx="9144000" cy="15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428596" y="2643182"/>
            <a:ext cx="4071966" cy="2246769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sz="2000" b="1" u="sng" dirty="0" smtClean="0">
                <a:solidFill>
                  <a:srgbClr val="0A83C0"/>
                </a:solidFill>
              </a:rPr>
              <a:t>Example:</a:t>
            </a:r>
            <a:r>
              <a:rPr lang="en-US" sz="2000" b="1" dirty="0" smtClean="0">
                <a:solidFill>
                  <a:srgbClr val="0A83C0"/>
                </a:solidFill>
              </a:rPr>
              <a:t>    </a:t>
            </a:r>
            <a:r>
              <a:rPr lang="en-US" sz="2000" b="1" dirty="0" smtClean="0"/>
              <a:t>strupperdemo.py</a:t>
            </a:r>
            <a:endParaRPr lang="en-US" sz="2000" dirty="0" smtClean="0"/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str1 = 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"PYTHON" 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str2=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err="1" smtClean="0">
                <a:solidFill>
                  <a:srgbClr val="FF00FF"/>
                </a:solidFill>
                <a:latin typeface="Consolas"/>
              </a:rPr>
              <a:t>PytHOn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</a:t>
            </a:r>
            <a:r>
              <a:rPr lang="en-US" sz="2000" dirty="0" smtClean="0">
                <a:latin typeface="Consolas"/>
              </a:rPr>
              <a:t> </a:t>
            </a:r>
          </a:p>
          <a:p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str3=</a:t>
            </a:r>
            <a:r>
              <a:rPr lang="en-US" sz="2000" dirty="0" smtClean="0">
                <a:solidFill>
                  <a:srgbClr val="FF00FF"/>
                </a:solidFill>
                <a:latin typeface="Consolas"/>
              </a:rPr>
              <a:t>"PYTHON 3.7.3"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(str1.isupper())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(str2.isupper())</a:t>
            </a:r>
            <a:r>
              <a:rPr lang="en-US" sz="2000" dirty="0" smtClean="0">
                <a:latin typeface="Consolas"/>
              </a:rPr>
              <a:t> </a:t>
            </a:r>
            <a:r>
              <a:rPr lang="en-US" sz="2000" dirty="0" smtClean="0">
                <a:solidFill>
                  <a:srgbClr val="0000FF"/>
                </a:solidFill>
                <a:latin typeface="Consolas"/>
              </a:rPr>
              <a:t>print</a:t>
            </a:r>
            <a:r>
              <a:rPr lang="en-US" sz="2000" dirty="0" smtClean="0">
                <a:solidFill>
                  <a:srgbClr val="000000"/>
                </a:solidFill>
                <a:latin typeface="Consolas"/>
              </a:rPr>
              <a:t>(str3.isupper())</a:t>
            </a:r>
            <a:r>
              <a:rPr lang="en-US" sz="2000" dirty="0" smtClean="0">
                <a:latin typeface="Consolas"/>
              </a:rPr>
              <a:t> 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86314" y="4298114"/>
            <a:ext cx="4214842" cy="1631216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>
              <a:buNone/>
            </a:pPr>
            <a:r>
              <a:rPr lang="en-US" sz="2000" b="1" dirty="0" smtClean="0">
                <a:solidFill>
                  <a:srgbClr val="FFC000"/>
                </a:solidFill>
              </a:rPr>
              <a:t>Output:		</a:t>
            </a:r>
          </a:p>
          <a:p>
            <a:pPr>
              <a:buNone/>
            </a:pPr>
            <a:r>
              <a:rPr lang="en-US" sz="2000" b="1" dirty="0" smtClean="0"/>
              <a:t>python</a:t>
            </a:r>
            <a:r>
              <a:rPr lang="en-US" sz="2000" dirty="0" smtClean="0"/>
              <a:t> strupperldemo.py</a:t>
            </a:r>
          </a:p>
          <a:p>
            <a:pPr>
              <a:buNone/>
            </a:pPr>
            <a:r>
              <a:rPr lang="en-US" sz="2000" dirty="0" smtClean="0"/>
              <a:t>True </a:t>
            </a:r>
          </a:p>
          <a:p>
            <a:pPr>
              <a:buNone/>
            </a:pPr>
            <a:r>
              <a:rPr lang="en-US" sz="2000" dirty="0" smtClean="0"/>
              <a:t>False </a:t>
            </a:r>
          </a:p>
          <a:p>
            <a:pPr>
              <a:buNone/>
            </a:pPr>
            <a:r>
              <a:rPr lang="en-US" sz="2000" dirty="0" smtClean="0"/>
              <a:t>True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7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u="sng" dirty="0" err="1" smtClean="0"/>
              <a:t>Aaj</a:t>
            </a:r>
            <a:r>
              <a:rPr lang="en-US" u="sng" dirty="0" smtClean="0"/>
              <a:t> </a:t>
            </a:r>
            <a:r>
              <a:rPr lang="en-US" u="sng" dirty="0" err="1" smtClean="0"/>
              <a:t>Ka</a:t>
            </a:r>
            <a:r>
              <a:rPr lang="en-US" u="sng" dirty="0" smtClean="0"/>
              <a:t> </a:t>
            </a:r>
            <a:r>
              <a:rPr lang="en-US" u="sng" dirty="0" err="1" smtClean="0"/>
              <a:t>Gyan</a:t>
            </a:r>
            <a:r>
              <a:rPr lang="en-US" u="sng" dirty="0" smtClean="0"/>
              <a:t>:</a:t>
            </a:r>
          </a:p>
          <a:p>
            <a:endParaRPr lang="en-US" u="sng" dirty="0" smtClean="0"/>
          </a:p>
          <a:p>
            <a:pPr marL="0" indent="0" algn="ctr">
              <a:buNone/>
            </a:pPr>
            <a:r>
              <a:rPr lang="en-US" sz="4000" dirty="0"/>
              <a:t>“Strings remind us that being clear and approachable makes communication easier.”</a:t>
            </a:r>
            <a:endParaRPr lang="en-IN" sz="4000" dirty="0"/>
          </a:p>
        </p:txBody>
      </p:sp>
    </p:spTree>
    <p:extLst>
      <p:ext uri="{BB962C8B-B14F-4D97-AF65-F5344CB8AC3E}">
        <p14:creationId xmlns:p14="http://schemas.microsoft.com/office/powerpoint/2010/main" val="2875161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2104</TotalTime>
  <Words>1440</Words>
  <Application>Microsoft Office PowerPoint</Application>
  <PresentationFormat>On-screen Show (4:3)</PresentationFormat>
  <Paragraphs>319</Paragraphs>
  <Slides>21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6" baseType="lpstr">
      <vt:lpstr>Arial</vt:lpstr>
      <vt:lpstr>Calibri</vt:lpstr>
      <vt:lpstr>Consolas</vt:lpstr>
      <vt:lpstr>Times New Roman</vt:lpstr>
      <vt:lpstr>Office Theme</vt:lpstr>
      <vt:lpstr>Strings in Python</vt:lpstr>
      <vt:lpstr>String Declaration</vt:lpstr>
      <vt:lpstr>Strings in Python</vt:lpstr>
      <vt:lpstr>PowerPoint Presentation</vt:lpstr>
      <vt:lpstr>String Indexing in Python</vt:lpstr>
      <vt:lpstr>PowerPoint Presentation</vt:lpstr>
      <vt:lpstr>String Operators in Python</vt:lpstr>
      <vt:lpstr>       String Operators in Python   cont…</vt:lpstr>
      <vt:lpstr>PowerPoint Presentation</vt:lpstr>
      <vt:lpstr>String Functions &amp; Methods in Python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 String Functions &amp; Methods in Python          Cont..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Welcome to Python!</dc:title>
  <dc:creator>Exam</dc:creator>
  <cp:lastModifiedBy>PalikaC</cp:lastModifiedBy>
  <cp:revision>328</cp:revision>
  <dcterms:created xsi:type="dcterms:W3CDTF">2020-06-10T05:05:50Z</dcterms:created>
  <dcterms:modified xsi:type="dcterms:W3CDTF">2026-01-30T05:16:00Z</dcterms:modified>
</cp:coreProperties>
</file>