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5" r:id="rId2"/>
    <p:sldId id="318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8" r:id="rId11"/>
    <p:sldId id="334" r:id="rId12"/>
    <p:sldId id="329" r:id="rId13"/>
    <p:sldId id="330" r:id="rId14"/>
    <p:sldId id="332" r:id="rId15"/>
    <p:sldId id="331" r:id="rId16"/>
    <p:sldId id="333" r:id="rId17"/>
    <p:sldId id="317" r:id="rId18"/>
  </p:sldIdLst>
  <p:sldSz cx="12188825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29" autoAdjust="0"/>
  </p:normalViewPr>
  <p:slideViewPr>
    <p:cSldViewPr showGuides="1">
      <p:cViewPr varScale="1">
        <p:scale>
          <a:sx n="68" d="100"/>
          <a:sy n="68" d="100"/>
        </p:scale>
        <p:origin x="704" y="4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4/17/2026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4/17/2026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4/17/2026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0412" y="609600"/>
            <a:ext cx="8229600" cy="2895600"/>
          </a:xfrm>
        </p:spPr>
        <p:txBody>
          <a:bodyPr/>
          <a:lstStyle/>
          <a:p>
            <a:r>
              <a:rPr lang="en-US" b="1" dirty="0"/>
              <a:t>Introduction to APIs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665956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What is API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2" y="2286000"/>
            <a:ext cx="10111581" cy="3276600"/>
          </a:xfrm>
        </p:spPr>
        <p:txBody>
          <a:bodyPr/>
          <a:lstStyle/>
          <a:p>
            <a:r>
              <a:rPr lang="en-US" dirty="0"/>
              <a:t>API Stands for  </a:t>
            </a:r>
            <a:r>
              <a:rPr lang="en-US" dirty="0">
                <a:cs typeface="Calibri" panose="020F0502020204030204" pitchFamily="34" charset="0"/>
              </a:rPr>
              <a:t>Application Programming Interface. </a:t>
            </a:r>
          </a:p>
          <a:p>
            <a:r>
              <a:rPr lang="en-US" dirty="0">
                <a:cs typeface="Calibri" panose="020F0502020204030204" pitchFamily="34" charset="0"/>
              </a:rPr>
              <a:t>API’s allows two applications to communicate with each other.</a:t>
            </a:r>
          </a:p>
          <a:p>
            <a:r>
              <a:rPr lang="en-US" dirty="0">
                <a:cs typeface="Calibri" panose="020F0502020204030204" pitchFamily="34" charset="0"/>
              </a:rPr>
              <a:t>It is a contract between the client and server.</a:t>
            </a:r>
          </a:p>
          <a:p>
            <a:r>
              <a:rPr lang="en-US" dirty="0">
                <a:cs typeface="Calibri" panose="020F0502020204030204" pitchFamily="34" charset="0"/>
              </a:rPr>
              <a:t>Client sends a request through the API and after performing the action the API will send back a response to the client.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212" y="304800"/>
            <a:ext cx="11178381" cy="4648200"/>
          </a:xfrm>
        </p:spPr>
        <p:txBody>
          <a:bodyPr>
            <a:normAutofit fontScale="70000" lnSpcReduction="20000"/>
          </a:bodyPr>
          <a:lstStyle/>
          <a:p>
            <a:r>
              <a:rPr lang="en-US" sz="3100" dirty="0"/>
              <a:t>APIs can be use for; </a:t>
            </a:r>
          </a:p>
          <a:p>
            <a:pPr lvl="1"/>
            <a:r>
              <a:rPr lang="en-US" sz="3100" dirty="0">
                <a:cs typeface="Calibri" panose="020F0502020204030204" pitchFamily="34" charset="0"/>
              </a:rPr>
              <a:t>Communication between services. </a:t>
            </a:r>
          </a:p>
          <a:p>
            <a:pPr lvl="3"/>
            <a:r>
              <a:rPr lang="en-US" sz="3100" dirty="0">
                <a:cs typeface="Calibri" panose="020F0502020204030204" pitchFamily="34" charset="0"/>
              </a:rPr>
              <a:t>Example : </a:t>
            </a:r>
            <a:r>
              <a:rPr lang="en-US" sz="3100" dirty="0" smtClean="0">
                <a:cs typeface="Calibri" panose="020F0502020204030204" pitchFamily="34" charset="0"/>
              </a:rPr>
              <a:t>payment through different payment APPs.</a:t>
            </a:r>
            <a:endParaRPr lang="en-US" sz="3100" dirty="0">
              <a:cs typeface="Calibri" panose="020F0502020204030204" pitchFamily="34" charset="0"/>
            </a:endParaRPr>
          </a:p>
          <a:p>
            <a:pPr lvl="1"/>
            <a:r>
              <a:rPr lang="en-US" sz="3100" dirty="0">
                <a:cs typeface="Calibri" panose="020F0502020204030204" pitchFamily="34" charset="0"/>
              </a:rPr>
              <a:t>Access inbuilt hardware of a device. </a:t>
            </a:r>
          </a:p>
          <a:p>
            <a:pPr lvl="3"/>
            <a:r>
              <a:rPr lang="en-US" sz="3100" dirty="0">
                <a:cs typeface="Calibri" panose="020F0502020204030204" pitchFamily="34" charset="0"/>
              </a:rPr>
              <a:t>Example :When you open Instagram and click 📷:</a:t>
            </a:r>
          </a:p>
          <a:p>
            <a:r>
              <a:rPr lang="en-US" sz="3100" b="1" dirty="0"/>
              <a:t>Step-by-step:</a:t>
            </a:r>
          </a:p>
          <a:p>
            <a:r>
              <a:rPr lang="en-US" sz="3100" dirty="0"/>
              <a:t>Instagram sends request → Camera API </a:t>
            </a:r>
          </a:p>
          <a:p>
            <a:r>
              <a:rPr lang="en-US" sz="3100" dirty="0"/>
              <a:t>API checks permission </a:t>
            </a:r>
          </a:p>
          <a:p>
            <a:r>
              <a:rPr lang="en-US" sz="3100" dirty="0"/>
              <a:t>API opens camera hardware </a:t>
            </a:r>
          </a:p>
          <a:p>
            <a:r>
              <a:rPr lang="en-US" sz="3100" dirty="0"/>
              <a:t>You capture photo </a:t>
            </a:r>
          </a:p>
          <a:p>
            <a:r>
              <a:rPr lang="en-US" sz="3100" dirty="0"/>
              <a:t>API returns image to </a:t>
            </a:r>
            <a:r>
              <a:rPr lang="en-US" sz="3100" dirty="0" smtClean="0"/>
              <a:t>app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A19959-A120-47E3-BEF4-A0432B1E781F}"/>
              </a:ext>
            </a:extLst>
          </p:cNvPr>
          <p:cNvSpPr/>
          <p:nvPr/>
        </p:nvSpPr>
        <p:spPr>
          <a:xfrm>
            <a:off x="2589212" y="4953000"/>
            <a:ext cx="1881980" cy="1295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</a:t>
            </a:r>
          </a:p>
        </p:txBody>
      </p:sp>
      <p:sp>
        <p:nvSpPr>
          <p:cNvPr id="5" name="Callout: Quad Arrow 4">
            <a:extLst>
              <a:ext uri="{FF2B5EF4-FFF2-40B4-BE49-F238E27FC236}">
                <a16:creationId xmlns:a16="http://schemas.microsoft.com/office/drawing/2014/main" id="{85E9A0E2-C354-4C60-B030-4B243A358DDA}"/>
              </a:ext>
            </a:extLst>
          </p:cNvPr>
          <p:cNvSpPr/>
          <p:nvPr/>
        </p:nvSpPr>
        <p:spPr>
          <a:xfrm>
            <a:off x="5694760" y="5257800"/>
            <a:ext cx="838200" cy="762000"/>
          </a:xfrm>
          <a:custGeom>
            <a:avLst/>
            <a:gdLst>
              <a:gd name="connsiteX0" fmla="*/ 0 w 838200"/>
              <a:gd name="connsiteY0" fmla="*/ 381000 h 762000"/>
              <a:gd name="connsiteX1" fmla="*/ 141084 w 838200"/>
              <a:gd name="connsiteY1" fmla="*/ 239916 h 762000"/>
              <a:gd name="connsiteX2" fmla="*/ 141084 w 838200"/>
              <a:gd name="connsiteY2" fmla="*/ 310458 h 762000"/>
              <a:gd name="connsiteX3" fmla="*/ 217417 w 838200"/>
              <a:gd name="connsiteY3" fmla="*/ 310458 h 762000"/>
              <a:gd name="connsiteX4" fmla="*/ 217417 w 838200"/>
              <a:gd name="connsiteY4" fmla="*/ 197651 h 762000"/>
              <a:gd name="connsiteX5" fmla="*/ 348558 w 838200"/>
              <a:gd name="connsiteY5" fmla="*/ 197651 h 762000"/>
              <a:gd name="connsiteX6" fmla="*/ 348558 w 838200"/>
              <a:gd name="connsiteY6" fmla="*/ 141084 h 762000"/>
              <a:gd name="connsiteX7" fmla="*/ 278016 w 838200"/>
              <a:gd name="connsiteY7" fmla="*/ 141084 h 762000"/>
              <a:gd name="connsiteX8" fmla="*/ 419100 w 838200"/>
              <a:gd name="connsiteY8" fmla="*/ 0 h 762000"/>
              <a:gd name="connsiteX9" fmla="*/ 560184 w 838200"/>
              <a:gd name="connsiteY9" fmla="*/ 141084 h 762000"/>
              <a:gd name="connsiteX10" fmla="*/ 489642 w 838200"/>
              <a:gd name="connsiteY10" fmla="*/ 141084 h 762000"/>
              <a:gd name="connsiteX11" fmla="*/ 489642 w 838200"/>
              <a:gd name="connsiteY11" fmla="*/ 197651 h 762000"/>
              <a:gd name="connsiteX12" fmla="*/ 620783 w 838200"/>
              <a:gd name="connsiteY12" fmla="*/ 197651 h 762000"/>
              <a:gd name="connsiteX13" fmla="*/ 620783 w 838200"/>
              <a:gd name="connsiteY13" fmla="*/ 310458 h 762000"/>
              <a:gd name="connsiteX14" fmla="*/ 697116 w 838200"/>
              <a:gd name="connsiteY14" fmla="*/ 310458 h 762000"/>
              <a:gd name="connsiteX15" fmla="*/ 697116 w 838200"/>
              <a:gd name="connsiteY15" fmla="*/ 239916 h 762000"/>
              <a:gd name="connsiteX16" fmla="*/ 838200 w 838200"/>
              <a:gd name="connsiteY16" fmla="*/ 381000 h 762000"/>
              <a:gd name="connsiteX17" fmla="*/ 697116 w 838200"/>
              <a:gd name="connsiteY17" fmla="*/ 522084 h 762000"/>
              <a:gd name="connsiteX18" fmla="*/ 697116 w 838200"/>
              <a:gd name="connsiteY18" fmla="*/ 451542 h 762000"/>
              <a:gd name="connsiteX19" fmla="*/ 620783 w 838200"/>
              <a:gd name="connsiteY19" fmla="*/ 451542 h 762000"/>
              <a:gd name="connsiteX20" fmla="*/ 620783 w 838200"/>
              <a:gd name="connsiteY20" fmla="*/ 564349 h 762000"/>
              <a:gd name="connsiteX21" fmla="*/ 489642 w 838200"/>
              <a:gd name="connsiteY21" fmla="*/ 564349 h 762000"/>
              <a:gd name="connsiteX22" fmla="*/ 489642 w 838200"/>
              <a:gd name="connsiteY22" fmla="*/ 620916 h 762000"/>
              <a:gd name="connsiteX23" fmla="*/ 560184 w 838200"/>
              <a:gd name="connsiteY23" fmla="*/ 620916 h 762000"/>
              <a:gd name="connsiteX24" fmla="*/ 419100 w 838200"/>
              <a:gd name="connsiteY24" fmla="*/ 762000 h 762000"/>
              <a:gd name="connsiteX25" fmla="*/ 278016 w 838200"/>
              <a:gd name="connsiteY25" fmla="*/ 620916 h 762000"/>
              <a:gd name="connsiteX26" fmla="*/ 348558 w 838200"/>
              <a:gd name="connsiteY26" fmla="*/ 620916 h 762000"/>
              <a:gd name="connsiteX27" fmla="*/ 348558 w 838200"/>
              <a:gd name="connsiteY27" fmla="*/ 564349 h 762000"/>
              <a:gd name="connsiteX28" fmla="*/ 217417 w 838200"/>
              <a:gd name="connsiteY28" fmla="*/ 564349 h 762000"/>
              <a:gd name="connsiteX29" fmla="*/ 217417 w 838200"/>
              <a:gd name="connsiteY29" fmla="*/ 451542 h 762000"/>
              <a:gd name="connsiteX30" fmla="*/ 141084 w 838200"/>
              <a:gd name="connsiteY30" fmla="*/ 451542 h 762000"/>
              <a:gd name="connsiteX31" fmla="*/ 141084 w 838200"/>
              <a:gd name="connsiteY31" fmla="*/ 522084 h 762000"/>
              <a:gd name="connsiteX32" fmla="*/ 0 w 838200"/>
              <a:gd name="connsiteY32" fmla="*/ 381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38200" h="762000" extrusionOk="0">
                <a:moveTo>
                  <a:pt x="0" y="381000"/>
                </a:moveTo>
                <a:cubicBezTo>
                  <a:pt x="66691" y="323034"/>
                  <a:pt x="127076" y="256481"/>
                  <a:pt x="141084" y="239916"/>
                </a:cubicBezTo>
                <a:cubicBezTo>
                  <a:pt x="136828" y="271577"/>
                  <a:pt x="139499" y="287492"/>
                  <a:pt x="141084" y="310458"/>
                </a:cubicBezTo>
                <a:cubicBezTo>
                  <a:pt x="172986" y="311946"/>
                  <a:pt x="203636" y="306194"/>
                  <a:pt x="217417" y="310458"/>
                </a:cubicBezTo>
                <a:cubicBezTo>
                  <a:pt x="222025" y="265578"/>
                  <a:pt x="211506" y="227630"/>
                  <a:pt x="217417" y="197651"/>
                </a:cubicBezTo>
                <a:cubicBezTo>
                  <a:pt x="240346" y="195285"/>
                  <a:pt x="334120" y="202283"/>
                  <a:pt x="348558" y="197651"/>
                </a:cubicBezTo>
                <a:cubicBezTo>
                  <a:pt x="344479" y="176967"/>
                  <a:pt x="347396" y="162800"/>
                  <a:pt x="348558" y="141084"/>
                </a:cubicBezTo>
                <a:cubicBezTo>
                  <a:pt x="339173" y="138627"/>
                  <a:pt x="291160" y="146695"/>
                  <a:pt x="278016" y="141084"/>
                </a:cubicBezTo>
                <a:cubicBezTo>
                  <a:pt x="300099" y="114651"/>
                  <a:pt x="373959" y="35946"/>
                  <a:pt x="419100" y="0"/>
                </a:cubicBezTo>
                <a:cubicBezTo>
                  <a:pt x="479529" y="64568"/>
                  <a:pt x="536729" y="103320"/>
                  <a:pt x="560184" y="141084"/>
                </a:cubicBezTo>
                <a:cubicBezTo>
                  <a:pt x="527266" y="145776"/>
                  <a:pt x="497925" y="142452"/>
                  <a:pt x="489642" y="141084"/>
                </a:cubicBezTo>
                <a:cubicBezTo>
                  <a:pt x="484864" y="159200"/>
                  <a:pt x="487393" y="181710"/>
                  <a:pt x="489642" y="197651"/>
                </a:cubicBezTo>
                <a:cubicBezTo>
                  <a:pt x="534427" y="189455"/>
                  <a:pt x="586751" y="196380"/>
                  <a:pt x="620783" y="197651"/>
                </a:cubicBezTo>
                <a:cubicBezTo>
                  <a:pt x="630301" y="231670"/>
                  <a:pt x="630468" y="275201"/>
                  <a:pt x="620783" y="310458"/>
                </a:cubicBezTo>
                <a:cubicBezTo>
                  <a:pt x="629594" y="316961"/>
                  <a:pt x="685754" y="315942"/>
                  <a:pt x="697116" y="310458"/>
                </a:cubicBezTo>
                <a:cubicBezTo>
                  <a:pt x="695434" y="285244"/>
                  <a:pt x="697057" y="264461"/>
                  <a:pt x="697116" y="239916"/>
                </a:cubicBezTo>
                <a:cubicBezTo>
                  <a:pt x="749579" y="294481"/>
                  <a:pt x="774548" y="310748"/>
                  <a:pt x="838200" y="381000"/>
                </a:cubicBezTo>
                <a:cubicBezTo>
                  <a:pt x="825357" y="400136"/>
                  <a:pt x="707445" y="492065"/>
                  <a:pt x="697116" y="522084"/>
                </a:cubicBezTo>
                <a:cubicBezTo>
                  <a:pt x="691075" y="508049"/>
                  <a:pt x="702829" y="468115"/>
                  <a:pt x="697116" y="451542"/>
                </a:cubicBezTo>
                <a:cubicBezTo>
                  <a:pt x="688056" y="447404"/>
                  <a:pt x="652495" y="449207"/>
                  <a:pt x="620783" y="451542"/>
                </a:cubicBezTo>
                <a:cubicBezTo>
                  <a:pt x="610878" y="469679"/>
                  <a:pt x="627070" y="530838"/>
                  <a:pt x="620783" y="564349"/>
                </a:cubicBezTo>
                <a:cubicBezTo>
                  <a:pt x="558511" y="566282"/>
                  <a:pt x="506709" y="563610"/>
                  <a:pt x="489642" y="564349"/>
                </a:cubicBezTo>
                <a:cubicBezTo>
                  <a:pt x="489316" y="583774"/>
                  <a:pt x="493683" y="607001"/>
                  <a:pt x="489642" y="620916"/>
                </a:cubicBezTo>
                <a:cubicBezTo>
                  <a:pt x="517446" y="618255"/>
                  <a:pt x="526610" y="616321"/>
                  <a:pt x="560184" y="620916"/>
                </a:cubicBezTo>
                <a:cubicBezTo>
                  <a:pt x="531108" y="652513"/>
                  <a:pt x="469878" y="696767"/>
                  <a:pt x="419100" y="762000"/>
                </a:cubicBezTo>
                <a:cubicBezTo>
                  <a:pt x="383648" y="709488"/>
                  <a:pt x="327245" y="666827"/>
                  <a:pt x="278016" y="620916"/>
                </a:cubicBezTo>
                <a:cubicBezTo>
                  <a:pt x="310177" y="620473"/>
                  <a:pt x="337933" y="616369"/>
                  <a:pt x="348558" y="620916"/>
                </a:cubicBezTo>
                <a:cubicBezTo>
                  <a:pt x="348262" y="605843"/>
                  <a:pt x="349496" y="573119"/>
                  <a:pt x="348558" y="564349"/>
                </a:cubicBezTo>
                <a:cubicBezTo>
                  <a:pt x="300968" y="554919"/>
                  <a:pt x="232112" y="567904"/>
                  <a:pt x="217417" y="564349"/>
                </a:cubicBezTo>
                <a:cubicBezTo>
                  <a:pt x="219099" y="519546"/>
                  <a:pt x="220601" y="484538"/>
                  <a:pt x="217417" y="451542"/>
                </a:cubicBezTo>
                <a:cubicBezTo>
                  <a:pt x="206942" y="448399"/>
                  <a:pt x="157862" y="446216"/>
                  <a:pt x="141084" y="451542"/>
                </a:cubicBezTo>
                <a:cubicBezTo>
                  <a:pt x="142285" y="461980"/>
                  <a:pt x="139816" y="493360"/>
                  <a:pt x="141084" y="522084"/>
                </a:cubicBezTo>
                <a:cubicBezTo>
                  <a:pt x="125920" y="492281"/>
                  <a:pt x="23538" y="387380"/>
                  <a:pt x="0" y="38100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="" xmlns:ask="http://schemas.microsoft.com/office/drawing/2018/sketchyshapes" sd="2290450585">
                  <a:prstGeom prst="quadArrowCallou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API</a:t>
            </a:r>
            <a:endParaRPr lang="en-US" sz="28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700227-B6FB-4429-A86B-4E4DB62176B9}"/>
              </a:ext>
            </a:extLst>
          </p:cNvPr>
          <p:cNvSpPr/>
          <p:nvPr/>
        </p:nvSpPr>
        <p:spPr>
          <a:xfrm>
            <a:off x="7717632" y="4953000"/>
            <a:ext cx="1881980" cy="1295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  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5FE32DF5-7BFE-4B66-BF34-3C19BD77906A}"/>
              </a:ext>
            </a:extLst>
          </p:cNvPr>
          <p:cNvSpPr/>
          <p:nvPr/>
        </p:nvSpPr>
        <p:spPr>
          <a:xfrm>
            <a:off x="4646612" y="5562600"/>
            <a:ext cx="838200" cy="152400"/>
          </a:xfrm>
          <a:prstGeom prst="leftRightArrow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B700BE60-E507-4E58-8F00-486CC0D7887E}"/>
              </a:ext>
            </a:extLst>
          </p:cNvPr>
          <p:cNvSpPr/>
          <p:nvPr/>
        </p:nvSpPr>
        <p:spPr>
          <a:xfrm>
            <a:off x="6704012" y="5562600"/>
            <a:ext cx="838200" cy="152400"/>
          </a:xfrm>
          <a:prstGeom prst="leftRightArrow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7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Types of Application Programming Interface (APIs)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212" y="2590800"/>
            <a:ext cx="6781800" cy="3276600"/>
          </a:xfrm>
        </p:spPr>
        <p:txBody>
          <a:bodyPr/>
          <a:lstStyle/>
          <a:p>
            <a:r>
              <a:rPr lang="en-US" dirty="0"/>
              <a:t>Private API </a:t>
            </a:r>
          </a:p>
          <a:p>
            <a:r>
              <a:rPr lang="en-US" dirty="0">
                <a:cs typeface="Calibri" panose="020F0502020204030204" pitchFamily="34" charset="0"/>
              </a:rPr>
              <a:t>Public API </a:t>
            </a:r>
          </a:p>
          <a:p>
            <a:r>
              <a:rPr lang="en-US" dirty="0">
                <a:cs typeface="Calibri" panose="020F0502020204030204" pitchFamily="34" charset="0"/>
              </a:rPr>
              <a:t>Partner API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8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Private API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57400"/>
            <a:ext cx="10744200" cy="3276600"/>
          </a:xfrm>
        </p:spPr>
        <p:txBody>
          <a:bodyPr/>
          <a:lstStyle/>
          <a:p>
            <a:r>
              <a:rPr lang="en-US" dirty="0"/>
              <a:t>Private APIs are developed by own company to enhance the own products and services.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They have below characteristics ; 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Less Common.</a:t>
            </a:r>
          </a:p>
          <a:p>
            <a:pPr lvl="1"/>
            <a:r>
              <a:rPr lang="en-US" dirty="0"/>
              <a:t>Exposed only to the internal systems.</a:t>
            </a:r>
          </a:p>
          <a:p>
            <a:pPr lvl="1"/>
            <a:r>
              <a:rPr lang="en-US" dirty="0"/>
              <a:t>Used across internal development teams within the company.</a:t>
            </a:r>
          </a:p>
          <a:p>
            <a:pPr marL="231775" lvl="1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8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Public API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57400"/>
            <a:ext cx="10744200" cy="3276600"/>
          </a:xfrm>
        </p:spPr>
        <p:txBody>
          <a:bodyPr/>
          <a:lstStyle/>
          <a:p>
            <a:r>
              <a:rPr lang="en-US" dirty="0"/>
              <a:t>Public APIs are published publicly and that can be used by anyone(any third-party user).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They have below characteristics ;  </a:t>
            </a:r>
          </a:p>
          <a:p>
            <a:pPr lvl="1"/>
            <a:r>
              <a:rPr lang="en-US" dirty="0"/>
              <a:t>Publicly available without any access restriction.</a:t>
            </a:r>
          </a:p>
          <a:p>
            <a:pPr lvl="1"/>
            <a:r>
              <a:rPr lang="en-US" dirty="0"/>
              <a:t>Used to  communicate beyond the boundaries of the company.</a:t>
            </a:r>
          </a:p>
          <a:p>
            <a:pPr lvl="1"/>
            <a:r>
              <a:rPr lang="en-US" dirty="0"/>
              <a:t>No need to necessarily have a business relationship with them. </a:t>
            </a:r>
          </a:p>
          <a:p>
            <a:pPr lvl="1"/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0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Partner API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57400"/>
            <a:ext cx="10744200" cy="3276600"/>
          </a:xfrm>
        </p:spPr>
        <p:txBody>
          <a:bodyPr/>
          <a:lstStyle/>
          <a:p>
            <a:r>
              <a:rPr lang="en-US" dirty="0"/>
              <a:t>Partner APIs are used by specific parties with whom the company agrees to share data.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They have below characteristics ;  </a:t>
            </a:r>
          </a:p>
          <a:p>
            <a:pPr lvl="1"/>
            <a:r>
              <a:rPr lang="en-US" dirty="0"/>
              <a:t>Are exposed to selected business partners.</a:t>
            </a:r>
          </a:p>
          <a:p>
            <a:pPr lvl="1"/>
            <a:r>
              <a:rPr lang="en-US" dirty="0"/>
              <a:t>Used for communication between a company and its business partners.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1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What is Web Service 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212" y="2209800"/>
            <a:ext cx="9296400" cy="3200400"/>
          </a:xfrm>
        </p:spPr>
        <p:txBody>
          <a:bodyPr/>
          <a:lstStyle/>
          <a:p>
            <a:r>
              <a:rPr lang="en-US" dirty="0"/>
              <a:t>Used for exchanging data between applications or systems with the support of protocols and standards via internet. </a:t>
            </a:r>
          </a:p>
          <a:p>
            <a:r>
              <a:rPr lang="en-US" dirty="0"/>
              <a:t>Main component of a web service is the data which is transferred between the client and the server, and that is XML.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1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Web Service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212" y="2209800"/>
            <a:ext cx="9296400" cy="3200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5" name="Graphic 4" descr="Server">
            <a:extLst>
              <a:ext uri="{FF2B5EF4-FFF2-40B4-BE49-F238E27FC236}">
                <a16:creationId xmlns:a16="http://schemas.microsoft.com/office/drawing/2014/main" id="{8A7E09EF-FF77-4074-9374-9B8031EC2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0412" y="2809875"/>
            <a:ext cx="914400" cy="914400"/>
          </a:xfrm>
          <a:prstGeom prst="rect">
            <a:avLst/>
          </a:prstGeom>
        </p:spPr>
      </p:pic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2FFC4A38-7D92-4D39-822A-A6FEB8FCC9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7212" y="2809875"/>
            <a:ext cx="914400" cy="914400"/>
          </a:xfrm>
          <a:prstGeom prst="rect">
            <a:avLst/>
          </a:prstGeom>
        </p:spPr>
      </p:pic>
      <p:pic>
        <p:nvPicPr>
          <p:cNvPr id="9" name="Graphic 8" descr="Computer">
            <a:extLst>
              <a:ext uri="{FF2B5EF4-FFF2-40B4-BE49-F238E27FC236}">
                <a16:creationId xmlns:a16="http://schemas.microsoft.com/office/drawing/2014/main" id="{D2B2A554-3C44-4B4E-BA96-D2D18668F2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94012" y="2886075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94679F-D947-4ABE-81BE-5F70463AAB43}"/>
              </a:ext>
            </a:extLst>
          </p:cNvPr>
          <p:cNvCxnSpPr/>
          <p:nvPr/>
        </p:nvCxnSpPr>
        <p:spPr>
          <a:xfrm>
            <a:off x="3960812" y="3343275"/>
            <a:ext cx="14478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FD310D-4D32-4882-BB26-5AE0D230DFBF}"/>
              </a:ext>
            </a:extLst>
          </p:cNvPr>
          <p:cNvCxnSpPr/>
          <p:nvPr/>
        </p:nvCxnSpPr>
        <p:spPr>
          <a:xfrm>
            <a:off x="6780212" y="3343275"/>
            <a:ext cx="14478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9474023-C4A5-4A49-989F-4701C0F52881}"/>
              </a:ext>
            </a:extLst>
          </p:cNvPr>
          <p:cNvSpPr/>
          <p:nvPr/>
        </p:nvSpPr>
        <p:spPr>
          <a:xfrm>
            <a:off x="2817812" y="3800475"/>
            <a:ext cx="990600" cy="30480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73DD75-4884-4E82-9778-5DF120A7BDA8}"/>
              </a:ext>
            </a:extLst>
          </p:cNvPr>
          <p:cNvSpPr/>
          <p:nvPr/>
        </p:nvSpPr>
        <p:spPr>
          <a:xfrm>
            <a:off x="8151812" y="3800475"/>
            <a:ext cx="1447800" cy="30480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C638B6-C199-4BA4-80AF-46D4C01077B3}"/>
              </a:ext>
            </a:extLst>
          </p:cNvPr>
          <p:cNvSpPr/>
          <p:nvPr/>
        </p:nvSpPr>
        <p:spPr>
          <a:xfrm>
            <a:off x="5408612" y="3800475"/>
            <a:ext cx="1447800" cy="30480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86839-D265-41C0-854B-CDC659BAD820}"/>
              </a:ext>
            </a:extLst>
          </p:cNvPr>
          <p:cNvSpPr/>
          <p:nvPr/>
        </p:nvSpPr>
        <p:spPr>
          <a:xfrm>
            <a:off x="1827212" y="4638675"/>
            <a:ext cx="8915400" cy="68580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request services from web server and server response to client with the web service.</a:t>
            </a:r>
          </a:p>
        </p:txBody>
      </p:sp>
    </p:spTree>
    <p:extLst>
      <p:ext uri="{BB962C8B-B14F-4D97-AF65-F5344CB8AC3E}">
        <p14:creationId xmlns:p14="http://schemas.microsoft.com/office/powerpoint/2010/main" val="338998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Web Service API 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212" y="2209800"/>
            <a:ext cx="9296400" cy="3200400"/>
          </a:xfrm>
        </p:spPr>
        <p:txBody>
          <a:bodyPr/>
          <a:lstStyle/>
          <a:p>
            <a:r>
              <a:rPr lang="en-US" dirty="0"/>
              <a:t>There are two major types of web services; </a:t>
            </a:r>
          </a:p>
          <a:p>
            <a:pPr marL="0" indent="0">
              <a:buNone/>
            </a:pPr>
            <a:endParaRPr lang="en-US" dirty="0"/>
          </a:p>
          <a:p>
            <a:pPr lvl="6"/>
            <a:r>
              <a:rPr lang="en-US" sz="2000" dirty="0"/>
              <a:t>SOAP Web Services (Simple Object Access Protocol)</a:t>
            </a:r>
          </a:p>
          <a:p>
            <a:pPr lvl="6"/>
            <a:r>
              <a:rPr lang="en-US" sz="2000" dirty="0"/>
              <a:t>REST  Web Services (Representational State Transfer )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57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Web Service API ?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1828800"/>
            <a:ext cx="9067800" cy="47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9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What is SOAP?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812" y="2286000"/>
            <a:ext cx="9525000" cy="3581400"/>
          </a:xfrm>
        </p:spPr>
        <p:txBody>
          <a:bodyPr>
            <a:normAutofit/>
          </a:bodyPr>
          <a:lstStyle/>
          <a:p>
            <a:r>
              <a:rPr lang="en-US" sz="2000" dirty="0"/>
              <a:t>SOAP stands for  Simple Object Access Protocol.</a:t>
            </a:r>
          </a:p>
          <a:p>
            <a:r>
              <a:rPr lang="en-US" sz="2000" dirty="0"/>
              <a:t>A format for sending and receiving messages.</a:t>
            </a:r>
          </a:p>
          <a:p>
            <a:r>
              <a:rPr lang="en-US" sz="2000" dirty="0"/>
              <a:t>SOAP is platform independent.</a:t>
            </a:r>
          </a:p>
          <a:p>
            <a:r>
              <a:rPr lang="en-US" sz="2000" dirty="0"/>
              <a:t>Originally developed by Microsoft. </a:t>
            </a:r>
          </a:p>
          <a:p>
            <a:r>
              <a:rPr lang="en-US" sz="2000" dirty="0"/>
              <a:t>The best way to communicate between applications is over HTTP.</a:t>
            </a:r>
          </a:p>
          <a:p>
            <a:r>
              <a:rPr lang="en-US" sz="2000" dirty="0"/>
              <a:t>SOAP provides a way to communicate between applications running on different operating systems, with different technologies and programming languages.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73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630" y="7620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Building Blocks of SOAP?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2012" y="2514600"/>
            <a:ext cx="9525000" cy="3581400"/>
          </a:xfrm>
        </p:spPr>
        <p:txBody>
          <a:bodyPr>
            <a:normAutofit/>
          </a:bodyPr>
          <a:lstStyle/>
          <a:p>
            <a:r>
              <a:rPr lang="en-US" sz="2000" dirty="0"/>
              <a:t>A SOAP message is an ordinary XML document which contains;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dirty="0"/>
              <a:t>An Envelope : identifies the XML document as a SOAP message</a:t>
            </a:r>
          </a:p>
          <a:p>
            <a:pPr lvl="1"/>
            <a:r>
              <a:rPr lang="en-US" dirty="0"/>
              <a:t>A Header : contains header information</a:t>
            </a:r>
          </a:p>
          <a:p>
            <a:pPr lvl="1"/>
            <a:r>
              <a:rPr lang="en-US" dirty="0"/>
              <a:t>A Body : contains call and response information</a:t>
            </a:r>
          </a:p>
          <a:p>
            <a:pPr lvl="1"/>
            <a:r>
              <a:rPr lang="en-US" dirty="0"/>
              <a:t>A Fault  : contains errors and status information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4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0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What is REST?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2" y="1828800"/>
            <a:ext cx="9525000" cy="35814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REST stands for </a:t>
            </a:r>
            <a:r>
              <a:rPr lang="en-US" sz="2000" dirty="0" err="1"/>
              <a:t>REpresentational</a:t>
            </a:r>
            <a:r>
              <a:rPr lang="en-US" sz="2000" dirty="0"/>
              <a:t> State Transfer.</a:t>
            </a:r>
          </a:p>
          <a:p>
            <a:r>
              <a:rPr lang="en-US" dirty="0"/>
              <a:t>Relies on a stateless communications protocol most commonly, HTTP.</a:t>
            </a:r>
          </a:p>
          <a:p>
            <a:r>
              <a:rPr lang="en-US" dirty="0"/>
              <a:t>REST structures data in </a:t>
            </a:r>
            <a:r>
              <a:rPr lang="en-US" dirty="0" smtClean="0"/>
              <a:t>XML(</a:t>
            </a:r>
            <a:r>
              <a:rPr lang="en-IN" b="1" dirty="0"/>
              <a:t>Extensible </a:t>
            </a:r>
            <a:r>
              <a:rPr lang="en-IN" b="1" dirty="0" err="1"/>
              <a:t>Markup</a:t>
            </a:r>
            <a:r>
              <a:rPr lang="en-IN" b="1" dirty="0"/>
              <a:t> </a:t>
            </a:r>
            <a:r>
              <a:rPr lang="en-IN" b="1" dirty="0" smtClean="0"/>
              <a:t>Language)</a:t>
            </a:r>
            <a:r>
              <a:rPr lang="en-US" dirty="0" smtClean="0"/>
              <a:t>, YAML (Yet Another Markup Language), </a:t>
            </a:r>
            <a:r>
              <a:rPr lang="en-US" dirty="0"/>
              <a:t>or any other format that is machine-readable.</a:t>
            </a:r>
          </a:p>
          <a:p>
            <a:r>
              <a:rPr lang="en-US" dirty="0"/>
              <a:t>Usually </a:t>
            </a:r>
            <a:r>
              <a:rPr lang="en-US" dirty="0" smtClean="0"/>
              <a:t>JSON(</a:t>
            </a:r>
            <a:r>
              <a:rPr lang="en-IN" dirty="0"/>
              <a:t>JavaScript Object </a:t>
            </a:r>
            <a:r>
              <a:rPr lang="en-IN" dirty="0" smtClean="0"/>
              <a:t>Notation) </a:t>
            </a:r>
            <a:r>
              <a:rPr lang="en-US" dirty="0" smtClean="0"/>
              <a:t>is </a:t>
            </a:r>
            <a:r>
              <a:rPr lang="en-US" dirty="0"/>
              <a:t>the most widely used </a:t>
            </a:r>
            <a:r>
              <a:rPr lang="en-US" dirty="0" smtClean="0"/>
              <a:t>format now. </a:t>
            </a:r>
            <a:endParaRPr lang="en-US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10668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Basic REST Request?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2" y="2362200"/>
            <a:ext cx="9525000" cy="3048000"/>
          </a:xfrm>
        </p:spPr>
        <p:txBody>
          <a:bodyPr>
            <a:normAutofit/>
          </a:bodyPr>
          <a:lstStyle/>
          <a:p>
            <a:r>
              <a:rPr lang="en-US" dirty="0"/>
              <a:t>GET : read or retrieve data</a:t>
            </a:r>
          </a:p>
          <a:p>
            <a:r>
              <a:rPr lang="en-US" dirty="0"/>
              <a:t>POST : add new data</a:t>
            </a:r>
          </a:p>
          <a:p>
            <a:r>
              <a:rPr lang="en-US" dirty="0"/>
              <a:t>PUT : update existing data</a:t>
            </a:r>
          </a:p>
          <a:p>
            <a:r>
              <a:rPr lang="en-US" dirty="0"/>
              <a:t>DELETE : delete data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5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609600"/>
            <a:ext cx="11178382" cy="914400"/>
          </a:xfrm>
        </p:spPr>
        <p:txBody>
          <a:bodyPr/>
          <a:lstStyle/>
          <a:p>
            <a:r>
              <a:rPr lang="en-US" b="1" dirty="0">
                <a:latin typeface="Abadi" panose="020B0604020104020204" pitchFamily="34" charset="0"/>
              </a:rPr>
              <a:t>Compare and Contrast SOAP vs REST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1B6E84A-272D-4C5B-8F8C-B2F782585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917675"/>
              </p:ext>
            </p:extLst>
          </p:nvPr>
        </p:nvGraphicFramePr>
        <p:xfrm>
          <a:off x="1065228" y="2073896"/>
          <a:ext cx="10286984" cy="43788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43492">
                  <a:extLst>
                    <a:ext uri="{9D8B030D-6E8A-4147-A177-3AD203B41FA5}">
                      <a16:colId xmlns:a16="http://schemas.microsoft.com/office/drawing/2014/main" val="4125805934"/>
                    </a:ext>
                  </a:extLst>
                </a:gridCol>
                <a:gridCol w="5143492">
                  <a:extLst>
                    <a:ext uri="{9D8B030D-6E8A-4147-A177-3AD203B41FA5}">
                      <a16:colId xmlns:a16="http://schemas.microsoft.com/office/drawing/2014/main" val="2634331570"/>
                    </a:ext>
                  </a:extLst>
                </a:gridCol>
              </a:tblGrid>
              <a:tr h="4255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19518"/>
                  </a:ext>
                </a:extLst>
              </a:tr>
              <a:tr h="425579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</a:rPr>
                        <a:t>Is a protocol.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Is an architectural style.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776009"/>
                  </a:ext>
                </a:extLst>
              </a:tr>
              <a:tr h="667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279687"/>
                  </a:ext>
                </a:extLst>
              </a:tr>
              <a:tr h="576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Permits only XML.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Permits many different data formats including plain text, HTML, XML, and JSON.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432786"/>
                  </a:ext>
                </a:extLst>
              </a:tr>
              <a:tr h="42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Requires more bandwidth and more resources.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Requires less bandwidth and less resources.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6178"/>
                  </a:ext>
                </a:extLst>
              </a:tr>
              <a:tr h="42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Supports both SMTP and HTTP protocols.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Requires the use of HTTP only.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880650"/>
                  </a:ext>
                </a:extLst>
              </a:tr>
              <a:tr h="42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249375"/>
                  </a:ext>
                </a:extLst>
              </a:tr>
              <a:tr h="425579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</a:rPr>
                        <a:t>SOAP is </a:t>
                      </a:r>
                      <a:r>
                        <a:rPr lang="en-US" sz="1600" b="0" dirty="0" smtClean="0">
                          <a:effectLst/>
                        </a:rPr>
                        <a:t>slower</a:t>
                      </a:r>
                      <a:r>
                        <a:rPr lang="en-US" sz="1600" b="0" baseline="0" dirty="0" smtClean="0">
                          <a:effectLst/>
                        </a:rPr>
                        <a:t> </a:t>
                      </a:r>
                      <a:r>
                        <a:rPr lang="en-US" sz="1600" b="0" dirty="0" smtClean="0">
                          <a:effectLst/>
                        </a:rPr>
                        <a:t>than </a:t>
                      </a:r>
                      <a:r>
                        <a:rPr lang="en-US" sz="1600" b="0" dirty="0">
                          <a:effectLst/>
                        </a:rPr>
                        <a:t>REST.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REST is </a:t>
                      </a:r>
                      <a:r>
                        <a:rPr lang="en-US" sz="1600" b="0" smtClean="0">
                          <a:effectLst/>
                        </a:rPr>
                        <a:t>fasterthan</a:t>
                      </a:r>
                      <a:r>
                        <a:rPr lang="en-US" sz="1600" b="0" dirty="0" smtClean="0">
                          <a:effectLst/>
                        </a:rPr>
                        <a:t> </a:t>
                      </a:r>
                      <a:r>
                        <a:rPr lang="en-US" sz="1600" b="0" dirty="0">
                          <a:effectLst/>
                        </a:rPr>
                        <a:t>SOAP.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671703"/>
                  </a:ext>
                </a:extLst>
              </a:tr>
              <a:tr h="576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SOAP defines its own security.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RESTful web services inherit security measures from the underlying transport.</a:t>
                      </a:r>
                      <a:endParaRPr 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82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82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D38D-C37F-47D9-A3AD-EF3FA8090511}"/>
              </a:ext>
            </a:extLst>
          </p:cNvPr>
          <p:cNvSpPr txBox="1">
            <a:spLocks/>
          </p:cNvSpPr>
          <p:nvPr/>
        </p:nvSpPr>
        <p:spPr>
          <a:xfrm>
            <a:off x="4695713" y="2895600"/>
            <a:ext cx="3314700" cy="76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badi" panose="020B0604020104020204" pitchFamily="34" charset="0"/>
              </a:rPr>
              <a:t>Thank You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483</TotalTime>
  <Words>660</Words>
  <Application>Microsoft Office PowerPoint</Application>
  <PresentationFormat>Custom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Abadi</vt:lpstr>
      <vt:lpstr>Arial</vt:lpstr>
      <vt:lpstr>Calibri</vt:lpstr>
      <vt:lpstr>Corbel</vt:lpstr>
      <vt:lpstr>Digital Blue Tunnel 16x9</vt:lpstr>
      <vt:lpstr>Introduction to APIs </vt:lpstr>
      <vt:lpstr>What is API ?</vt:lpstr>
      <vt:lpstr>PowerPoint Presentation</vt:lpstr>
      <vt:lpstr>Types of Application Programming Interface (APIs) </vt:lpstr>
      <vt:lpstr>Private API </vt:lpstr>
      <vt:lpstr>Public API </vt:lpstr>
      <vt:lpstr>Partner API </vt:lpstr>
      <vt:lpstr>What is Web Service ? </vt:lpstr>
      <vt:lpstr>Web Service Architecture </vt:lpstr>
      <vt:lpstr>Web Service API ? </vt:lpstr>
      <vt:lpstr>Web Service API ? </vt:lpstr>
      <vt:lpstr>What is SOAP? </vt:lpstr>
      <vt:lpstr>Building Blocks of SOAP? </vt:lpstr>
      <vt:lpstr>What is REST? </vt:lpstr>
      <vt:lpstr>Basic REST Request? </vt:lpstr>
      <vt:lpstr>Compare and Contrast SOAP vs REST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API</dc:title>
  <dc:creator>Wijerathna, Nirmal</dc:creator>
  <cp:lastModifiedBy>PalikaC</cp:lastModifiedBy>
  <cp:revision>27</cp:revision>
  <dcterms:created xsi:type="dcterms:W3CDTF">2020-03-07T05:03:03Z</dcterms:created>
  <dcterms:modified xsi:type="dcterms:W3CDTF">2026-04-17T06:30:52Z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